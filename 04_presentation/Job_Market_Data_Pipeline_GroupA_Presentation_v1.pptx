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21.xml" ContentType="application/vnd.openxmlformats-officedocument.presentationml.notesSlide+xml"/>
  <Override PartName="/ppt/charts/chart6.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Rows</c:v>
                </c:pt>
              </c:strCache>
            </c:strRef>
          </c:tx>
          <c:spPr>
            <a:solidFill>
              <a:srgbClr val="1C7F74"/>
            </a:solidFill>
            <a:effectLst/>
          </c:spPr>
          <c:invertIfNegative val="0"/>
          <c:dLbls>
            <c:numFmt formatCode="#,##0" sourceLinked="0"/>
            <c:spPr>
              <a:noFill/>
              <a:ln>
                <a:noFill/>
              </a:ln>
              <a:effectLst/>
            </c:spPr>
            <c:txPr>
              <a:bodyPr/>
              <a:lstStyle/>
              <a:p>
                <a:pPr>
                  <a:defRPr sz="1200" b="0" i="0" u="none" strike="noStrike">
                    <a:solidFill>
                      <a:srgbClr val="1F2937"/>
                    </a:solidFill>
                    <a:latin typeface="Aria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RAW rows</c:v>
                </c:pt>
                <c:pt idx="1">
                  <c:v>In Saudi scope</c:v>
                </c:pt>
                <c:pt idx="2">
                  <c:v>Unique listings</c:v>
                </c:pt>
                <c:pt idx="3">
                  <c:v>Jobs</c:v>
                </c:pt>
              </c:strCache>
            </c:strRef>
          </c:cat>
          <c:val>
            <c:numRef>
              <c:f>Sheet1!$B$2:$B$5</c:f>
              <c:numCache>
                <c:formatCode>General</c:formatCode>
                <c:ptCount val="4"/>
                <c:pt idx="0">
                  <c:v>52937</c:v>
                </c:pt>
                <c:pt idx="1">
                  <c:v>52908</c:v>
                </c:pt>
                <c:pt idx="2">
                  <c:v>20490</c:v>
                </c:pt>
                <c:pt idx="3">
                  <c:v>19148</c:v>
                </c:pt>
              </c:numCache>
            </c:numRef>
          </c:val>
          <c:extLst>
            <c:ext xmlns:c16="http://schemas.microsoft.com/office/drawing/2014/chart" uri="{C3380CC4-5D6E-409C-BE32-E72D297353CC}">
              <c16:uniqueId val="{00000000-C009-47C6-8430-770E4F5ED48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Known</c:v>
                </c:pt>
              </c:strCache>
            </c:strRef>
          </c:tx>
          <c:spPr>
            <a:solidFill>
              <a:srgbClr val="A33A62"/>
            </a:solidFill>
            <a:effectLst/>
          </c:spPr>
          <c:invertIfNegative val="0"/>
          <c:dLbls>
            <c:numFmt formatCode="0.0&quot;%&quot;" sourceLinked="0"/>
            <c:spPr>
              <a:noFill/>
              <a:ln>
                <a:noFill/>
              </a:ln>
              <a:effectLst/>
            </c:spPr>
            <c:txPr>
              <a:bodyPr/>
              <a:lstStyle/>
              <a:p>
                <a:pPr>
                  <a:defRPr sz="1100" b="0" i="0" u="none" strike="noStrike">
                    <a:solidFill>
                      <a:srgbClr val="1F2937"/>
                    </a:solidFill>
                    <a:latin typeface="Aria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City</c:v>
                </c:pt>
                <c:pt idx="1">
                  <c:v>Company</c:v>
                </c:pt>
                <c:pt idx="2">
                  <c:v>Category</c:v>
                </c:pt>
                <c:pt idx="3">
                  <c:v>Experience level</c:v>
                </c:pt>
                <c:pt idx="4">
                  <c:v>Remote status</c:v>
                </c:pt>
                <c:pt idx="5">
                  <c:v>Employment type</c:v>
                </c:pt>
                <c:pt idx="6">
                  <c:v>Posting date</c:v>
                </c:pt>
              </c:strCache>
            </c:strRef>
          </c:cat>
          <c:val>
            <c:numRef>
              <c:f>Sheet1!$B$2:$B$8</c:f>
              <c:numCache>
                <c:formatCode>General</c:formatCode>
                <c:ptCount val="7"/>
                <c:pt idx="0">
                  <c:v>96.1</c:v>
                </c:pt>
                <c:pt idx="1">
                  <c:v>86.5</c:v>
                </c:pt>
                <c:pt idx="2">
                  <c:v>81.599999999999994</c:v>
                </c:pt>
                <c:pt idx="3">
                  <c:v>39.200000000000003</c:v>
                </c:pt>
                <c:pt idx="4">
                  <c:v>37.6</c:v>
                </c:pt>
                <c:pt idx="5">
                  <c:v>35.1</c:v>
                </c:pt>
                <c:pt idx="6">
                  <c:v>34.4</c:v>
                </c:pt>
              </c:numCache>
            </c:numRef>
          </c:val>
          <c:extLst>
            <c:ext xmlns:c16="http://schemas.microsoft.com/office/drawing/2014/chart" uri="{C3380CC4-5D6E-409C-BE32-E72D297353CC}">
              <c16:uniqueId val="{00000000-C0E3-4FEF-AD95-4AD4E1D855E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max val="115"/>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Jobs</c:v>
                </c:pt>
              </c:strCache>
            </c:strRef>
          </c:tx>
          <c:spPr>
            <a:solidFill>
              <a:srgbClr val="A33A62"/>
            </a:solidFill>
            <a:effectLst/>
          </c:spPr>
          <c:invertIfNegative val="0"/>
          <c:dLbls>
            <c:numFmt formatCode="#,##0" sourceLinked="0"/>
            <c:spPr>
              <a:noFill/>
              <a:ln>
                <a:noFill/>
              </a:ln>
              <a:effectLst/>
            </c:spPr>
            <c:txPr>
              <a:bodyPr/>
              <a:lstStyle/>
              <a:p>
                <a:pPr>
                  <a:defRPr sz="1100" b="0" i="0" u="none" strike="noStrike">
                    <a:solidFill>
                      <a:srgbClr val="1F2937"/>
                    </a:solidFill>
                    <a:latin typeface="Aria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Yanbu</c:v>
                </c:pt>
                <c:pt idx="1">
                  <c:v>Umluj</c:v>
                </c:pt>
                <c:pt idx="2">
                  <c:v>Dhahran</c:v>
                </c:pt>
                <c:pt idx="3">
                  <c:v>Madinah</c:v>
                </c:pt>
                <c:pt idx="4">
                  <c:v>Makkah</c:v>
                </c:pt>
                <c:pt idx="5">
                  <c:v>Jubail</c:v>
                </c:pt>
                <c:pt idx="6">
                  <c:v>Al Khobar</c:v>
                </c:pt>
                <c:pt idx="7">
                  <c:v>Dammam</c:v>
                </c:pt>
                <c:pt idx="8">
                  <c:v>Jeddah</c:v>
                </c:pt>
                <c:pt idx="9">
                  <c:v>Riyadh</c:v>
                </c:pt>
              </c:strCache>
            </c:strRef>
          </c:cat>
          <c:val>
            <c:numRef>
              <c:f>Sheet1!$B$2:$B$11</c:f>
              <c:numCache>
                <c:formatCode>General</c:formatCode>
                <c:ptCount val="10"/>
                <c:pt idx="0">
                  <c:v>221</c:v>
                </c:pt>
                <c:pt idx="1">
                  <c:v>266</c:v>
                </c:pt>
                <c:pt idx="2">
                  <c:v>431</c:v>
                </c:pt>
                <c:pt idx="3">
                  <c:v>588</c:v>
                </c:pt>
                <c:pt idx="4">
                  <c:v>637</c:v>
                </c:pt>
                <c:pt idx="5">
                  <c:v>943</c:v>
                </c:pt>
                <c:pt idx="6">
                  <c:v>1066</c:v>
                </c:pt>
                <c:pt idx="7">
                  <c:v>1544</c:v>
                </c:pt>
                <c:pt idx="8">
                  <c:v>2086</c:v>
                </c:pt>
                <c:pt idx="9">
                  <c:v>9597</c:v>
                </c:pt>
              </c:numCache>
            </c:numRef>
          </c:val>
          <c:extLst>
            <c:ext xmlns:c16="http://schemas.microsoft.com/office/drawing/2014/chart" uri="{C3380CC4-5D6E-409C-BE32-E72D297353CC}">
              <c16:uniqueId val="{00000000-A8FC-44FC-92D7-033C7425E71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Jobs</c:v>
                </c:pt>
              </c:strCache>
            </c:strRef>
          </c:tx>
          <c:spPr>
            <a:solidFill>
              <a:srgbClr val="A33A62"/>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Dar Al Riyadh</c:v>
                </c:pt>
                <c:pt idx="1">
                  <c:v>WSP</c:v>
                </c:pt>
                <c:pt idx="2">
                  <c:v>KBR</c:v>
                </c:pt>
                <c:pt idx="3">
                  <c:v>Parsons</c:v>
                </c:pt>
                <c:pt idx="4">
                  <c:v>Aramco Overseas Co.</c:v>
                </c:pt>
                <c:pt idx="5">
                  <c:v>JASARA PMC</c:v>
                </c:pt>
                <c:pt idx="6">
                  <c:v>Marriott</c:v>
                </c:pt>
                <c:pt idx="7">
                  <c:v>AtkinsRéalis</c:v>
                </c:pt>
                <c:pt idx="8">
                  <c:v>AccorHotel</c:v>
                </c:pt>
                <c:pt idx="9">
                  <c:v>Qiddiya Investment Co.</c:v>
                </c:pt>
              </c:strCache>
            </c:strRef>
          </c:cat>
          <c:val>
            <c:numRef>
              <c:f>Sheet1!$B$2:$B$11</c:f>
              <c:numCache>
                <c:formatCode>General</c:formatCode>
                <c:ptCount val="10"/>
                <c:pt idx="0">
                  <c:v>122</c:v>
                </c:pt>
                <c:pt idx="1">
                  <c:v>133</c:v>
                </c:pt>
                <c:pt idx="2">
                  <c:v>139</c:v>
                </c:pt>
                <c:pt idx="3">
                  <c:v>148</c:v>
                </c:pt>
                <c:pt idx="4">
                  <c:v>172</c:v>
                </c:pt>
                <c:pt idx="5">
                  <c:v>232</c:v>
                </c:pt>
                <c:pt idx="6">
                  <c:v>265</c:v>
                </c:pt>
                <c:pt idx="7">
                  <c:v>285</c:v>
                </c:pt>
                <c:pt idx="8">
                  <c:v>387</c:v>
                </c:pt>
                <c:pt idx="9">
                  <c:v>450</c:v>
                </c:pt>
              </c:numCache>
            </c:numRef>
          </c:val>
          <c:extLst>
            <c:ext xmlns:c16="http://schemas.microsoft.com/office/drawing/2014/chart" uri="{C3380CC4-5D6E-409C-BE32-E72D297353CC}">
              <c16:uniqueId val="{00000000-8323-4C3D-AC6A-C58D1A2FD72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Jobs</c:v>
                </c:pt>
              </c:strCache>
            </c:strRef>
          </c:tx>
          <c:spPr>
            <a:solidFill>
              <a:srgbClr val="1C7F74"/>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Other (generic titles)</c:v>
                </c:pt>
                <c:pt idx="1">
                  <c:v>Health and Education</c:v>
                </c:pt>
                <c:pt idx="2">
                  <c:v>Technology and Data</c:v>
                </c:pt>
                <c:pt idx="3">
                  <c:v>Operations and Hospitality</c:v>
                </c:pt>
                <c:pt idx="4">
                  <c:v>Sales, Marketing and Service</c:v>
                </c:pt>
                <c:pt idx="5">
                  <c:v>Business and Finance</c:v>
                </c:pt>
                <c:pt idx="6">
                  <c:v>Engineering and Construction</c:v>
                </c:pt>
              </c:strCache>
            </c:strRef>
          </c:cat>
          <c:val>
            <c:numRef>
              <c:f>Sheet1!$B$2:$B$8</c:f>
              <c:numCache>
                <c:formatCode>General</c:formatCode>
                <c:ptCount val="7"/>
                <c:pt idx="0">
                  <c:v>3533</c:v>
                </c:pt>
                <c:pt idx="1">
                  <c:v>708</c:v>
                </c:pt>
                <c:pt idx="2">
                  <c:v>1285</c:v>
                </c:pt>
                <c:pt idx="3">
                  <c:v>2115</c:v>
                </c:pt>
                <c:pt idx="4">
                  <c:v>2793</c:v>
                </c:pt>
                <c:pt idx="5">
                  <c:v>4221</c:v>
                </c:pt>
                <c:pt idx="6">
                  <c:v>4493</c:v>
                </c:pt>
              </c:numCache>
            </c:numRef>
          </c:val>
          <c:extLst>
            <c:ext xmlns:c16="http://schemas.microsoft.com/office/drawing/2014/chart" uri="{C3380CC4-5D6E-409C-BE32-E72D297353CC}">
              <c16:uniqueId val="{00000000-F182-466E-915E-EF0756934AA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Share</c:v>
                </c:pt>
              </c:strCache>
            </c:strRef>
          </c:tx>
          <c:spPr>
            <a:solidFill>
              <a:srgbClr val="A33A62"/>
            </a:solidFill>
            <a:effectLst/>
          </c:spPr>
          <c:invertIfNegative val="0"/>
          <c:dLbls>
            <c:numFmt formatCode="0.0&quot;%&quot;" sourceLinked="0"/>
            <c:spPr>
              <a:noFill/>
              <a:ln>
                <a:noFill/>
              </a:ln>
              <a:effectLst/>
            </c:spPr>
            <c:txPr>
              <a:bodyPr/>
              <a:lstStyle/>
              <a:p>
                <a:pPr>
                  <a:defRPr sz="1000" b="0" i="0" u="none" strike="noStrike">
                    <a:solidFill>
                      <a:srgbClr val="1F2937"/>
                    </a:solidFill>
                    <a:latin typeface="Aria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Microsoft Office</c:v>
                </c:pt>
                <c:pt idx="1">
                  <c:v>Microsoft Excel</c:v>
                </c:pt>
                <c:pt idx="2">
                  <c:v>Project management</c:v>
                </c:pt>
                <c:pt idx="3">
                  <c:v>Procurement</c:v>
                </c:pt>
                <c:pt idx="4">
                  <c:v>Arabic</c:v>
                </c:pt>
                <c:pt idx="5">
                  <c:v>English</c:v>
                </c:pt>
              </c:strCache>
            </c:strRef>
          </c:cat>
          <c:val>
            <c:numRef>
              <c:f>Sheet1!$B$2:$B$7</c:f>
              <c:numCache>
                <c:formatCode>General</c:formatCode>
                <c:ptCount val="6"/>
                <c:pt idx="0">
                  <c:v>9.1</c:v>
                </c:pt>
                <c:pt idx="1">
                  <c:v>9.6999999999999993</c:v>
                </c:pt>
                <c:pt idx="2">
                  <c:v>10.8</c:v>
                </c:pt>
                <c:pt idx="3">
                  <c:v>10.9</c:v>
                </c:pt>
                <c:pt idx="4">
                  <c:v>16.399999999999999</c:v>
                </c:pt>
                <c:pt idx="5">
                  <c:v>25.9</c:v>
                </c:pt>
              </c:numCache>
            </c:numRef>
          </c:val>
          <c:extLst>
            <c:ext xmlns:c16="http://schemas.microsoft.com/office/drawing/2014/chart" uri="{C3380CC4-5D6E-409C-BE32-E72D297353CC}">
              <c16:uniqueId val="{00000000-9877-4350-A242-5AA4AFA8F7ED}"/>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max val="32"/>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337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this is our capstone project: a data pipeline for the Saudi job market. In this video I will walk through the problem, the sources we chose, how data moves from the source APIs to Azure Data Lake, into Snowflake, how dbt turns it into a star schema, and what the results show.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outline. We start with the brief and the problem, then the sources, the overall workflow, and then each stage in order: extraction, the landing zone, loading into Snowflake, the dbt layers, the export, and finally the results.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a reliable view of hiring demand in Saudi Arabia: where the jobs are, who is hiring, and what roles are open. We collected 20,490 listings in September 2026. After merging the same job across sources, that is 19,148 jobs from 18,693 unique postings and 3,004 companies.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ads in Saudi Arabia are spread over company career pages and job search engines. The same job is posted many times, and every site writes company names, cities and job types differently. Our pipeline collects six sources, matches the same job across them, standardizes the values, and delivers one tested star schema that answers our nine business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17 sources and kept six. Four are employer job boards, called ATS: Workable, SmartRecruiters, Greenhouse and Ashby. They list every open job of a company, so when a job disappears we know it was taken down. Two are job search engines: Jooble and JSearch. They give the most volume and reach sites we cannot access directly. We excluded LinkedIn, Indeed, Bayt and similar sites because their terms forbid automated collection, and the government platforms because they require a Nafath login.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workflow. One Python runner orchestrates everything. Python scripts extract from the six sources and write raw JSON into the landing zone, the raw container in Azure Data Lake. Snowflake reads those files through an external stage and loads them untouched into RAW tables. dbt then builds staging, intermediate and mart layers, with tests at every step. Finally, Power BI reads the marts, and the marts are also exported back to the data lake, in a separate curated container, as Parquet.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ELT. Raw data is loaded into Snowflake exactly as the APIs returned it, and all transformations happen afterwards in dbt. This mattered because the API quotas are small: a Jooble key allows only 500 requests in its lifetime. With the raw data kept, whenever we changed a rule we simply rebuilt from RAW without calling the APIs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was the hardest part. We hit rate limits, so every request retries with back-off. Quotas were tight: one Jooble key allows 500 requests for life, and a JSearch account about 200, so the collector rotates keys, and any query cut short by the quota is re-run by name. The aggregators only answer search queries, and Jooble stops at 1,000 results per query, so we split the search space by city and job title. Overlapping queries returned the same jobs many times, which we deduplicate later. For the employer boards, no platform publishes its client list, so we found 52 boards by hand.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design choice deserves its own slide: when do we say a job has closed? We tested a simple recency rule, where a listing not seen for seven days counts as taken down. On the aggregators it would have marked 89 percent of listings as closed, against 5 percent on employer boards, and every test would still have passed. So the model takes the status from employer boards only, because a board lists every open job. Jobs found only on the aggregators are marked unknown, a status_basis column says what each status rests on, and tests guard the rule. In the final build, 2,761 jobs have a tracked status: 2,584 open and 177 disappeared.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zone is the raw container of our Azure Data Lake Gen2 account. Every source has its own folder, partitioned by collection date. Files are append-only: we never overwrite or delete anything in raw, so any build can be replayed from exactly what the APIs returned. Each file is logged with its row count and a checksum.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connect the data lake to Snowflake we created an external stage that points at the raw container, authenticated with a SAS token. A dbt macro, load_raw, runs COPY INTO for each source. Each JSON file lands as one VARIANT column plus its file name, which gives us the collection date. COPY INTO remembers which files it already loaded, so re-running is safe and only picks up new files.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Snowflake, dbt builds three layers. Staging has one view per source: it flattens the JSON, renames and casts columns, keeps Saudi jobs, and removes duplicates within a source, giving 20,490 listings. Intermediate unions the six sources, standardizes cities, companies and categories through seed tables, matches the same job across sources, and works out each job's lifecycle and skills, giving 19,148 jobs. The marts are the star schema that Power BI reads. 288 tests and 19 reconciliation checks run on every build.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happens in dbt. From 52,937 raw rows, 29 were outside Saudi Arabia, and 32,418 were the same posting collected more than once, which leaves 20,490 unique listings. Text is cleaned of HTML and normalized. Cities, companies, categories and job types are standardized through seed tables, including Arabic spellings. Finally, the same job found on several sources is merged, which removes 1,342 listings and gives 19,148 jobs.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quality rule is simple: if a failure would publish a wrong number, it stops the run; if it only makes the data less complete, it warns. Blocking checks include failed downloads, stale employer boards, a collapsed pull, keys, allowed values, relationships and reconciliation from RAW to the fact table. The runner stops at the first failure, so the curated container only ever receives a build that passed. The final build ran 288 tests with no failures and no warnings.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star schema. The fact table, fct_jobs, has one row per job: a job advertisement in one Saudi location, after the same job on several sources has been merged. It carries the measures and the job's lifecycle. Around it are eight dimensions: posting, company, location, role, job attributes, source, skill and date. The date dimension plays six roles: posted, first seen, last seen, opening, open until and disappeared. Skills are many-to-many, so they go through a bridge 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design decisions. One fact table at the grain of a posting in one city, stored as an accumulating snapshot with six date roles. Matching is exact first; then close titles are merged when their Jaccard score reaches 80, a threshold we chose from 88 labelled pairs, with a precision between 0.83 and 0.92, and every fuzzy merge was checked by hand. Two postings from the same publisher are never merged. The lifecycle comes from employer boards only. Dimensions where a value can be missing have an Unknown member, and every vocabulary lives in a seed table that is reviewed in Git and tested.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step of the pipeline exports the marts back to the data lake, into a separate container called curated. A dbt macro unloads each of the ten tables as a Parquet file, in a folder for the export date, with the run id in the file name, so nothing is ever overwritten. The same tables are also saved as CSV in the final_datasets folder of the repository.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resulting dataset: ten tables, one fact, eight dimensions and a skills bridge, delivered as CSV in the repository and as Parquet in the curated container, documented in a README. On the right is how complete each field is. City, company and category are known for most jobs. Posting date, employment type and experience level follow what each source provides.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In September we observed 19,148 unique jobs. The Riyadh region dominates with 9,649, about half of all jobs. Jeddah and Dammam follow, and the Eastern Province, with Dammam, Al Khobar, Jubail and Dhahran, is the second region with 4,114 jobs.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direct employers are Qiddiya Investment Company, AccorHotels and AtkinsRéalis, reflecting the giga-projects and the hospitality build-out. Recruitment agencies and job boards are excluded from this ranking, because they advertise on behalf of others. By role family, engineering and construction lead with 4,493 jobs, followed by business and finance. The largest categories inside them are construction and trades, engineering and management.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Among jobs that state it, 93 percent are full-time. Where the source states the level, mid-senior leads in Riyadh and the Eastern Province, and entry level in Makkah, Madinah and Tabuk. On employer boards, the jobs that disappeared in the week of 20 September had been listed for a median of 46 days, and 150 new openings appeared that week. The most mentioned skills are languages, English and Arabic, followed by procurement, project management and Microsoft Excel. The week of 27 September is the first in which all six sources were fully collected, so it will become a full comparison point as collection continues.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 connects to Snowflake with a read-only reporting role that can only see the mart tables. The dashboard shows jobs by city, the top employers and role families, skills, and the lifecycle measures, all from the same star schema.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work is the data engineering: reliable, tested job-market data. On top of it, several applications are possible: the market dashboard we started in Power BI, a single job search across all sources, employer insights, skills trends from the skills bridge, recommendations for students, and AI extensions such as classifying Arabic titles or semantic search.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six sources collected through APIs, 52,937 raw rows landed in the data lake, turned into 19,148 tested jobs in a star schema, with 288 tests passing. Next, we plan to schedule the runner every week, which turns the weekly questions into trends, follow skill demand over time, and classify Arabic titles. Thank you.</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1234440"/>
            <a:ext cx="1234440" cy="384048"/>
          </a:xfrm>
          <a:prstGeom prst="roundRect">
            <a:avLst>
              <a:gd name="adj" fmla="val 50000"/>
            </a:avLst>
          </a:prstGeom>
          <a:solidFill>
            <a:srgbClr val="EAF6EE"/>
          </a:solidFill>
          <a:ln w="12700">
            <a:solidFill>
              <a:srgbClr val="8CC9A1"/>
            </a:solidFill>
            <a:prstDash val="solid"/>
          </a:ln>
        </p:spPr>
        <p:txBody>
          <a:bodyPr/>
          <a:lstStyle/>
          <a:p>
            <a:endParaRPr/>
          </a:p>
        </p:txBody>
      </p:sp>
      <p:sp>
        <p:nvSpPr>
          <p:cNvPr id="3" name="Text 1"/>
          <p:cNvSpPr txBox="1"/>
          <p:nvPr/>
        </p:nvSpPr>
        <p:spPr>
          <a:xfrm>
            <a:off x="548640" y="1234440"/>
            <a:ext cx="1234440" cy="384048"/>
          </a:xfrm>
          <a:prstGeom prst="rect">
            <a:avLst/>
          </a:prstGeom>
          <a:noFill/>
          <a:ln/>
        </p:spPr>
        <p:txBody>
          <a:bodyPr wrap="square" lIns="0" tIns="0" rIns="0" bIns="0" rtlCol="0" anchor="ctr"/>
          <a:lstStyle/>
          <a:p>
            <a:pPr marL="0" indent="0" algn="ctr">
              <a:buNone/>
            </a:pPr>
            <a:r>
              <a:rPr lang="en-US" sz="1300" b="1" dirty="0">
                <a:solidFill>
                  <a:srgbClr val="2E7D4F"/>
                </a:solidFill>
                <a:latin typeface="Calibri" pitchFamily="34" charset="0"/>
                <a:ea typeface="Calibri" pitchFamily="34" charset="-122"/>
                <a:cs typeface="Calibri" pitchFamily="34" charset="-120"/>
              </a:rPr>
              <a:t>Extract</a:t>
            </a:r>
            <a:endParaRPr lang="en-US" sz="1300" dirty="0"/>
          </a:p>
        </p:txBody>
      </p:sp>
      <p:sp>
        <p:nvSpPr>
          <p:cNvPr id="4" name="Shape 2"/>
          <p:cNvSpPr/>
          <p:nvPr/>
        </p:nvSpPr>
        <p:spPr>
          <a:xfrm>
            <a:off x="1965960" y="1234440"/>
            <a:ext cx="1234440" cy="384048"/>
          </a:xfrm>
          <a:prstGeom prst="roundRect">
            <a:avLst>
              <a:gd name="adj" fmla="val 50000"/>
            </a:avLst>
          </a:prstGeom>
          <a:solidFill>
            <a:srgbClr val="FDF1E7"/>
          </a:solidFill>
          <a:ln w="12700">
            <a:solidFill>
              <a:srgbClr val="F0B887"/>
            </a:solidFill>
            <a:prstDash val="solid"/>
          </a:ln>
        </p:spPr>
        <p:txBody>
          <a:bodyPr/>
          <a:lstStyle/>
          <a:p>
            <a:endParaRPr/>
          </a:p>
        </p:txBody>
      </p:sp>
      <p:sp>
        <p:nvSpPr>
          <p:cNvPr id="5" name="Text 3"/>
          <p:cNvSpPr txBox="1"/>
          <p:nvPr/>
        </p:nvSpPr>
        <p:spPr>
          <a:xfrm>
            <a:off x="1965960" y="1234440"/>
            <a:ext cx="1234440" cy="384048"/>
          </a:xfrm>
          <a:prstGeom prst="rect">
            <a:avLst/>
          </a:prstGeom>
          <a:noFill/>
          <a:ln/>
        </p:spPr>
        <p:txBody>
          <a:bodyPr wrap="square" lIns="0" tIns="0" rIns="0" bIns="0" rtlCol="0" anchor="ctr"/>
          <a:lstStyle/>
          <a:p>
            <a:pPr marL="0" indent="0" algn="ctr">
              <a:buNone/>
            </a:pPr>
            <a:r>
              <a:rPr lang="en-US" sz="1300" b="1" dirty="0">
                <a:solidFill>
                  <a:srgbClr val="B8621B"/>
                </a:solidFill>
                <a:latin typeface="Calibri" pitchFamily="34" charset="0"/>
                <a:ea typeface="Calibri" pitchFamily="34" charset="-122"/>
                <a:cs typeface="Calibri" pitchFamily="34" charset="-120"/>
              </a:rPr>
              <a:t>Land</a:t>
            </a:r>
            <a:endParaRPr lang="en-US" sz="1300" dirty="0"/>
          </a:p>
        </p:txBody>
      </p:sp>
      <p:sp>
        <p:nvSpPr>
          <p:cNvPr id="6" name="Shape 4"/>
          <p:cNvSpPr/>
          <p:nvPr/>
        </p:nvSpPr>
        <p:spPr>
          <a:xfrm>
            <a:off x="3383280" y="1234440"/>
            <a:ext cx="1234440" cy="384048"/>
          </a:xfrm>
          <a:prstGeom prst="roundRect">
            <a:avLst>
              <a:gd name="adj" fmla="val 50000"/>
            </a:avLst>
          </a:prstGeom>
          <a:solidFill>
            <a:srgbClr val="E8F3FB"/>
          </a:solidFill>
          <a:ln w="12700">
            <a:solidFill>
              <a:srgbClr val="8CC4EA"/>
            </a:solidFill>
            <a:prstDash val="solid"/>
          </a:ln>
        </p:spPr>
        <p:txBody>
          <a:bodyPr/>
          <a:lstStyle/>
          <a:p>
            <a:endParaRPr/>
          </a:p>
        </p:txBody>
      </p:sp>
      <p:sp>
        <p:nvSpPr>
          <p:cNvPr id="7" name="Text 5"/>
          <p:cNvSpPr txBox="1"/>
          <p:nvPr/>
        </p:nvSpPr>
        <p:spPr>
          <a:xfrm>
            <a:off x="3383280" y="1234440"/>
            <a:ext cx="1234440" cy="384048"/>
          </a:xfrm>
          <a:prstGeom prst="rect">
            <a:avLst/>
          </a:prstGeom>
          <a:noFill/>
          <a:ln/>
        </p:spPr>
        <p:txBody>
          <a:bodyPr wrap="square" lIns="0" tIns="0" rIns="0" bIns="0" rtlCol="0" anchor="ctr"/>
          <a:lstStyle/>
          <a:p>
            <a:pPr marL="0" indent="0" algn="ctr">
              <a:buNone/>
            </a:pPr>
            <a:r>
              <a:rPr lang="en-US" sz="1300" b="1" dirty="0">
                <a:solidFill>
                  <a:srgbClr val="1F6FA8"/>
                </a:solidFill>
                <a:latin typeface="Calibri" pitchFamily="34" charset="0"/>
                <a:ea typeface="Calibri" pitchFamily="34" charset="-122"/>
                <a:cs typeface="Calibri" pitchFamily="34" charset="-120"/>
              </a:rPr>
              <a:t>Load</a:t>
            </a:r>
            <a:endParaRPr lang="en-US" sz="1300" dirty="0"/>
          </a:p>
        </p:txBody>
      </p:sp>
      <p:sp>
        <p:nvSpPr>
          <p:cNvPr id="8" name="Shape 6"/>
          <p:cNvSpPr/>
          <p:nvPr/>
        </p:nvSpPr>
        <p:spPr>
          <a:xfrm>
            <a:off x="4800600" y="1234440"/>
            <a:ext cx="1234440" cy="384048"/>
          </a:xfrm>
          <a:prstGeom prst="roundRect">
            <a:avLst>
              <a:gd name="adj" fmla="val 50000"/>
            </a:avLst>
          </a:prstGeom>
          <a:solidFill>
            <a:srgbClr val="E6F6F4"/>
          </a:solidFill>
          <a:ln w="12700">
            <a:solidFill>
              <a:srgbClr val="7FCBBF"/>
            </a:solidFill>
            <a:prstDash val="solid"/>
          </a:ln>
        </p:spPr>
        <p:txBody>
          <a:bodyPr/>
          <a:lstStyle/>
          <a:p>
            <a:endParaRPr/>
          </a:p>
        </p:txBody>
      </p:sp>
      <p:sp>
        <p:nvSpPr>
          <p:cNvPr id="9" name="Text 7"/>
          <p:cNvSpPr txBox="1"/>
          <p:nvPr/>
        </p:nvSpPr>
        <p:spPr>
          <a:xfrm>
            <a:off x="4800600" y="1234440"/>
            <a:ext cx="1234440" cy="384048"/>
          </a:xfrm>
          <a:prstGeom prst="rect">
            <a:avLst/>
          </a:prstGeom>
          <a:noFill/>
          <a:ln/>
        </p:spPr>
        <p:txBody>
          <a:bodyPr wrap="square" lIns="0" tIns="0" rIns="0" bIns="0" rtlCol="0" anchor="ctr"/>
          <a:lstStyle/>
          <a:p>
            <a:pPr marL="0" indent="0" algn="ctr">
              <a:buNone/>
            </a:pPr>
            <a:r>
              <a:rPr lang="en-US" sz="1300" b="1" dirty="0">
                <a:solidFill>
                  <a:srgbClr val="1C7F74"/>
                </a:solidFill>
                <a:latin typeface="Calibri" pitchFamily="34" charset="0"/>
                <a:ea typeface="Calibri" pitchFamily="34" charset="-122"/>
                <a:cs typeface="Calibri" pitchFamily="34" charset="-120"/>
              </a:rPr>
              <a:t>Transform</a:t>
            </a:r>
            <a:endParaRPr lang="en-US" sz="1300" dirty="0"/>
          </a:p>
        </p:txBody>
      </p:sp>
      <p:sp>
        <p:nvSpPr>
          <p:cNvPr id="10" name="Shape 8"/>
          <p:cNvSpPr/>
          <p:nvPr/>
        </p:nvSpPr>
        <p:spPr>
          <a:xfrm>
            <a:off x="6217920" y="1234440"/>
            <a:ext cx="1234440" cy="384048"/>
          </a:xfrm>
          <a:prstGeom prst="roundRect">
            <a:avLst>
              <a:gd name="adj" fmla="val 50000"/>
            </a:avLst>
          </a:prstGeom>
          <a:solidFill>
            <a:srgbClr val="FBEFF3"/>
          </a:solidFill>
          <a:ln w="12700">
            <a:solidFill>
              <a:srgbClr val="E3A3B8"/>
            </a:solidFill>
            <a:prstDash val="solid"/>
          </a:ln>
        </p:spPr>
        <p:txBody>
          <a:bodyPr/>
          <a:lstStyle/>
          <a:p>
            <a:endParaRPr/>
          </a:p>
        </p:txBody>
      </p:sp>
      <p:sp>
        <p:nvSpPr>
          <p:cNvPr id="11" name="Text 9"/>
          <p:cNvSpPr txBox="1"/>
          <p:nvPr/>
        </p:nvSpPr>
        <p:spPr>
          <a:xfrm>
            <a:off x="6217920" y="1234440"/>
            <a:ext cx="1234440" cy="384048"/>
          </a:xfrm>
          <a:prstGeom prst="rect">
            <a:avLst/>
          </a:prstGeom>
          <a:noFill/>
          <a:ln/>
        </p:spPr>
        <p:txBody>
          <a:bodyPr wrap="square" lIns="0" tIns="0" rIns="0" bIns="0" rtlCol="0" anchor="ctr"/>
          <a:lstStyle/>
          <a:p>
            <a:pPr marL="0" indent="0" algn="ctr">
              <a:buNone/>
            </a:pPr>
            <a:r>
              <a:rPr lang="en-US" sz="1300" b="1" dirty="0">
                <a:solidFill>
                  <a:srgbClr val="A33A62"/>
                </a:solidFill>
                <a:latin typeface="Calibri" pitchFamily="34" charset="0"/>
                <a:ea typeface="Calibri" pitchFamily="34" charset="-122"/>
                <a:cs typeface="Calibri" pitchFamily="34" charset="-120"/>
              </a:rPr>
              <a:t>Serve</a:t>
            </a:r>
            <a:endParaRPr lang="en-US" sz="1300" dirty="0"/>
          </a:p>
        </p:txBody>
      </p:sp>
      <p:sp>
        <p:nvSpPr>
          <p:cNvPr id="12" name="Text 10"/>
          <p:cNvSpPr txBox="1"/>
          <p:nvPr/>
        </p:nvSpPr>
        <p:spPr>
          <a:xfrm>
            <a:off x="548640" y="2057400"/>
            <a:ext cx="10058400" cy="91440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Job Market Data Pipeline</a:t>
            </a:r>
            <a:endParaRPr lang="en-US" sz="5000" dirty="0"/>
          </a:p>
        </p:txBody>
      </p:sp>
      <p:sp>
        <p:nvSpPr>
          <p:cNvPr id="13" name="Text 11"/>
          <p:cNvSpPr txBox="1"/>
          <p:nvPr/>
        </p:nvSpPr>
        <p:spPr>
          <a:xfrm>
            <a:off x="548640" y="2926080"/>
            <a:ext cx="10058400" cy="548640"/>
          </a:xfrm>
          <a:prstGeom prst="rect">
            <a:avLst/>
          </a:prstGeom>
          <a:noFill/>
          <a:ln/>
        </p:spPr>
        <p:txBody>
          <a:bodyPr wrap="square" lIns="0" tIns="0" rIns="0" bIns="0" rtlCol="0" anchor="ctr"/>
          <a:lstStyle/>
          <a:p>
            <a:pPr marL="0" indent="0">
              <a:buNone/>
            </a:pPr>
            <a:r>
              <a:rPr lang="en-US" sz="2600" dirty="0">
                <a:solidFill>
                  <a:srgbClr val="CADCFC"/>
                </a:solidFill>
                <a:latin typeface="Calibri" pitchFamily="34" charset="0"/>
                <a:ea typeface="Calibri" pitchFamily="34" charset="-122"/>
                <a:cs typeface="Calibri" pitchFamily="34" charset="-120"/>
              </a:rPr>
              <a:t>Saudi Arabia · September 2026</a:t>
            </a:r>
            <a:endParaRPr lang="en-US" sz="2600" dirty="0"/>
          </a:p>
        </p:txBody>
      </p:sp>
      <p:sp>
        <p:nvSpPr>
          <p:cNvPr id="14" name="Text 12"/>
          <p:cNvSpPr txBox="1"/>
          <p:nvPr/>
        </p:nvSpPr>
        <p:spPr>
          <a:xfrm>
            <a:off x="548640" y="3749040"/>
            <a:ext cx="10515600" cy="4572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Six job sources → Azure Data Lake → Snowflake → dbt star schema → Power BI</a:t>
            </a:r>
            <a:endParaRPr lang="en-US" sz="1800" dirty="0"/>
          </a:p>
        </p:txBody>
      </p:sp>
      <p:sp>
        <p:nvSpPr>
          <p:cNvPr id="15" name="Text 13"/>
          <p:cNvSpPr txBox="1"/>
          <p:nvPr/>
        </p:nvSpPr>
        <p:spPr>
          <a:xfrm>
            <a:off x="548640" y="5760720"/>
            <a:ext cx="10058400" cy="365760"/>
          </a:xfrm>
          <a:prstGeom prst="rect">
            <a:avLst/>
          </a:prstGeom>
          <a:noFill/>
          <a:ln/>
        </p:spPr>
        <p:txBody>
          <a:bodyPr wrap="square" lIns="0" tIns="0" rIns="0" bIns="0" rtlCol="0" anchor="ctr"/>
          <a:lstStyle/>
          <a:p>
            <a:r>
              <a:rPr lang="en-US" sz="1400" dirty="0">
                <a:solidFill>
                  <a:schemeClr val="bg1"/>
                </a:solidFill>
              </a:rPr>
              <a:t>Rimaz Alghamdi  ·  Shahd </a:t>
            </a:r>
            <a:r>
              <a:rPr lang="en-US" sz="1400" dirty="0" err="1">
                <a:solidFill>
                  <a:schemeClr val="bg1"/>
                </a:solidFill>
              </a:rPr>
              <a:t>Aldukhayil</a:t>
            </a:r>
            <a:r>
              <a:rPr lang="en-US" sz="1400" dirty="0">
                <a:solidFill>
                  <a:schemeClr val="bg1"/>
                </a:solidFill>
              </a:rPr>
              <a:t>  ·  Azizah Alharbi  ·  Ghadah </a:t>
            </a:r>
            <a:r>
              <a:rPr lang="en-US" sz="1400" dirty="0" err="1">
                <a:solidFill>
                  <a:schemeClr val="bg1"/>
                </a:solidFill>
              </a:rPr>
              <a:t>BaniAli</a:t>
            </a:r>
            <a:endParaRPr lang="en-US" sz="1400" dirty="0">
              <a:solidFill>
                <a:schemeClr val="bg1"/>
              </a:solidFill>
            </a:endParaRPr>
          </a:p>
          <a:p>
            <a:r>
              <a:rPr lang="en-US" sz="1100" dirty="0">
                <a:solidFill>
                  <a:schemeClr val="bg1"/>
                </a:solidFill>
                <a:latin typeface="Calibri" pitchFamily="34" charset="0"/>
                <a:ea typeface="Calibri" pitchFamily="34" charset="-122"/>
                <a:cs typeface="Calibri" pitchFamily="34" charset="-120"/>
              </a:rPr>
              <a:t>Capstone project · SDA × </a:t>
            </a:r>
            <a:r>
              <a:rPr lang="en-US" sz="1100" dirty="0" err="1">
                <a:solidFill>
                  <a:schemeClr val="bg1"/>
                </a:solidFill>
                <a:latin typeface="Calibri" pitchFamily="34" charset="0"/>
                <a:ea typeface="Calibri" pitchFamily="34" charset="-122"/>
                <a:cs typeface="Calibri" pitchFamily="34" charset="-120"/>
              </a:rPr>
              <a:t>WeCloudData</a:t>
            </a:r>
            <a:r>
              <a:rPr lang="en-US" sz="1100" dirty="0">
                <a:solidFill>
                  <a:schemeClr val="bg1"/>
                </a:solidFill>
                <a:latin typeface="Calibri" pitchFamily="34" charset="0"/>
                <a:ea typeface="Calibri" pitchFamily="34" charset="-122"/>
                <a:cs typeface="Calibri" pitchFamily="34" charset="-120"/>
              </a:rPr>
              <a:t> Data Engineering Bootcamp</a:t>
            </a:r>
            <a:endParaRPr lang="en-US" sz="11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2</a:t>
            </a:r>
            <a:endParaRPr lang="en-US" sz="1000" dirty="0"/>
          </a:p>
        </p:txBody>
      </p:sp>
      <p:sp>
        <p:nvSpPr>
          <p:cNvPr id="4" name="Text 2"/>
          <p:cNvSpPr txBox="1"/>
          <p:nvPr/>
        </p:nvSpPr>
        <p:spPr>
          <a:xfrm>
            <a:off x="548640" y="384048"/>
            <a:ext cx="1109441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Project outline</a:t>
            </a:r>
            <a:endParaRPr lang="en-US" sz="3200" dirty="0"/>
          </a:p>
        </p:txBody>
      </p:sp>
      <p:sp>
        <p:nvSpPr>
          <p:cNvPr id="5" name="Shape 3"/>
          <p:cNvSpPr/>
          <p:nvPr/>
        </p:nvSpPr>
        <p:spPr>
          <a:xfrm>
            <a:off x="548640" y="1353312"/>
            <a:ext cx="457200" cy="457200"/>
          </a:xfrm>
          <a:prstGeom prst="ellipse">
            <a:avLst/>
          </a:prstGeom>
          <a:solidFill>
            <a:srgbClr val="2E7D4F"/>
          </a:solidFill>
          <a:ln w="12700">
            <a:solidFill>
              <a:srgbClr val="2E7D4F"/>
            </a:solidFill>
            <a:prstDash val="solid"/>
          </a:ln>
        </p:spPr>
        <p:txBody>
          <a:bodyPr/>
          <a:lstStyle/>
          <a:p>
            <a:endParaRPr/>
          </a:p>
        </p:txBody>
      </p:sp>
      <p:sp>
        <p:nvSpPr>
          <p:cNvPr id="6" name="Text 4"/>
          <p:cNvSpPr txBox="1"/>
          <p:nvPr/>
        </p:nvSpPr>
        <p:spPr>
          <a:xfrm>
            <a:off x="548640" y="13533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188720" y="1353312"/>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Project brief and problem</a:t>
            </a:r>
            <a:endParaRPr lang="en-US" sz="2000" dirty="0"/>
          </a:p>
        </p:txBody>
      </p:sp>
      <p:sp>
        <p:nvSpPr>
          <p:cNvPr id="8" name="Shape 6"/>
          <p:cNvSpPr/>
          <p:nvPr/>
        </p:nvSpPr>
        <p:spPr>
          <a:xfrm>
            <a:off x="548640" y="2011680"/>
            <a:ext cx="457200" cy="457200"/>
          </a:xfrm>
          <a:prstGeom prst="ellipse">
            <a:avLst/>
          </a:prstGeom>
          <a:solidFill>
            <a:srgbClr val="2E7D4F"/>
          </a:solidFill>
          <a:ln w="12700">
            <a:solidFill>
              <a:srgbClr val="2E7D4F"/>
            </a:solidFill>
            <a:prstDash val="solid"/>
          </a:ln>
        </p:spPr>
        <p:txBody>
          <a:bodyPr/>
          <a:lstStyle/>
          <a:p>
            <a:endParaRPr/>
          </a:p>
        </p:txBody>
      </p:sp>
      <p:sp>
        <p:nvSpPr>
          <p:cNvPr id="9" name="Text 7"/>
          <p:cNvSpPr txBox="1"/>
          <p:nvPr/>
        </p:nvSpPr>
        <p:spPr>
          <a:xfrm>
            <a:off x="548640" y="20116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188720" y="2011680"/>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Sources investigated</a:t>
            </a:r>
            <a:endParaRPr lang="en-US" sz="2000" dirty="0"/>
          </a:p>
        </p:txBody>
      </p:sp>
      <p:sp>
        <p:nvSpPr>
          <p:cNvPr id="11" name="Shape 9"/>
          <p:cNvSpPr/>
          <p:nvPr/>
        </p:nvSpPr>
        <p:spPr>
          <a:xfrm>
            <a:off x="548640" y="2670048"/>
            <a:ext cx="457200" cy="457200"/>
          </a:xfrm>
          <a:prstGeom prst="ellipse">
            <a:avLst/>
          </a:prstGeom>
          <a:solidFill>
            <a:srgbClr val="6B46A8"/>
          </a:solidFill>
          <a:ln w="12700">
            <a:solidFill>
              <a:srgbClr val="6B46A8"/>
            </a:solidFill>
            <a:prstDash val="solid"/>
          </a:ln>
        </p:spPr>
        <p:txBody>
          <a:bodyPr/>
          <a:lstStyle/>
          <a:p>
            <a:endParaRPr/>
          </a:p>
        </p:txBody>
      </p:sp>
      <p:sp>
        <p:nvSpPr>
          <p:cNvPr id="12" name="Text 10"/>
          <p:cNvSpPr txBox="1"/>
          <p:nvPr/>
        </p:nvSpPr>
        <p:spPr>
          <a:xfrm>
            <a:off x="548640" y="267004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188720" y="2670048"/>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Pipeline architecture</a:t>
            </a:r>
            <a:endParaRPr lang="en-US" sz="2000" dirty="0"/>
          </a:p>
        </p:txBody>
      </p:sp>
      <p:sp>
        <p:nvSpPr>
          <p:cNvPr id="14" name="Shape 12"/>
          <p:cNvSpPr/>
          <p:nvPr/>
        </p:nvSpPr>
        <p:spPr>
          <a:xfrm>
            <a:off x="548640" y="3328416"/>
            <a:ext cx="457200" cy="457200"/>
          </a:xfrm>
          <a:prstGeom prst="ellipse">
            <a:avLst/>
          </a:prstGeom>
          <a:solidFill>
            <a:srgbClr val="6B46A8"/>
          </a:solidFill>
          <a:ln w="12700">
            <a:solidFill>
              <a:srgbClr val="6B46A8"/>
            </a:solidFill>
            <a:prstDash val="solid"/>
          </a:ln>
        </p:spPr>
        <p:txBody>
          <a:bodyPr/>
          <a:lstStyle/>
          <a:p>
            <a:endParaRPr/>
          </a:p>
        </p:txBody>
      </p:sp>
      <p:sp>
        <p:nvSpPr>
          <p:cNvPr id="15" name="Text 13"/>
          <p:cNvSpPr txBox="1"/>
          <p:nvPr/>
        </p:nvSpPr>
        <p:spPr>
          <a:xfrm>
            <a:off x="548640" y="33284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txBox="1"/>
          <p:nvPr/>
        </p:nvSpPr>
        <p:spPr>
          <a:xfrm>
            <a:off x="1188720" y="3328416"/>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ETL or ELT</a:t>
            </a:r>
            <a:endParaRPr lang="en-US" sz="2000" dirty="0"/>
          </a:p>
        </p:txBody>
      </p:sp>
      <p:sp>
        <p:nvSpPr>
          <p:cNvPr id="17" name="Shape 15"/>
          <p:cNvSpPr/>
          <p:nvPr/>
        </p:nvSpPr>
        <p:spPr>
          <a:xfrm>
            <a:off x="548640" y="3986784"/>
            <a:ext cx="457200" cy="457200"/>
          </a:xfrm>
          <a:prstGeom prst="ellipse">
            <a:avLst/>
          </a:prstGeom>
          <a:solidFill>
            <a:srgbClr val="2E7D4F"/>
          </a:solidFill>
          <a:ln w="12700">
            <a:solidFill>
              <a:srgbClr val="2E7D4F"/>
            </a:solidFill>
            <a:prstDash val="solid"/>
          </a:ln>
        </p:spPr>
        <p:txBody>
          <a:bodyPr/>
          <a:lstStyle/>
          <a:p>
            <a:endParaRPr/>
          </a:p>
        </p:txBody>
      </p:sp>
      <p:sp>
        <p:nvSpPr>
          <p:cNvPr id="18" name="Text 16"/>
          <p:cNvSpPr txBox="1"/>
          <p:nvPr/>
        </p:nvSpPr>
        <p:spPr>
          <a:xfrm>
            <a:off x="548640" y="39867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txBox="1"/>
          <p:nvPr/>
        </p:nvSpPr>
        <p:spPr>
          <a:xfrm>
            <a:off x="1188720" y="3986784"/>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Collection and challenges</a:t>
            </a:r>
            <a:endParaRPr lang="en-US" sz="2000" dirty="0"/>
          </a:p>
        </p:txBody>
      </p:sp>
      <p:sp>
        <p:nvSpPr>
          <p:cNvPr id="20" name="Shape 18"/>
          <p:cNvSpPr/>
          <p:nvPr/>
        </p:nvSpPr>
        <p:spPr>
          <a:xfrm>
            <a:off x="548640" y="4645152"/>
            <a:ext cx="457200" cy="457200"/>
          </a:xfrm>
          <a:prstGeom prst="ellipse">
            <a:avLst/>
          </a:prstGeom>
          <a:solidFill>
            <a:srgbClr val="B8621B"/>
          </a:solidFill>
          <a:ln w="12700">
            <a:solidFill>
              <a:srgbClr val="B8621B"/>
            </a:solidFill>
            <a:prstDash val="solid"/>
          </a:ln>
        </p:spPr>
        <p:txBody>
          <a:bodyPr/>
          <a:lstStyle/>
          <a:p>
            <a:endParaRPr/>
          </a:p>
        </p:txBody>
      </p:sp>
      <p:sp>
        <p:nvSpPr>
          <p:cNvPr id="21" name="Text 19"/>
          <p:cNvSpPr txBox="1"/>
          <p:nvPr/>
        </p:nvSpPr>
        <p:spPr>
          <a:xfrm>
            <a:off x="548640" y="46451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2" name="Text 20"/>
          <p:cNvSpPr txBox="1"/>
          <p:nvPr/>
        </p:nvSpPr>
        <p:spPr>
          <a:xfrm>
            <a:off x="1188720" y="4645152"/>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Landing zone: ADLS raw</a:t>
            </a:r>
            <a:endParaRPr lang="en-US" sz="2000" dirty="0"/>
          </a:p>
        </p:txBody>
      </p:sp>
      <p:sp>
        <p:nvSpPr>
          <p:cNvPr id="23" name="Shape 21"/>
          <p:cNvSpPr/>
          <p:nvPr/>
        </p:nvSpPr>
        <p:spPr>
          <a:xfrm>
            <a:off x="548640" y="5303520"/>
            <a:ext cx="457200" cy="457200"/>
          </a:xfrm>
          <a:prstGeom prst="ellipse">
            <a:avLst/>
          </a:prstGeom>
          <a:solidFill>
            <a:srgbClr val="1F6FA8"/>
          </a:solidFill>
          <a:ln w="12700">
            <a:solidFill>
              <a:srgbClr val="1F6FA8"/>
            </a:solidFill>
            <a:prstDash val="solid"/>
          </a:ln>
        </p:spPr>
        <p:txBody>
          <a:bodyPr/>
          <a:lstStyle/>
          <a:p>
            <a:endParaRPr/>
          </a:p>
        </p:txBody>
      </p:sp>
      <p:sp>
        <p:nvSpPr>
          <p:cNvPr id="24" name="Text 22"/>
          <p:cNvSpPr txBox="1"/>
          <p:nvPr/>
        </p:nvSpPr>
        <p:spPr>
          <a:xfrm>
            <a:off x="548640" y="5303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5" name="Text 23"/>
          <p:cNvSpPr txBox="1"/>
          <p:nvPr/>
        </p:nvSpPr>
        <p:spPr>
          <a:xfrm>
            <a:off x="1188720" y="5303520"/>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ADLS → Snowflake</a:t>
            </a:r>
            <a:endParaRPr lang="en-US" sz="2000" dirty="0"/>
          </a:p>
        </p:txBody>
      </p:sp>
      <p:sp>
        <p:nvSpPr>
          <p:cNvPr id="26" name="Shape 24"/>
          <p:cNvSpPr/>
          <p:nvPr/>
        </p:nvSpPr>
        <p:spPr>
          <a:xfrm>
            <a:off x="6309360" y="1353312"/>
            <a:ext cx="457200" cy="457200"/>
          </a:xfrm>
          <a:prstGeom prst="ellipse">
            <a:avLst/>
          </a:prstGeom>
          <a:solidFill>
            <a:srgbClr val="1C7F74"/>
          </a:solidFill>
          <a:ln w="12700">
            <a:solidFill>
              <a:srgbClr val="1C7F74"/>
            </a:solidFill>
            <a:prstDash val="solid"/>
          </a:ln>
        </p:spPr>
        <p:txBody>
          <a:bodyPr/>
          <a:lstStyle/>
          <a:p>
            <a:endParaRPr/>
          </a:p>
        </p:txBody>
      </p:sp>
      <p:sp>
        <p:nvSpPr>
          <p:cNvPr id="27" name="Text 25"/>
          <p:cNvSpPr txBox="1"/>
          <p:nvPr/>
        </p:nvSpPr>
        <p:spPr>
          <a:xfrm>
            <a:off x="6309360" y="13533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28" name="Text 26"/>
          <p:cNvSpPr txBox="1"/>
          <p:nvPr/>
        </p:nvSpPr>
        <p:spPr>
          <a:xfrm>
            <a:off x="6949440" y="1353312"/>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Snowflake and dbt layers</a:t>
            </a:r>
            <a:endParaRPr lang="en-US" sz="2000" dirty="0"/>
          </a:p>
        </p:txBody>
      </p:sp>
      <p:sp>
        <p:nvSpPr>
          <p:cNvPr id="29" name="Shape 27"/>
          <p:cNvSpPr/>
          <p:nvPr/>
        </p:nvSpPr>
        <p:spPr>
          <a:xfrm>
            <a:off x="6309360" y="2011680"/>
            <a:ext cx="457200" cy="457200"/>
          </a:xfrm>
          <a:prstGeom prst="ellipse">
            <a:avLst/>
          </a:prstGeom>
          <a:solidFill>
            <a:srgbClr val="1C7F74"/>
          </a:solidFill>
          <a:ln w="12700">
            <a:solidFill>
              <a:srgbClr val="1C7F74"/>
            </a:solidFill>
            <a:prstDash val="solid"/>
          </a:ln>
        </p:spPr>
        <p:txBody>
          <a:bodyPr/>
          <a:lstStyle/>
          <a:p>
            <a:endParaRPr/>
          </a:p>
        </p:txBody>
      </p:sp>
      <p:sp>
        <p:nvSpPr>
          <p:cNvPr id="30" name="Text 28"/>
          <p:cNvSpPr txBox="1"/>
          <p:nvPr/>
        </p:nvSpPr>
        <p:spPr>
          <a:xfrm>
            <a:off x="6309360" y="20116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31" name="Text 29"/>
          <p:cNvSpPr txBox="1"/>
          <p:nvPr/>
        </p:nvSpPr>
        <p:spPr>
          <a:xfrm>
            <a:off x="6949440" y="2011680"/>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Cleaning and transformation</a:t>
            </a:r>
            <a:endParaRPr lang="en-US" sz="2000" dirty="0"/>
          </a:p>
        </p:txBody>
      </p:sp>
      <p:sp>
        <p:nvSpPr>
          <p:cNvPr id="32" name="Shape 30"/>
          <p:cNvSpPr/>
          <p:nvPr/>
        </p:nvSpPr>
        <p:spPr>
          <a:xfrm>
            <a:off x="6309360" y="2670048"/>
            <a:ext cx="457200" cy="457200"/>
          </a:xfrm>
          <a:prstGeom prst="ellipse">
            <a:avLst/>
          </a:prstGeom>
          <a:solidFill>
            <a:srgbClr val="1C7F74"/>
          </a:solidFill>
          <a:ln w="12700">
            <a:solidFill>
              <a:srgbClr val="1C7F74"/>
            </a:solidFill>
            <a:prstDash val="solid"/>
          </a:ln>
        </p:spPr>
        <p:txBody>
          <a:bodyPr/>
          <a:lstStyle/>
          <a:p>
            <a:endParaRPr/>
          </a:p>
        </p:txBody>
      </p:sp>
      <p:sp>
        <p:nvSpPr>
          <p:cNvPr id="33" name="Text 31"/>
          <p:cNvSpPr txBox="1"/>
          <p:nvPr/>
        </p:nvSpPr>
        <p:spPr>
          <a:xfrm>
            <a:off x="6309360" y="267004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34" name="Text 32"/>
          <p:cNvSpPr txBox="1"/>
          <p:nvPr/>
        </p:nvSpPr>
        <p:spPr>
          <a:xfrm>
            <a:off x="6949440" y="2670048"/>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Data quality approach</a:t>
            </a:r>
            <a:endParaRPr lang="en-US" sz="2000" dirty="0"/>
          </a:p>
        </p:txBody>
      </p:sp>
      <p:sp>
        <p:nvSpPr>
          <p:cNvPr id="35" name="Shape 33"/>
          <p:cNvSpPr/>
          <p:nvPr/>
        </p:nvSpPr>
        <p:spPr>
          <a:xfrm>
            <a:off x="6309360" y="3328416"/>
            <a:ext cx="457200" cy="457200"/>
          </a:xfrm>
          <a:prstGeom prst="ellipse">
            <a:avLst/>
          </a:prstGeom>
          <a:solidFill>
            <a:srgbClr val="1C7F74"/>
          </a:solidFill>
          <a:ln w="12700">
            <a:solidFill>
              <a:srgbClr val="1C7F74"/>
            </a:solidFill>
            <a:prstDash val="solid"/>
          </a:ln>
        </p:spPr>
        <p:txBody>
          <a:bodyPr/>
          <a:lstStyle/>
          <a:p>
            <a:endParaRPr/>
          </a:p>
        </p:txBody>
      </p:sp>
      <p:sp>
        <p:nvSpPr>
          <p:cNvPr id="36" name="Text 34"/>
          <p:cNvSpPr txBox="1"/>
          <p:nvPr/>
        </p:nvSpPr>
        <p:spPr>
          <a:xfrm>
            <a:off x="6309360" y="33284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37" name="Text 35"/>
          <p:cNvSpPr txBox="1"/>
          <p:nvPr/>
        </p:nvSpPr>
        <p:spPr>
          <a:xfrm>
            <a:off x="6949440" y="3328416"/>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Data model and decisions</a:t>
            </a:r>
            <a:endParaRPr lang="en-US" sz="2000" dirty="0"/>
          </a:p>
        </p:txBody>
      </p:sp>
      <p:sp>
        <p:nvSpPr>
          <p:cNvPr id="38" name="Shape 36"/>
          <p:cNvSpPr/>
          <p:nvPr/>
        </p:nvSpPr>
        <p:spPr>
          <a:xfrm>
            <a:off x="6309360" y="3986784"/>
            <a:ext cx="457200" cy="457200"/>
          </a:xfrm>
          <a:prstGeom prst="ellipse">
            <a:avLst/>
          </a:prstGeom>
          <a:solidFill>
            <a:srgbClr val="A33A62"/>
          </a:solidFill>
          <a:ln w="12700">
            <a:solidFill>
              <a:srgbClr val="A33A62"/>
            </a:solidFill>
            <a:prstDash val="solid"/>
          </a:ln>
        </p:spPr>
        <p:txBody>
          <a:bodyPr/>
          <a:lstStyle/>
          <a:p>
            <a:endParaRPr/>
          </a:p>
        </p:txBody>
      </p:sp>
      <p:sp>
        <p:nvSpPr>
          <p:cNvPr id="39" name="Text 37"/>
          <p:cNvSpPr txBox="1"/>
          <p:nvPr/>
        </p:nvSpPr>
        <p:spPr>
          <a:xfrm>
            <a:off x="6309360" y="39867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40" name="Text 38"/>
          <p:cNvSpPr txBox="1"/>
          <p:nvPr/>
        </p:nvSpPr>
        <p:spPr>
          <a:xfrm>
            <a:off x="6949440" y="3986784"/>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Export and final dataset</a:t>
            </a:r>
            <a:endParaRPr lang="en-US" sz="2000" dirty="0"/>
          </a:p>
        </p:txBody>
      </p:sp>
      <p:sp>
        <p:nvSpPr>
          <p:cNvPr id="41" name="Shape 39"/>
          <p:cNvSpPr/>
          <p:nvPr/>
        </p:nvSpPr>
        <p:spPr>
          <a:xfrm>
            <a:off x="6309360" y="4645152"/>
            <a:ext cx="457200" cy="457200"/>
          </a:xfrm>
          <a:prstGeom prst="ellipse">
            <a:avLst/>
          </a:prstGeom>
          <a:solidFill>
            <a:srgbClr val="A33A62"/>
          </a:solidFill>
          <a:ln w="12700">
            <a:solidFill>
              <a:srgbClr val="A33A62"/>
            </a:solidFill>
            <a:prstDash val="solid"/>
          </a:ln>
        </p:spPr>
        <p:txBody>
          <a:bodyPr/>
          <a:lstStyle/>
          <a:p>
            <a:endParaRPr/>
          </a:p>
        </p:txBody>
      </p:sp>
      <p:sp>
        <p:nvSpPr>
          <p:cNvPr id="42" name="Text 40"/>
          <p:cNvSpPr txBox="1"/>
          <p:nvPr/>
        </p:nvSpPr>
        <p:spPr>
          <a:xfrm>
            <a:off x="6309360" y="46451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43" name="Text 41"/>
          <p:cNvSpPr txBox="1"/>
          <p:nvPr/>
        </p:nvSpPr>
        <p:spPr>
          <a:xfrm>
            <a:off x="6949440" y="4645152"/>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Results and dashboard</a:t>
            </a:r>
            <a:endParaRPr lang="en-US" sz="2000" dirty="0"/>
          </a:p>
        </p:txBody>
      </p:sp>
      <p:sp>
        <p:nvSpPr>
          <p:cNvPr id="44" name="Shape 42"/>
          <p:cNvSpPr/>
          <p:nvPr/>
        </p:nvSpPr>
        <p:spPr>
          <a:xfrm>
            <a:off x="6309360" y="5303520"/>
            <a:ext cx="457200" cy="457200"/>
          </a:xfrm>
          <a:prstGeom prst="ellipse">
            <a:avLst/>
          </a:prstGeom>
          <a:solidFill>
            <a:srgbClr val="A33A62"/>
          </a:solidFill>
          <a:ln w="12700">
            <a:solidFill>
              <a:srgbClr val="A33A62"/>
            </a:solidFill>
            <a:prstDash val="solid"/>
          </a:ln>
        </p:spPr>
        <p:txBody>
          <a:bodyPr/>
          <a:lstStyle/>
          <a:p>
            <a:endParaRPr/>
          </a:p>
        </p:txBody>
      </p:sp>
      <p:sp>
        <p:nvSpPr>
          <p:cNvPr id="45" name="Text 43"/>
          <p:cNvSpPr txBox="1"/>
          <p:nvPr/>
        </p:nvSpPr>
        <p:spPr>
          <a:xfrm>
            <a:off x="6309360" y="5303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14</a:t>
            </a:r>
            <a:endParaRPr lang="en-US" sz="1600" dirty="0"/>
          </a:p>
        </p:txBody>
      </p:sp>
      <p:sp>
        <p:nvSpPr>
          <p:cNvPr id="46" name="Text 44"/>
          <p:cNvSpPr txBox="1"/>
          <p:nvPr/>
        </p:nvSpPr>
        <p:spPr>
          <a:xfrm>
            <a:off x="6949440" y="5303520"/>
            <a:ext cx="4572000" cy="457200"/>
          </a:xfrm>
          <a:prstGeom prst="rect">
            <a:avLst/>
          </a:prstGeom>
          <a:noFill/>
          <a:ln/>
        </p:spPr>
        <p:txBody>
          <a:bodyPr wrap="square" lIns="0" tIns="0" rIns="0" bIns="0" rtlCol="0" anchor="ctr"/>
          <a:lstStyle/>
          <a:p>
            <a:pPr marL="0" indent="0">
              <a:buNone/>
            </a:pPr>
            <a:r>
              <a:rPr lang="en-US" sz="2000" dirty="0">
                <a:solidFill>
                  <a:srgbClr val="1F2937"/>
                </a:solidFill>
                <a:latin typeface="Calibri" pitchFamily="34" charset="0"/>
                <a:ea typeface="Calibri" pitchFamily="34" charset="-122"/>
                <a:cs typeface="Calibri" pitchFamily="34" charset="-120"/>
              </a:rPr>
              <a:t>Downstream applications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3</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Project brief</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A reliable, repeatable view of hiring demand in Saudi Arabia, built from public job data</a:t>
            </a:r>
            <a:endParaRPr lang="en-US" sz="1500" dirty="0"/>
          </a:p>
        </p:txBody>
      </p:sp>
      <p:sp>
        <p:nvSpPr>
          <p:cNvPr id="6" name="Shape 4"/>
          <p:cNvSpPr/>
          <p:nvPr/>
        </p:nvSpPr>
        <p:spPr>
          <a:xfrm>
            <a:off x="9265615" y="475488"/>
            <a:ext cx="2377440" cy="384048"/>
          </a:xfrm>
          <a:prstGeom prst="roundRect">
            <a:avLst>
              <a:gd name="adj" fmla="val 50000"/>
            </a:avLst>
          </a:prstGeom>
          <a:solidFill>
            <a:srgbClr val="EAF6EE"/>
          </a:solidFill>
          <a:ln w="12700">
            <a:solidFill>
              <a:srgbClr val="8CC9A1"/>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2E7D4F"/>
                </a:solidFill>
                <a:latin typeface="Calibri" pitchFamily="34" charset="0"/>
                <a:ea typeface="Calibri" pitchFamily="34" charset="-122"/>
                <a:cs typeface="Calibri" pitchFamily="34" charset="-120"/>
              </a:rPr>
              <a:t>Brief</a:t>
            </a:r>
            <a:endParaRPr lang="en-US" sz="1200" dirty="0"/>
          </a:p>
        </p:txBody>
      </p:sp>
      <p:sp>
        <p:nvSpPr>
          <p:cNvPr id="8" name="Text 6"/>
          <p:cNvSpPr txBox="1"/>
          <p:nvPr/>
        </p:nvSpPr>
        <p:spPr>
          <a:xfrm>
            <a:off x="548640" y="1600200"/>
            <a:ext cx="5852160" cy="320040"/>
          </a:xfrm>
          <a:prstGeom prst="rect">
            <a:avLst/>
          </a:prstGeom>
          <a:noFill/>
          <a:ln/>
        </p:spPr>
        <p:txBody>
          <a:bodyPr wrap="square" lIns="0" tIns="0" rIns="0" bIns="0" rtlCol="0" anchor="t"/>
          <a:lstStyle/>
          <a:p>
            <a:pPr marL="0" indent="0">
              <a:buNone/>
            </a:pPr>
            <a:r>
              <a:rPr lang="en-US" sz="1700" b="1" dirty="0">
                <a:solidFill>
                  <a:srgbClr val="2E7D4F"/>
                </a:solidFill>
                <a:latin typeface="Calibri" pitchFamily="34" charset="0"/>
                <a:ea typeface="Calibri" pitchFamily="34" charset="-122"/>
                <a:cs typeface="Calibri" pitchFamily="34" charset="-120"/>
              </a:rPr>
              <a:t>Goal</a:t>
            </a:r>
            <a:endParaRPr lang="en-US" sz="1700" dirty="0"/>
          </a:p>
        </p:txBody>
      </p:sp>
      <p:sp>
        <p:nvSpPr>
          <p:cNvPr id="9" name="Text 7"/>
          <p:cNvSpPr txBox="1"/>
          <p:nvPr/>
        </p:nvSpPr>
        <p:spPr>
          <a:xfrm>
            <a:off x="548640" y="1947672"/>
            <a:ext cx="5852160" cy="658368"/>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Show where jobs are, who is hiring, what kind of roles are open, and how demand changes over time.</a:t>
            </a:r>
            <a:endParaRPr lang="en-US" sz="1500" dirty="0"/>
          </a:p>
        </p:txBody>
      </p:sp>
      <p:sp>
        <p:nvSpPr>
          <p:cNvPr id="10" name="Text 8"/>
          <p:cNvSpPr txBox="1"/>
          <p:nvPr/>
        </p:nvSpPr>
        <p:spPr>
          <a:xfrm>
            <a:off x="548640" y="2679192"/>
            <a:ext cx="5852160" cy="320040"/>
          </a:xfrm>
          <a:prstGeom prst="rect">
            <a:avLst/>
          </a:prstGeom>
          <a:noFill/>
          <a:ln/>
        </p:spPr>
        <p:txBody>
          <a:bodyPr wrap="square" lIns="0" tIns="0" rIns="0" bIns="0" rtlCol="0" anchor="t"/>
          <a:lstStyle/>
          <a:p>
            <a:pPr marL="0" indent="0">
              <a:buNone/>
            </a:pPr>
            <a:r>
              <a:rPr lang="en-US" sz="1700" b="1" dirty="0">
                <a:solidFill>
                  <a:srgbClr val="2E7D4F"/>
                </a:solidFill>
                <a:latin typeface="Calibri" pitchFamily="34" charset="0"/>
                <a:ea typeface="Calibri" pitchFamily="34" charset="-122"/>
                <a:cs typeface="Calibri" pitchFamily="34" charset="-120"/>
              </a:rPr>
              <a:t>Scope</a:t>
            </a:r>
            <a:endParaRPr lang="en-US" sz="1700" dirty="0"/>
          </a:p>
        </p:txBody>
      </p:sp>
      <p:sp>
        <p:nvSpPr>
          <p:cNvPr id="11" name="Text 9"/>
          <p:cNvSpPr txBox="1"/>
          <p:nvPr/>
        </p:nvSpPr>
        <p:spPr>
          <a:xfrm>
            <a:off x="548640" y="3026664"/>
            <a:ext cx="5852160" cy="658368"/>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Job postings in Saudi Arabia, observed during September 2026 from six sources.</a:t>
            </a:r>
            <a:endParaRPr lang="en-US" sz="1500" dirty="0"/>
          </a:p>
        </p:txBody>
      </p:sp>
      <p:sp>
        <p:nvSpPr>
          <p:cNvPr id="12" name="Text 10"/>
          <p:cNvSpPr txBox="1"/>
          <p:nvPr/>
        </p:nvSpPr>
        <p:spPr>
          <a:xfrm>
            <a:off x="548640" y="3758184"/>
            <a:ext cx="5852160" cy="320040"/>
          </a:xfrm>
          <a:prstGeom prst="rect">
            <a:avLst/>
          </a:prstGeom>
          <a:noFill/>
          <a:ln/>
        </p:spPr>
        <p:txBody>
          <a:bodyPr wrap="square" lIns="0" tIns="0" rIns="0" bIns="0" rtlCol="0" anchor="t"/>
          <a:lstStyle/>
          <a:p>
            <a:pPr marL="0" indent="0">
              <a:buNone/>
            </a:pPr>
            <a:r>
              <a:rPr lang="en-US" sz="1700" b="1" dirty="0">
                <a:solidFill>
                  <a:srgbClr val="2E7D4F"/>
                </a:solidFill>
                <a:latin typeface="Calibri" pitchFamily="34" charset="0"/>
                <a:ea typeface="Calibri" pitchFamily="34" charset="-122"/>
                <a:cs typeface="Calibri" pitchFamily="34" charset="-120"/>
              </a:rPr>
              <a:t>Stack</a:t>
            </a:r>
            <a:endParaRPr lang="en-US" sz="1700" dirty="0"/>
          </a:p>
        </p:txBody>
      </p:sp>
      <p:sp>
        <p:nvSpPr>
          <p:cNvPr id="13" name="Text 11"/>
          <p:cNvSpPr txBox="1"/>
          <p:nvPr/>
        </p:nvSpPr>
        <p:spPr>
          <a:xfrm>
            <a:off x="548640" y="4105656"/>
            <a:ext cx="5852160" cy="658368"/>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Python → ADLS Gen2 → Snowflake → dbt-core → Power BI; one command runs the whole pipeline.</a:t>
            </a:r>
            <a:endParaRPr lang="en-US" sz="1500" dirty="0"/>
          </a:p>
        </p:txBody>
      </p:sp>
      <p:sp>
        <p:nvSpPr>
          <p:cNvPr id="14" name="Text 12"/>
          <p:cNvSpPr txBox="1"/>
          <p:nvPr/>
        </p:nvSpPr>
        <p:spPr>
          <a:xfrm>
            <a:off x="548640" y="4837176"/>
            <a:ext cx="5852160" cy="320040"/>
          </a:xfrm>
          <a:prstGeom prst="rect">
            <a:avLst/>
          </a:prstGeom>
          <a:noFill/>
          <a:ln/>
        </p:spPr>
        <p:txBody>
          <a:bodyPr wrap="square" lIns="0" tIns="0" rIns="0" bIns="0" rtlCol="0" anchor="t"/>
          <a:lstStyle/>
          <a:p>
            <a:pPr marL="0" indent="0">
              <a:buNone/>
            </a:pPr>
            <a:r>
              <a:rPr lang="en-US" sz="1700" b="1" dirty="0">
                <a:solidFill>
                  <a:srgbClr val="2E7D4F"/>
                </a:solidFill>
                <a:latin typeface="Calibri" pitchFamily="34" charset="0"/>
                <a:ea typeface="Calibri" pitchFamily="34" charset="-122"/>
                <a:cs typeface="Calibri" pitchFamily="34" charset="-120"/>
              </a:rPr>
              <a:t>Output</a:t>
            </a:r>
            <a:endParaRPr lang="en-US" sz="1700" dirty="0"/>
          </a:p>
        </p:txBody>
      </p:sp>
      <p:sp>
        <p:nvSpPr>
          <p:cNvPr id="15" name="Text 13"/>
          <p:cNvSpPr txBox="1"/>
          <p:nvPr/>
        </p:nvSpPr>
        <p:spPr>
          <a:xfrm>
            <a:off x="548640" y="5184648"/>
            <a:ext cx="5852160" cy="658368"/>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A tested star schema (1 fact, 8 dimensions, 1 skills bridge) answering 9 business questions, exported as Parquet and CSV.</a:t>
            </a:r>
            <a:endParaRPr lang="en-US" sz="1500" dirty="0"/>
          </a:p>
        </p:txBody>
      </p:sp>
      <p:sp>
        <p:nvSpPr>
          <p:cNvPr id="16" name="Shape 14"/>
          <p:cNvSpPr/>
          <p:nvPr/>
        </p:nvSpPr>
        <p:spPr>
          <a:xfrm>
            <a:off x="6903720" y="1691640"/>
            <a:ext cx="2240280" cy="1920240"/>
          </a:xfrm>
          <a:prstGeom prst="roundRect">
            <a:avLst>
              <a:gd name="adj" fmla="val 5714"/>
            </a:avLst>
          </a:prstGeom>
          <a:solidFill>
            <a:srgbClr val="EAF6EE"/>
          </a:solidFill>
          <a:ln w="12700">
            <a:solidFill>
              <a:srgbClr val="EAF6EE"/>
            </a:solidFill>
            <a:prstDash val="solid"/>
          </a:ln>
        </p:spPr>
        <p:txBody>
          <a:bodyPr/>
          <a:lstStyle/>
          <a:p>
            <a:endParaRPr/>
          </a:p>
        </p:txBody>
      </p:sp>
      <p:sp>
        <p:nvSpPr>
          <p:cNvPr id="17" name="Text 15"/>
          <p:cNvSpPr txBox="1"/>
          <p:nvPr/>
        </p:nvSpPr>
        <p:spPr>
          <a:xfrm>
            <a:off x="6995160" y="2011680"/>
            <a:ext cx="2057400" cy="822960"/>
          </a:xfrm>
          <a:prstGeom prst="rect">
            <a:avLst/>
          </a:prstGeom>
          <a:noFill/>
          <a:ln/>
        </p:spPr>
        <p:txBody>
          <a:bodyPr wrap="square" lIns="0" tIns="0" rIns="0" bIns="0" rtlCol="0" anchor="ctr"/>
          <a:lstStyle/>
          <a:p>
            <a:pPr marL="0" indent="0" algn="ctr">
              <a:buNone/>
            </a:pPr>
            <a:r>
              <a:rPr lang="en-US" sz="4000" b="1" dirty="0">
                <a:solidFill>
                  <a:srgbClr val="14213D"/>
                </a:solidFill>
                <a:latin typeface="Calibri" pitchFamily="34" charset="0"/>
                <a:ea typeface="Calibri" pitchFamily="34" charset="-122"/>
                <a:cs typeface="Calibri" pitchFamily="34" charset="-120"/>
              </a:rPr>
              <a:t>20,490</a:t>
            </a:r>
            <a:endParaRPr lang="en-US" sz="4000" dirty="0"/>
          </a:p>
        </p:txBody>
      </p:sp>
      <p:sp>
        <p:nvSpPr>
          <p:cNvPr id="18" name="Text 16"/>
          <p:cNvSpPr txBox="1"/>
          <p:nvPr/>
        </p:nvSpPr>
        <p:spPr>
          <a:xfrm>
            <a:off x="6995160" y="2880360"/>
            <a:ext cx="2057400" cy="457200"/>
          </a:xfrm>
          <a:prstGeom prst="rect">
            <a:avLst/>
          </a:prstGeom>
          <a:noFill/>
          <a:ln/>
        </p:spPr>
        <p:txBody>
          <a:bodyPr wrap="square" lIns="0" tIns="0" rIns="0" bIns="0" rtlCol="0" anchor="ctr"/>
          <a:lstStyle/>
          <a:p>
            <a:pPr marL="0" indent="0" algn="ctr">
              <a:buNone/>
            </a:pPr>
            <a:r>
              <a:rPr lang="en-US" sz="1400" dirty="0">
                <a:solidFill>
                  <a:srgbClr val="5B6475"/>
                </a:solidFill>
                <a:latin typeface="Calibri" pitchFamily="34" charset="0"/>
                <a:ea typeface="Calibri" pitchFamily="34" charset="-122"/>
                <a:cs typeface="Calibri" pitchFamily="34" charset="-120"/>
              </a:rPr>
              <a:t>listings collected</a:t>
            </a:r>
            <a:endParaRPr lang="en-US" sz="1400" dirty="0"/>
          </a:p>
        </p:txBody>
      </p:sp>
      <p:sp>
        <p:nvSpPr>
          <p:cNvPr id="19" name="Shape 17"/>
          <p:cNvSpPr/>
          <p:nvPr/>
        </p:nvSpPr>
        <p:spPr>
          <a:xfrm>
            <a:off x="9326880" y="1691640"/>
            <a:ext cx="2240280" cy="1920240"/>
          </a:xfrm>
          <a:prstGeom prst="roundRect">
            <a:avLst>
              <a:gd name="adj" fmla="val 5714"/>
            </a:avLst>
          </a:prstGeom>
          <a:solidFill>
            <a:srgbClr val="EAF6EE"/>
          </a:solidFill>
          <a:ln w="12700">
            <a:solidFill>
              <a:srgbClr val="EAF6EE"/>
            </a:solidFill>
            <a:prstDash val="solid"/>
          </a:ln>
        </p:spPr>
        <p:txBody>
          <a:bodyPr/>
          <a:lstStyle/>
          <a:p>
            <a:endParaRPr/>
          </a:p>
        </p:txBody>
      </p:sp>
      <p:sp>
        <p:nvSpPr>
          <p:cNvPr id="20" name="Text 18"/>
          <p:cNvSpPr txBox="1"/>
          <p:nvPr/>
        </p:nvSpPr>
        <p:spPr>
          <a:xfrm>
            <a:off x="9418320" y="2011680"/>
            <a:ext cx="2057400" cy="822960"/>
          </a:xfrm>
          <a:prstGeom prst="rect">
            <a:avLst/>
          </a:prstGeom>
          <a:noFill/>
          <a:ln/>
        </p:spPr>
        <p:txBody>
          <a:bodyPr wrap="square" lIns="0" tIns="0" rIns="0" bIns="0" rtlCol="0" anchor="ctr"/>
          <a:lstStyle/>
          <a:p>
            <a:pPr marL="0" indent="0" algn="ctr">
              <a:buNone/>
            </a:pPr>
            <a:r>
              <a:rPr lang="en-US" sz="4000" b="1" dirty="0">
                <a:solidFill>
                  <a:srgbClr val="14213D"/>
                </a:solidFill>
                <a:latin typeface="Calibri" pitchFamily="34" charset="0"/>
                <a:ea typeface="Calibri" pitchFamily="34" charset="-122"/>
                <a:cs typeface="Calibri" pitchFamily="34" charset="-120"/>
              </a:rPr>
              <a:t>19,148</a:t>
            </a:r>
            <a:endParaRPr lang="en-US" sz="4000" dirty="0"/>
          </a:p>
        </p:txBody>
      </p:sp>
      <p:sp>
        <p:nvSpPr>
          <p:cNvPr id="21" name="Text 19"/>
          <p:cNvSpPr txBox="1"/>
          <p:nvPr/>
        </p:nvSpPr>
        <p:spPr>
          <a:xfrm>
            <a:off x="9418320" y="2880360"/>
            <a:ext cx="2057400" cy="457200"/>
          </a:xfrm>
          <a:prstGeom prst="rect">
            <a:avLst/>
          </a:prstGeom>
          <a:noFill/>
          <a:ln/>
        </p:spPr>
        <p:txBody>
          <a:bodyPr wrap="square" lIns="0" tIns="0" rIns="0" bIns="0" rtlCol="0" anchor="ctr"/>
          <a:lstStyle/>
          <a:p>
            <a:pPr marL="0" indent="0" algn="ctr">
              <a:buNone/>
            </a:pPr>
            <a:r>
              <a:rPr lang="en-US" sz="1400" dirty="0">
                <a:solidFill>
                  <a:srgbClr val="5B6475"/>
                </a:solidFill>
                <a:latin typeface="Calibri" pitchFamily="34" charset="0"/>
                <a:ea typeface="Calibri" pitchFamily="34" charset="-122"/>
                <a:cs typeface="Calibri" pitchFamily="34" charset="-120"/>
              </a:rPr>
              <a:t>jobs</a:t>
            </a:r>
            <a:endParaRPr lang="en-US" sz="1400" dirty="0"/>
          </a:p>
        </p:txBody>
      </p:sp>
      <p:sp>
        <p:nvSpPr>
          <p:cNvPr id="22" name="Shape 20"/>
          <p:cNvSpPr/>
          <p:nvPr/>
        </p:nvSpPr>
        <p:spPr>
          <a:xfrm>
            <a:off x="6903720" y="3840480"/>
            <a:ext cx="2240280" cy="1920240"/>
          </a:xfrm>
          <a:prstGeom prst="roundRect">
            <a:avLst>
              <a:gd name="adj" fmla="val 5714"/>
            </a:avLst>
          </a:prstGeom>
          <a:solidFill>
            <a:srgbClr val="EAF6EE"/>
          </a:solidFill>
          <a:ln w="12700">
            <a:solidFill>
              <a:srgbClr val="EAF6EE"/>
            </a:solidFill>
            <a:prstDash val="solid"/>
          </a:ln>
        </p:spPr>
        <p:txBody>
          <a:bodyPr/>
          <a:lstStyle/>
          <a:p>
            <a:endParaRPr/>
          </a:p>
        </p:txBody>
      </p:sp>
      <p:sp>
        <p:nvSpPr>
          <p:cNvPr id="23" name="Text 21"/>
          <p:cNvSpPr txBox="1"/>
          <p:nvPr/>
        </p:nvSpPr>
        <p:spPr>
          <a:xfrm>
            <a:off x="6995160" y="4160520"/>
            <a:ext cx="2057400" cy="822960"/>
          </a:xfrm>
          <a:prstGeom prst="rect">
            <a:avLst/>
          </a:prstGeom>
          <a:noFill/>
          <a:ln/>
        </p:spPr>
        <p:txBody>
          <a:bodyPr wrap="square" lIns="0" tIns="0" rIns="0" bIns="0" rtlCol="0" anchor="ctr"/>
          <a:lstStyle/>
          <a:p>
            <a:pPr marL="0" indent="0" algn="ctr">
              <a:buNone/>
            </a:pPr>
            <a:r>
              <a:rPr lang="en-US" sz="4000" b="1" dirty="0">
                <a:solidFill>
                  <a:srgbClr val="14213D"/>
                </a:solidFill>
                <a:latin typeface="Calibri" pitchFamily="34" charset="0"/>
                <a:ea typeface="Calibri" pitchFamily="34" charset="-122"/>
                <a:cs typeface="Calibri" pitchFamily="34" charset="-120"/>
              </a:rPr>
              <a:t>18,693</a:t>
            </a:r>
            <a:endParaRPr lang="en-US" sz="4000" dirty="0"/>
          </a:p>
        </p:txBody>
      </p:sp>
      <p:sp>
        <p:nvSpPr>
          <p:cNvPr id="24" name="Text 22"/>
          <p:cNvSpPr txBox="1"/>
          <p:nvPr/>
        </p:nvSpPr>
        <p:spPr>
          <a:xfrm>
            <a:off x="6995160" y="5029200"/>
            <a:ext cx="2057400" cy="457200"/>
          </a:xfrm>
          <a:prstGeom prst="rect">
            <a:avLst/>
          </a:prstGeom>
          <a:noFill/>
          <a:ln/>
        </p:spPr>
        <p:txBody>
          <a:bodyPr wrap="square" lIns="0" tIns="0" rIns="0" bIns="0" rtlCol="0" anchor="ctr"/>
          <a:lstStyle/>
          <a:p>
            <a:pPr marL="0" indent="0" algn="ctr">
              <a:buNone/>
            </a:pPr>
            <a:r>
              <a:rPr lang="en-US" sz="1400" dirty="0">
                <a:solidFill>
                  <a:srgbClr val="5B6475"/>
                </a:solidFill>
                <a:latin typeface="Calibri" pitchFamily="34" charset="0"/>
                <a:ea typeface="Calibri" pitchFamily="34" charset="-122"/>
                <a:cs typeface="Calibri" pitchFamily="34" charset="-120"/>
              </a:rPr>
              <a:t>unique job postings</a:t>
            </a:r>
            <a:endParaRPr lang="en-US" sz="1400" dirty="0"/>
          </a:p>
        </p:txBody>
      </p:sp>
      <p:sp>
        <p:nvSpPr>
          <p:cNvPr id="25" name="Shape 23"/>
          <p:cNvSpPr/>
          <p:nvPr/>
        </p:nvSpPr>
        <p:spPr>
          <a:xfrm>
            <a:off x="9326880" y="3840480"/>
            <a:ext cx="2240280" cy="1920240"/>
          </a:xfrm>
          <a:prstGeom prst="roundRect">
            <a:avLst>
              <a:gd name="adj" fmla="val 5714"/>
            </a:avLst>
          </a:prstGeom>
          <a:solidFill>
            <a:srgbClr val="EAF6EE"/>
          </a:solidFill>
          <a:ln w="12700">
            <a:solidFill>
              <a:srgbClr val="EAF6EE"/>
            </a:solidFill>
            <a:prstDash val="solid"/>
          </a:ln>
        </p:spPr>
        <p:txBody>
          <a:bodyPr/>
          <a:lstStyle/>
          <a:p>
            <a:endParaRPr/>
          </a:p>
        </p:txBody>
      </p:sp>
      <p:sp>
        <p:nvSpPr>
          <p:cNvPr id="26" name="Text 24"/>
          <p:cNvSpPr txBox="1"/>
          <p:nvPr/>
        </p:nvSpPr>
        <p:spPr>
          <a:xfrm>
            <a:off x="9418320" y="4160520"/>
            <a:ext cx="2057400" cy="822960"/>
          </a:xfrm>
          <a:prstGeom prst="rect">
            <a:avLst/>
          </a:prstGeom>
          <a:noFill/>
          <a:ln/>
        </p:spPr>
        <p:txBody>
          <a:bodyPr wrap="square" lIns="0" tIns="0" rIns="0" bIns="0" rtlCol="0" anchor="ctr"/>
          <a:lstStyle/>
          <a:p>
            <a:pPr marL="0" indent="0" algn="ctr">
              <a:buNone/>
            </a:pPr>
            <a:r>
              <a:rPr lang="en-US" sz="4000" b="1" dirty="0">
                <a:solidFill>
                  <a:srgbClr val="14213D"/>
                </a:solidFill>
                <a:latin typeface="Calibri" pitchFamily="34" charset="0"/>
                <a:ea typeface="Calibri" pitchFamily="34" charset="-122"/>
                <a:cs typeface="Calibri" pitchFamily="34" charset="-120"/>
              </a:rPr>
              <a:t>3,004</a:t>
            </a:r>
            <a:endParaRPr lang="en-US" sz="4000" dirty="0"/>
          </a:p>
        </p:txBody>
      </p:sp>
      <p:sp>
        <p:nvSpPr>
          <p:cNvPr id="27" name="Text 25"/>
          <p:cNvSpPr txBox="1"/>
          <p:nvPr/>
        </p:nvSpPr>
        <p:spPr>
          <a:xfrm>
            <a:off x="9418320" y="5029200"/>
            <a:ext cx="2057400" cy="457200"/>
          </a:xfrm>
          <a:prstGeom prst="rect">
            <a:avLst/>
          </a:prstGeom>
          <a:noFill/>
          <a:ln/>
        </p:spPr>
        <p:txBody>
          <a:bodyPr wrap="square" lIns="0" tIns="0" rIns="0" bIns="0" rtlCol="0" anchor="ctr"/>
          <a:lstStyle/>
          <a:p>
            <a:pPr marL="0" indent="0" algn="ctr">
              <a:buNone/>
            </a:pPr>
            <a:r>
              <a:rPr lang="en-US" sz="1400" dirty="0">
                <a:solidFill>
                  <a:srgbClr val="5B6475"/>
                </a:solidFill>
                <a:latin typeface="Calibri" pitchFamily="34" charset="0"/>
                <a:ea typeface="Calibri" pitchFamily="34" charset="-122"/>
                <a:cs typeface="Calibri" pitchFamily="34" charset="-120"/>
              </a:rPr>
              <a:t>companies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4</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What the pipeline solves</a:t>
            </a:r>
            <a:endParaRPr lang="en-US" sz="3200" dirty="0"/>
          </a:p>
        </p:txBody>
      </p:sp>
      <p:sp>
        <p:nvSpPr>
          <p:cNvPr id="5" name="Shape 3"/>
          <p:cNvSpPr/>
          <p:nvPr/>
        </p:nvSpPr>
        <p:spPr>
          <a:xfrm>
            <a:off x="9265615" y="475488"/>
            <a:ext cx="2377440" cy="384048"/>
          </a:xfrm>
          <a:prstGeom prst="roundRect">
            <a:avLst>
              <a:gd name="adj" fmla="val 50000"/>
            </a:avLst>
          </a:prstGeom>
          <a:solidFill>
            <a:srgbClr val="EAF6EE"/>
          </a:solidFill>
          <a:ln w="12700">
            <a:solidFill>
              <a:srgbClr val="8CC9A1"/>
            </a:solidFill>
            <a:prstDash val="solid"/>
          </a:ln>
        </p:spPr>
        <p:txBody>
          <a:bodyPr/>
          <a:lstStyle/>
          <a:p>
            <a:endParaRPr/>
          </a:p>
        </p:txBody>
      </p:sp>
      <p:sp>
        <p:nvSpPr>
          <p:cNvPr id="6" name="Text 4"/>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2E7D4F"/>
                </a:solidFill>
                <a:latin typeface="Calibri" pitchFamily="34" charset="0"/>
                <a:ea typeface="Calibri" pitchFamily="34" charset="-122"/>
                <a:cs typeface="Calibri" pitchFamily="34" charset="-120"/>
              </a:rPr>
              <a:t>Problem</a:t>
            </a:r>
            <a:endParaRPr lang="en-US" sz="1200" dirty="0"/>
          </a:p>
        </p:txBody>
      </p:sp>
      <p:sp>
        <p:nvSpPr>
          <p:cNvPr id="7" name="Shape 5"/>
          <p:cNvSpPr/>
          <p:nvPr/>
        </p:nvSpPr>
        <p:spPr>
          <a:xfrm>
            <a:off x="548640" y="1325880"/>
            <a:ext cx="5349240" cy="4754880"/>
          </a:xfrm>
          <a:prstGeom prst="roundRect">
            <a:avLst>
              <a:gd name="adj" fmla="val 2308"/>
            </a:avLst>
          </a:prstGeom>
          <a:solidFill>
            <a:srgbClr val="FDF1E7"/>
          </a:solidFill>
          <a:ln w="12700">
            <a:solidFill>
              <a:srgbClr val="FDF1E7"/>
            </a:solidFill>
            <a:prstDash val="solid"/>
          </a:ln>
        </p:spPr>
        <p:txBody>
          <a:bodyPr/>
          <a:lstStyle/>
          <a:p>
            <a:endParaRPr/>
          </a:p>
        </p:txBody>
      </p:sp>
      <p:sp>
        <p:nvSpPr>
          <p:cNvPr id="8" name="Shape 6"/>
          <p:cNvSpPr/>
          <p:nvPr/>
        </p:nvSpPr>
        <p:spPr>
          <a:xfrm>
            <a:off x="868680" y="1645920"/>
            <a:ext cx="566928" cy="566928"/>
          </a:xfrm>
          <a:prstGeom prst="ellipse">
            <a:avLst/>
          </a:prstGeom>
          <a:solidFill>
            <a:srgbClr val="B8621B"/>
          </a:solidFill>
          <a:ln w="12700">
            <a:solidFill>
              <a:srgbClr val="B8621B"/>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1004743" y="1781983"/>
            <a:ext cx="294803" cy="294803"/>
          </a:xfrm>
          <a:prstGeom prst="rect">
            <a:avLst/>
          </a:prstGeom>
        </p:spPr>
      </p:pic>
      <p:sp>
        <p:nvSpPr>
          <p:cNvPr id="10" name="Text 7"/>
          <p:cNvSpPr txBox="1"/>
          <p:nvPr/>
        </p:nvSpPr>
        <p:spPr>
          <a:xfrm>
            <a:off x="1600200" y="1645920"/>
            <a:ext cx="4069080" cy="566928"/>
          </a:xfrm>
          <a:prstGeom prst="rect">
            <a:avLst/>
          </a:prstGeom>
          <a:noFill/>
          <a:ln/>
        </p:spPr>
        <p:txBody>
          <a:bodyPr wrap="square" lIns="0" tIns="0" rIns="0" bIns="0" rtlCol="0" anchor="ctr"/>
          <a:lstStyle/>
          <a:p>
            <a:pPr marL="0" indent="0">
              <a:buNone/>
            </a:pPr>
            <a:r>
              <a:rPr lang="en-US" sz="2200" b="1" dirty="0">
                <a:solidFill>
                  <a:srgbClr val="B8621B"/>
                </a:solidFill>
                <a:latin typeface="Calibri" pitchFamily="34" charset="0"/>
                <a:ea typeface="Calibri" pitchFamily="34" charset="-122"/>
                <a:cs typeface="Calibri" pitchFamily="34" charset="-120"/>
              </a:rPr>
              <a:t>The problem</a:t>
            </a:r>
            <a:endParaRPr lang="en-US" sz="2200" dirty="0"/>
          </a:p>
        </p:txBody>
      </p:sp>
      <p:sp>
        <p:nvSpPr>
          <p:cNvPr id="11" name="Text 8"/>
          <p:cNvSpPr txBox="1"/>
          <p:nvPr/>
        </p:nvSpPr>
        <p:spPr>
          <a:xfrm>
            <a:off x="914400" y="2514600"/>
            <a:ext cx="461772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Job ads are scattered across employer boards and job search engines</a:t>
            </a:r>
            <a:endParaRPr lang="en-US" sz="1600" dirty="0"/>
          </a:p>
          <a:p>
            <a:pPr marL="342900" indent="-3429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The same job appears several times, on several sites</a:t>
            </a:r>
            <a:endParaRPr lang="en-US" sz="1600" dirty="0"/>
          </a:p>
          <a:p>
            <a:pPr marL="342900" indent="-3429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Company names, cities and job types are written differently everywhere</a:t>
            </a:r>
            <a:endParaRPr lang="en-US" sz="1600" dirty="0"/>
          </a:p>
          <a:p>
            <a:pPr marL="342900" indent="-3429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No single, trustworthy place to ask who is hiring, where and for what</a:t>
            </a:r>
            <a:endParaRPr lang="en-US" sz="1600" dirty="0"/>
          </a:p>
        </p:txBody>
      </p:sp>
      <p:sp>
        <p:nvSpPr>
          <p:cNvPr id="12" name="Shape 9"/>
          <p:cNvSpPr/>
          <p:nvPr/>
        </p:nvSpPr>
        <p:spPr>
          <a:xfrm>
            <a:off x="6217920" y="1325880"/>
            <a:ext cx="5349240" cy="4754880"/>
          </a:xfrm>
          <a:prstGeom prst="roundRect">
            <a:avLst>
              <a:gd name="adj" fmla="val 2308"/>
            </a:avLst>
          </a:prstGeom>
          <a:solidFill>
            <a:srgbClr val="EAF6EE"/>
          </a:solidFill>
          <a:ln w="12700">
            <a:solidFill>
              <a:srgbClr val="EAF6EE"/>
            </a:solidFill>
            <a:prstDash val="solid"/>
          </a:ln>
        </p:spPr>
        <p:txBody>
          <a:bodyPr/>
          <a:lstStyle/>
          <a:p>
            <a:endParaRPr/>
          </a:p>
        </p:txBody>
      </p:sp>
      <p:sp>
        <p:nvSpPr>
          <p:cNvPr id="13" name="Shape 10"/>
          <p:cNvSpPr/>
          <p:nvPr/>
        </p:nvSpPr>
        <p:spPr>
          <a:xfrm>
            <a:off x="6537960" y="1645920"/>
            <a:ext cx="566928" cy="566928"/>
          </a:xfrm>
          <a:prstGeom prst="ellipse">
            <a:avLst/>
          </a:prstGeom>
          <a:solidFill>
            <a:srgbClr val="12825A"/>
          </a:solidFill>
          <a:ln w="12700">
            <a:solidFill>
              <a:srgbClr val="12825A"/>
            </a:solidFill>
            <a:prstDash val="solid"/>
          </a:ln>
        </p:spPr>
        <p:txBody>
          <a:bodyPr/>
          <a:lstStyle/>
          <a:p>
            <a:endParaRPr/>
          </a:p>
        </p:txBody>
      </p:sp>
      <p:pic>
        <p:nvPicPr>
          <p:cNvPr id="14" name="Image 1" descr="preencoded.png"/>
          <p:cNvPicPr>
            <a:picLocks noChangeAspect="1"/>
          </p:cNvPicPr>
          <p:nvPr/>
        </p:nvPicPr>
        <p:blipFill>
          <a:blip r:embed="rId4"/>
          <a:stretch>
            <a:fillRect/>
          </a:stretch>
        </p:blipFill>
        <p:spPr>
          <a:xfrm>
            <a:off x="6674023" y="1781983"/>
            <a:ext cx="294803" cy="294803"/>
          </a:xfrm>
          <a:prstGeom prst="rect">
            <a:avLst/>
          </a:prstGeom>
        </p:spPr>
      </p:pic>
      <p:sp>
        <p:nvSpPr>
          <p:cNvPr id="15" name="Text 11"/>
          <p:cNvSpPr txBox="1"/>
          <p:nvPr/>
        </p:nvSpPr>
        <p:spPr>
          <a:xfrm>
            <a:off x="7269480" y="1645920"/>
            <a:ext cx="4069080" cy="566928"/>
          </a:xfrm>
          <a:prstGeom prst="rect">
            <a:avLst/>
          </a:prstGeom>
          <a:noFill/>
          <a:ln/>
        </p:spPr>
        <p:txBody>
          <a:bodyPr wrap="square" lIns="0" tIns="0" rIns="0" bIns="0" rtlCol="0" anchor="ctr"/>
          <a:lstStyle/>
          <a:p>
            <a:pPr marL="0" indent="0">
              <a:buNone/>
            </a:pPr>
            <a:r>
              <a:rPr lang="en-US" sz="2200" b="1" dirty="0">
                <a:solidFill>
                  <a:srgbClr val="12825A"/>
                </a:solidFill>
                <a:latin typeface="Calibri" pitchFamily="34" charset="0"/>
                <a:ea typeface="Calibri" pitchFamily="34" charset="-122"/>
                <a:cs typeface="Calibri" pitchFamily="34" charset="-120"/>
              </a:rPr>
              <a:t>What we built</a:t>
            </a:r>
            <a:endParaRPr lang="en-US" sz="2200" dirty="0"/>
          </a:p>
        </p:txBody>
      </p:sp>
      <p:sp>
        <p:nvSpPr>
          <p:cNvPr id="16" name="Text 12"/>
          <p:cNvSpPr txBox="1"/>
          <p:nvPr/>
        </p:nvSpPr>
        <p:spPr>
          <a:xfrm>
            <a:off x="6583680" y="2514600"/>
            <a:ext cx="461772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One pipeline that collects six sources, repeatable with one command</a:t>
            </a:r>
            <a:endParaRPr lang="en-US" sz="1600" dirty="0"/>
          </a:p>
          <a:p>
            <a:pPr marL="342900" indent="-3429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Cross-source matching: 1,008 jobs found on more than one source are counted once</a:t>
            </a:r>
            <a:endParaRPr lang="en-US" sz="1600" dirty="0"/>
          </a:p>
          <a:p>
            <a:pPr marL="342900" indent="-3429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Standard companies, cities, categories and job types through reviewed seed tables</a:t>
            </a:r>
            <a:endParaRPr lang="en-US" sz="1600" dirty="0"/>
          </a:p>
          <a:p>
            <a:pPr marL="342900" indent="-3429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A tested star schema that answers 9 business questions directly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5</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Data sources and why we chose them</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17 candidates evaluated · 6 selected · all through APIs, no scraping</a:t>
            </a:r>
            <a:endParaRPr lang="en-US" sz="1500" dirty="0"/>
          </a:p>
        </p:txBody>
      </p:sp>
      <p:sp>
        <p:nvSpPr>
          <p:cNvPr id="6" name="Shape 4"/>
          <p:cNvSpPr/>
          <p:nvPr/>
        </p:nvSpPr>
        <p:spPr>
          <a:xfrm>
            <a:off x="9265615" y="475488"/>
            <a:ext cx="2377440" cy="384048"/>
          </a:xfrm>
          <a:prstGeom prst="roundRect">
            <a:avLst>
              <a:gd name="adj" fmla="val 50000"/>
            </a:avLst>
          </a:prstGeom>
          <a:solidFill>
            <a:srgbClr val="EAF6EE"/>
          </a:solidFill>
          <a:ln w="12700">
            <a:solidFill>
              <a:srgbClr val="8CC9A1"/>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2E7D4F"/>
                </a:solidFill>
                <a:latin typeface="Calibri" pitchFamily="34" charset="0"/>
                <a:ea typeface="Calibri" pitchFamily="34" charset="-122"/>
                <a:cs typeface="Calibri" pitchFamily="34" charset="-120"/>
              </a:rPr>
              <a:t>Sources</a:t>
            </a:r>
            <a:endParaRPr lang="en-US" sz="1200" dirty="0"/>
          </a:p>
        </p:txBody>
      </p:sp>
      <p:sp>
        <p:nvSpPr>
          <p:cNvPr id="8" name="Shape 6"/>
          <p:cNvSpPr/>
          <p:nvPr/>
        </p:nvSpPr>
        <p:spPr>
          <a:xfrm>
            <a:off x="548640" y="1554480"/>
            <a:ext cx="3657600" cy="4526280"/>
          </a:xfrm>
          <a:prstGeom prst="roundRect">
            <a:avLst>
              <a:gd name="adj" fmla="val 3000"/>
            </a:avLst>
          </a:prstGeom>
          <a:solidFill>
            <a:srgbClr val="EAF6EE"/>
          </a:solidFill>
          <a:ln w="12700">
            <a:solidFill>
              <a:srgbClr val="EAF6EE"/>
            </a:solidFill>
            <a:prstDash val="solid"/>
          </a:ln>
        </p:spPr>
        <p:txBody>
          <a:bodyPr/>
          <a:lstStyle/>
          <a:p>
            <a:endParaRPr/>
          </a:p>
        </p:txBody>
      </p:sp>
      <p:sp>
        <p:nvSpPr>
          <p:cNvPr id="9" name="Shape 7"/>
          <p:cNvSpPr/>
          <p:nvPr/>
        </p:nvSpPr>
        <p:spPr>
          <a:xfrm>
            <a:off x="822960" y="1828800"/>
            <a:ext cx="502920" cy="502920"/>
          </a:xfrm>
          <a:prstGeom prst="ellipse">
            <a:avLst/>
          </a:prstGeom>
          <a:solidFill>
            <a:srgbClr val="2E7D4F"/>
          </a:solidFill>
          <a:ln w="12700">
            <a:solidFill>
              <a:srgbClr val="2E7D4F"/>
            </a:solidFill>
            <a:prstDash val="solid"/>
          </a:ln>
        </p:spPr>
        <p:txBody>
          <a:bodyPr/>
          <a:lstStyle/>
          <a:p>
            <a:endParaRPr/>
          </a:p>
        </p:txBody>
      </p:sp>
      <p:pic>
        <p:nvPicPr>
          <p:cNvPr id="10" name="Image 0" descr="preencoded.png"/>
          <p:cNvPicPr>
            <a:picLocks noChangeAspect="1"/>
          </p:cNvPicPr>
          <p:nvPr/>
        </p:nvPicPr>
        <p:blipFill>
          <a:blip r:embed="rId3"/>
          <a:stretch>
            <a:fillRect/>
          </a:stretch>
        </p:blipFill>
        <p:spPr>
          <a:xfrm>
            <a:off x="943661" y="1949501"/>
            <a:ext cx="261518" cy="261518"/>
          </a:xfrm>
          <a:prstGeom prst="rect">
            <a:avLst/>
          </a:prstGeom>
        </p:spPr>
      </p:pic>
      <p:sp>
        <p:nvSpPr>
          <p:cNvPr id="11" name="Text 8"/>
          <p:cNvSpPr txBox="1"/>
          <p:nvPr/>
        </p:nvSpPr>
        <p:spPr>
          <a:xfrm>
            <a:off x="1463040" y="1828800"/>
            <a:ext cx="2560320" cy="502920"/>
          </a:xfrm>
          <a:prstGeom prst="rect">
            <a:avLst/>
          </a:prstGeom>
          <a:noFill/>
          <a:ln/>
        </p:spPr>
        <p:txBody>
          <a:bodyPr wrap="square" lIns="0" tIns="0" rIns="0" bIns="0" rtlCol="0" anchor="ctr"/>
          <a:lstStyle/>
          <a:p>
            <a:pPr marL="0" indent="0">
              <a:buNone/>
            </a:pPr>
            <a:r>
              <a:rPr lang="en-US" sz="1600" b="1" dirty="0">
                <a:solidFill>
                  <a:srgbClr val="2E7D4F"/>
                </a:solidFill>
                <a:latin typeface="Calibri" pitchFamily="34" charset="0"/>
                <a:ea typeface="Calibri" pitchFamily="34" charset="-122"/>
                <a:cs typeface="Calibri" pitchFamily="34" charset="-120"/>
              </a:rPr>
              <a:t>Employer job boards (ATS)</a:t>
            </a:r>
            <a:endParaRPr lang="en-US" sz="1600" dirty="0"/>
          </a:p>
        </p:txBody>
      </p:sp>
      <p:sp>
        <p:nvSpPr>
          <p:cNvPr id="12" name="Text 9"/>
          <p:cNvSpPr txBox="1"/>
          <p:nvPr/>
        </p:nvSpPr>
        <p:spPr>
          <a:xfrm>
            <a:off x="822960" y="2468880"/>
            <a:ext cx="3108960" cy="7772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employer publishes every open job; a missing job means it was taken down</a:t>
            </a:r>
            <a:endParaRPr lang="en-US" sz="1300" dirty="0"/>
          </a:p>
        </p:txBody>
      </p:sp>
      <p:sp>
        <p:nvSpPr>
          <p:cNvPr id="13" name="Shape 10"/>
          <p:cNvSpPr/>
          <p:nvPr/>
        </p:nvSpPr>
        <p:spPr>
          <a:xfrm>
            <a:off x="822960" y="3383280"/>
            <a:ext cx="3108960" cy="530352"/>
          </a:xfrm>
          <a:prstGeom prst="roundRect">
            <a:avLst>
              <a:gd name="adj" fmla="val 13793"/>
            </a:avLst>
          </a:prstGeom>
          <a:solidFill>
            <a:srgbClr val="FFFFFF"/>
          </a:solidFill>
          <a:ln w="12700">
            <a:solidFill>
              <a:srgbClr val="8CC9A1"/>
            </a:solidFill>
            <a:prstDash val="solid"/>
          </a:ln>
        </p:spPr>
        <p:txBody>
          <a:bodyPr/>
          <a:lstStyle/>
          <a:p>
            <a:endParaRPr/>
          </a:p>
        </p:txBody>
      </p:sp>
      <p:sp>
        <p:nvSpPr>
          <p:cNvPr id="14" name="Text 11"/>
          <p:cNvSpPr txBox="1"/>
          <p:nvPr/>
        </p:nvSpPr>
        <p:spPr>
          <a:xfrm>
            <a:off x="960120" y="3383280"/>
            <a:ext cx="1463040" cy="530352"/>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Workable</a:t>
            </a:r>
            <a:endParaRPr lang="en-US" sz="1400" dirty="0"/>
          </a:p>
        </p:txBody>
      </p:sp>
      <p:sp>
        <p:nvSpPr>
          <p:cNvPr id="15" name="Text 12"/>
          <p:cNvSpPr txBox="1"/>
          <p:nvPr/>
        </p:nvSpPr>
        <p:spPr>
          <a:xfrm>
            <a:off x="2377440" y="3383280"/>
            <a:ext cx="1097280" cy="530352"/>
          </a:xfrm>
          <a:prstGeom prst="rect">
            <a:avLst/>
          </a:prstGeom>
          <a:noFill/>
          <a:ln/>
        </p:spPr>
        <p:txBody>
          <a:bodyPr wrap="square" lIns="0" tIns="0" rIns="0" bIns="0" rtlCol="0" anchor="ctr"/>
          <a:lstStyle/>
          <a:p>
            <a:pPr marL="0" indent="0">
              <a:buNone/>
            </a:pPr>
            <a:r>
              <a:rPr lang="en-US" sz="1000" dirty="0">
                <a:solidFill>
                  <a:srgbClr val="5B6475"/>
                </a:solidFill>
                <a:latin typeface="Calibri" pitchFamily="34" charset="0"/>
                <a:ea typeface="Calibri" pitchFamily="34" charset="-122"/>
                <a:cs typeface="Calibri" pitchFamily="34" charset="-120"/>
              </a:rPr>
              <a:t>11 accounts</a:t>
            </a:r>
            <a:endParaRPr lang="en-US" sz="1000" dirty="0"/>
          </a:p>
        </p:txBody>
      </p:sp>
      <p:sp>
        <p:nvSpPr>
          <p:cNvPr id="16" name="Text 13"/>
          <p:cNvSpPr txBox="1"/>
          <p:nvPr/>
        </p:nvSpPr>
        <p:spPr>
          <a:xfrm>
            <a:off x="3154680" y="3383280"/>
            <a:ext cx="685800" cy="530352"/>
          </a:xfrm>
          <a:prstGeom prst="rect">
            <a:avLst/>
          </a:prstGeom>
          <a:noFill/>
          <a:ln/>
        </p:spPr>
        <p:txBody>
          <a:bodyPr wrap="square" lIns="0" tIns="0" rIns="0" bIns="0" rtlCol="0" anchor="ctr"/>
          <a:lstStyle/>
          <a:p>
            <a:pPr marL="0" indent="0" algn="r">
              <a:buNone/>
            </a:pPr>
            <a:r>
              <a:rPr lang="en-US" sz="1300" b="1" dirty="0">
                <a:solidFill>
                  <a:srgbClr val="2E7D4F"/>
                </a:solidFill>
                <a:latin typeface="Calibri" pitchFamily="34" charset="0"/>
                <a:ea typeface="Calibri" pitchFamily="34" charset="-122"/>
                <a:cs typeface="Calibri" pitchFamily="34" charset="-120"/>
              </a:rPr>
              <a:t>1,549</a:t>
            </a:r>
            <a:endParaRPr lang="en-US" sz="1300" dirty="0"/>
          </a:p>
        </p:txBody>
      </p:sp>
      <p:sp>
        <p:nvSpPr>
          <p:cNvPr id="17" name="Shape 14"/>
          <p:cNvSpPr/>
          <p:nvPr/>
        </p:nvSpPr>
        <p:spPr>
          <a:xfrm>
            <a:off x="822960" y="4023360"/>
            <a:ext cx="3108960" cy="530352"/>
          </a:xfrm>
          <a:prstGeom prst="roundRect">
            <a:avLst>
              <a:gd name="adj" fmla="val 13793"/>
            </a:avLst>
          </a:prstGeom>
          <a:solidFill>
            <a:srgbClr val="FFFFFF"/>
          </a:solidFill>
          <a:ln w="12700">
            <a:solidFill>
              <a:srgbClr val="8CC9A1"/>
            </a:solidFill>
            <a:prstDash val="solid"/>
          </a:ln>
        </p:spPr>
        <p:txBody>
          <a:bodyPr/>
          <a:lstStyle/>
          <a:p>
            <a:endParaRPr/>
          </a:p>
        </p:txBody>
      </p:sp>
      <p:sp>
        <p:nvSpPr>
          <p:cNvPr id="18" name="Text 15"/>
          <p:cNvSpPr txBox="1"/>
          <p:nvPr/>
        </p:nvSpPr>
        <p:spPr>
          <a:xfrm>
            <a:off x="960120" y="4023360"/>
            <a:ext cx="1463040" cy="530352"/>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SmartRecruiters</a:t>
            </a:r>
            <a:endParaRPr lang="en-US" sz="1400" dirty="0"/>
          </a:p>
        </p:txBody>
      </p:sp>
      <p:sp>
        <p:nvSpPr>
          <p:cNvPr id="19" name="Text 16"/>
          <p:cNvSpPr txBox="1"/>
          <p:nvPr/>
        </p:nvSpPr>
        <p:spPr>
          <a:xfrm>
            <a:off x="2377440" y="4023360"/>
            <a:ext cx="1097280" cy="530352"/>
          </a:xfrm>
          <a:prstGeom prst="rect">
            <a:avLst/>
          </a:prstGeom>
          <a:noFill/>
          <a:ln/>
        </p:spPr>
        <p:txBody>
          <a:bodyPr wrap="square" lIns="0" tIns="0" rIns="0" bIns="0" rtlCol="0" anchor="ctr"/>
          <a:lstStyle/>
          <a:p>
            <a:pPr marL="0" indent="0">
              <a:buNone/>
            </a:pPr>
            <a:r>
              <a:rPr lang="en-US" sz="1000" dirty="0">
                <a:solidFill>
                  <a:srgbClr val="5B6475"/>
                </a:solidFill>
                <a:latin typeface="Calibri" pitchFamily="34" charset="0"/>
                <a:ea typeface="Calibri" pitchFamily="34" charset="-122"/>
                <a:cs typeface="Calibri" pitchFamily="34" charset="-120"/>
              </a:rPr>
              <a:t>14 companies</a:t>
            </a:r>
            <a:endParaRPr lang="en-US" sz="1000" dirty="0"/>
          </a:p>
        </p:txBody>
      </p:sp>
      <p:sp>
        <p:nvSpPr>
          <p:cNvPr id="20" name="Text 17"/>
          <p:cNvSpPr txBox="1"/>
          <p:nvPr/>
        </p:nvSpPr>
        <p:spPr>
          <a:xfrm>
            <a:off x="3154680" y="4023360"/>
            <a:ext cx="685800" cy="530352"/>
          </a:xfrm>
          <a:prstGeom prst="rect">
            <a:avLst/>
          </a:prstGeom>
          <a:noFill/>
          <a:ln/>
        </p:spPr>
        <p:txBody>
          <a:bodyPr wrap="square" lIns="0" tIns="0" rIns="0" bIns="0" rtlCol="0" anchor="ctr"/>
          <a:lstStyle/>
          <a:p>
            <a:pPr marL="0" indent="0" algn="r">
              <a:buNone/>
            </a:pPr>
            <a:r>
              <a:rPr lang="en-US" sz="1300" b="1" dirty="0">
                <a:solidFill>
                  <a:srgbClr val="2E7D4F"/>
                </a:solidFill>
                <a:latin typeface="Calibri" pitchFamily="34" charset="0"/>
                <a:ea typeface="Calibri" pitchFamily="34" charset="-122"/>
                <a:cs typeface="Calibri" pitchFamily="34" charset="-120"/>
              </a:rPr>
              <a:t>952</a:t>
            </a:r>
            <a:endParaRPr lang="en-US" sz="1300" dirty="0"/>
          </a:p>
        </p:txBody>
      </p:sp>
      <p:sp>
        <p:nvSpPr>
          <p:cNvPr id="21" name="Shape 18"/>
          <p:cNvSpPr/>
          <p:nvPr/>
        </p:nvSpPr>
        <p:spPr>
          <a:xfrm>
            <a:off x="822960" y="4663440"/>
            <a:ext cx="3108960" cy="530352"/>
          </a:xfrm>
          <a:prstGeom prst="roundRect">
            <a:avLst>
              <a:gd name="adj" fmla="val 13793"/>
            </a:avLst>
          </a:prstGeom>
          <a:solidFill>
            <a:srgbClr val="FFFFFF"/>
          </a:solidFill>
          <a:ln w="12700">
            <a:solidFill>
              <a:srgbClr val="8CC9A1"/>
            </a:solidFill>
            <a:prstDash val="solid"/>
          </a:ln>
        </p:spPr>
        <p:txBody>
          <a:bodyPr/>
          <a:lstStyle/>
          <a:p>
            <a:endParaRPr/>
          </a:p>
        </p:txBody>
      </p:sp>
      <p:sp>
        <p:nvSpPr>
          <p:cNvPr id="22" name="Text 19"/>
          <p:cNvSpPr txBox="1"/>
          <p:nvPr/>
        </p:nvSpPr>
        <p:spPr>
          <a:xfrm>
            <a:off x="960120" y="4663440"/>
            <a:ext cx="1463040" cy="530352"/>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Greenhouse</a:t>
            </a:r>
            <a:endParaRPr lang="en-US" sz="1400" dirty="0"/>
          </a:p>
        </p:txBody>
      </p:sp>
      <p:sp>
        <p:nvSpPr>
          <p:cNvPr id="23" name="Text 20"/>
          <p:cNvSpPr txBox="1"/>
          <p:nvPr/>
        </p:nvSpPr>
        <p:spPr>
          <a:xfrm>
            <a:off x="2377440" y="4663440"/>
            <a:ext cx="1097280" cy="530352"/>
          </a:xfrm>
          <a:prstGeom prst="rect">
            <a:avLst/>
          </a:prstGeom>
          <a:noFill/>
          <a:ln/>
        </p:spPr>
        <p:txBody>
          <a:bodyPr wrap="square" lIns="0" tIns="0" rIns="0" bIns="0" rtlCol="0" anchor="ctr"/>
          <a:lstStyle/>
          <a:p>
            <a:pPr marL="0" indent="0">
              <a:buNone/>
            </a:pPr>
            <a:r>
              <a:rPr lang="en-US" sz="1000" dirty="0">
                <a:solidFill>
                  <a:srgbClr val="5B6475"/>
                </a:solidFill>
                <a:latin typeface="Calibri" pitchFamily="34" charset="0"/>
                <a:ea typeface="Calibri" pitchFamily="34" charset="-122"/>
                <a:cs typeface="Calibri" pitchFamily="34" charset="-120"/>
              </a:rPr>
              <a:t>17 boards</a:t>
            </a:r>
            <a:endParaRPr lang="en-US" sz="1000" dirty="0"/>
          </a:p>
        </p:txBody>
      </p:sp>
      <p:sp>
        <p:nvSpPr>
          <p:cNvPr id="24" name="Text 21"/>
          <p:cNvSpPr txBox="1"/>
          <p:nvPr/>
        </p:nvSpPr>
        <p:spPr>
          <a:xfrm>
            <a:off x="3154680" y="4663440"/>
            <a:ext cx="685800" cy="530352"/>
          </a:xfrm>
          <a:prstGeom prst="rect">
            <a:avLst/>
          </a:prstGeom>
          <a:noFill/>
          <a:ln/>
        </p:spPr>
        <p:txBody>
          <a:bodyPr wrap="square" lIns="0" tIns="0" rIns="0" bIns="0" rtlCol="0" anchor="ctr"/>
          <a:lstStyle/>
          <a:p>
            <a:pPr marL="0" indent="0" algn="r">
              <a:buNone/>
            </a:pPr>
            <a:r>
              <a:rPr lang="en-US" sz="1300" b="1" dirty="0">
                <a:solidFill>
                  <a:srgbClr val="2E7D4F"/>
                </a:solidFill>
                <a:latin typeface="Calibri" pitchFamily="34" charset="0"/>
                <a:ea typeface="Calibri" pitchFamily="34" charset="-122"/>
                <a:cs typeface="Calibri" pitchFamily="34" charset="-120"/>
              </a:rPr>
              <a:t>219</a:t>
            </a:r>
            <a:endParaRPr lang="en-US" sz="1300" dirty="0"/>
          </a:p>
        </p:txBody>
      </p:sp>
      <p:sp>
        <p:nvSpPr>
          <p:cNvPr id="25" name="Shape 22"/>
          <p:cNvSpPr/>
          <p:nvPr/>
        </p:nvSpPr>
        <p:spPr>
          <a:xfrm>
            <a:off x="822960" y="5303520"/>
            <a:ext cx="3108960" cy="530352"/>
          </a:xfrm>
          <a:prstGeom prst="roundRect">
            <a:avLst>
              <a:gd name="adj" fmla="val 13793"/>
            </a:avLst>
          </a:prstGeom>
          <a:solidFill>
            <a:srgbClr val="FFFFFF"/>
          </a:solidFill>
          <a:ln w="12700">
            <a:solidFill>
              <a:srgbClr val="8CC9A1"/>
            </a:solidFill>
            <a:prstDash val="solid"/>
          </a:ln>
        </p:spPr>
        <p:txBody>
          <a:bodyPr/>
          <a:lstStyle/>
          <a:p>
            <a:endParaRPr/>
          </a:p>
        </p:txBody>
      </p:sp>
      <p:sp>
        <p:nvSpPr>
          <p:cNvPr id="26" name="Text 23"/>
          <p:cNvSpPr txBox="1"/>
          <p:nvPr/>
        </p:nvSpPr>
        <p:spPr>
          <a:xfrm>
            <a:off x="960120" y="5303520"/>
            <a:ext cx="1463040" cy="530352"/>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Ashby</a:t>
            </a:r>
            <a:endParaRPr lang="en-US" sz="1400" dirty="0"/>
          </a:p>
        </p:txBody>
      </p:sp>
      <p:sp>
        <p:nvSpPr>
          <p:cNvPr id="27" name="Text 24"/>
          <p:cNvSpPr txBox="1"/>
          <p:nvPr/>
        </p:nvSpPr>
        <p:spPr>
          <a:xfrm>
            <a:off x="2377440" y="5303520"/>
            <a:ext cx="1097280" cy="530352"/>
          </a:xfrm>
          <a:prstGeom prst="rect">
            <a:avLst/>
          </a:prstGeom>
          <a:noFill/>
          <a:ln/>
        </p:spPr>
        <p:txBody>
          <a:bodyPr wrap="square" lIns="0" tIns="0" rIns="0" bIns="0" rtlCol="0" anchor="ctr"/>
          <a:lstStyle/>
          <a:p>
            <a:pPr marL="0" indent="0">
              <a:buNone/>
            </a:pPr>
            <a:r>
              <a:rPr lang="en-US" sz="1000" dirty="0">
                <a:solidFill>
                  <a:srgbClr val="5B6475"/>
                </a:solidFill>
                <a:latin typeface="Calibri" pitchFamily="34" charset="0"/>
                <a:ea typeface="Calibri" pitchFamily="34" charset="-122"/>
                <a:cs typeface="Calibri" pitchFamily="34" charset="-120"/>
              </a:rPr>
              <a:t>10 boards</a:t>
            </a:r>
            <a:endParaRPr lang="en-US" sz="1000" dirty="0"/>
          </a:p>
        </p:txBody>
      </p:sp>
      <p:sp>
        <p:nvSpPr>
          <p:cNvPr id="28" name="Text 25"/>
          <p:cNvSpPr txBox="1"/>
          <p:nvPr/>
        </p:nvSpPr>
        <p:spPr>
          <a:xfrm>
            <a:off x="3154680" y="5303520"/>
            <a:ext cx="685800" cy="530352"/>
          </a:xfrm>
          <a:prstGeom prst="rect">
            <a:avLst/>
          </a:prstGeom>
          <a:noFill/>
          <a:ln/>
        </p:spPr>
        <p:txBody>
          <a:bodyPr wrap="square" lIns="0" tIns="0" rIns="0" bIns="0" rtlCol="0" anchor="ctr"/>
          <a:lstStyle/>
          <a:p>
            <a:pPr marL="0" indent="0" algn="r">
              <a:buNone/>
            </a:pPr>
            <a:r>
              <a:rPr lang="en-US" sz="1300" b="1" dirty="0">
                <a:solidFill>
                  <a:srgbClr val="2E7D4F"/>
                </a:solidFill>
                <a:latin typeface="Calibri" pitchFamily="34" charset="0"/>
                <a:ea typeface="Calibri" pitchFamily="34" charset="-122"/>
                <a:cs typeface="Calibri" pitchFamily="34" charset="-120"/>
              </a:rPr>
              <a:t>49</a:t>
            </a:r>
            <a:endParaRPr lang="en-US" sz="1300" dirty="0"/>
          </a:p>
        </p:txBody>
      </p:sp>
      <p:sp>
        <p:nvSpPr>
          <p:cNvPr id="29" name="Shape 26"/>
          <p:cNvSpPr/>
          <p:nvPr/>
        </p:nvSpPr>
        <p:spPr>
          <a:xfrm>
            <a:off x="4434840" y="1554480"/>
            <a:ext cx="3657600" cy="4526280"/>
          </a:xfrm>
          <a:prstGeom prst="roundRect">
            <a:avLst>
              <a:gd name="adj" fmla="val 3000"/>
            </a:avLst>
          </a:prstGeom>
          <a:solidFill>
            <a:srgbClr val="E8F3FB"/>
          </a:solidFill>
          <a:ln w="12700">
            <a:solidFill>
              <a:srgbClr val="E8F3FB"/>
            </a:solidFill>
            <a:prstDash val="solid"/>
          </a:ln>
        </p:spPr>
        <p:txBody>
          <a:bodyPr/>
          <a:lstStyle/>
          <a:p>
            <a:endParaRPr/>
          </a:p>
        </p:txBody>
      </p:sp>
      <p:sp>
        <p:nvSpPr>
          <p:cNvPr id="30" name="Shape 27"/>
          <p:cNvSpPr/>
          <p:nvPr/>
        </p:nvSpPr>
        <p:spPr>
          <a:xfrm>
            <a:off x="4709160" y="1828800"/>
            <a:ext cx="502920" cy="502920"/>
          </a:xfrm>
          <a:prstGeom prst="ellipse">
            <a:avLst/>
          </a:prstGeom>
          <a:solidFill>
            <a:srgbClr val="1F6FA8"/>
          </a:solidFill>
          <a:ln w="12700">
            <a:solidFill>
              <a:srgbClr val="1F6FA8"/>
            </a:solidFill>
            <a:prstDash val="solid"/>
          </a:ln>
        </p:spPr>
        <p:txBody>
          <a:bodyPr/>
          <a:lstStyle/>
          <a:p>
            <a:endParaRPr/>
          </a:p>
        </p:txBody>
      </p:sp>
      <p:pic>
        <p:nvPicPr>
          <p:cNvPr id="31" name="Image 1" descr="preencoded.png"/>
          <p:cNvPicPr>
            <a:picLocks noChangeAspect="1"/>
          </p:cNvPicPr>
          <p:nvPr/>
        </p:nvPicPr>
        <p:blipFill>
          <a:blip r:embed="rId4"/>
          <a:stretch>
            <a:fillRect/>
          </a:stretch>
        </p:blipFill>
        <p:spPr>
          <a:xfrm>
            <a:off x="4829861" y="1949501"/>
            <a:ext cx="261518" cy="261518"/>
          </a:xfrm>
          <a:prstGeom prst="rect">
            <a:avLst/>
          </a:prstGeom>
        </p:spPr>
      </p:pic>
      <p:sp>
        <p:nvSpPr>
          <p:cNvPr id="32" name="Text 28"/>
          <p:cNvSpPr txBox="1"/>
          <p:nvPr/>
        </p:nvSpPr>
        <p:spPr>
          <a:xfrm>
            <a:off x="5349240" y="1828800"/>
            <a:ext cx="2560320" cy="502920"/>
          </a:xfrm>
          <a:prstGeom prst="rect">
            <a:avLst/>
          </a:prstGeom>
          <a:noFill/>
          <a:ln/>
        </p:spPr>
        <p:txBody>
          <a:bodyPr wrap="square" lIns="0" tIns="0" rIns="0" bIns="0" rtlCol="0" anchor="ctr"/>
          <a:lstStyle/>
          <a:p>
            <a:pPr marL="0" indent="0">
              <a:buNone/>
            </a:pPr>
            <a:r>
              <a:rPr lang="en-US" sz="1600" b="1" dirty="0">
                <a:solidFill>
                  <a:srgbClr val="1F6FA8"/>
                </a:solidFill>
                <a:latin typeface="Calibri" pitchFamily="34" charset="0"/>
                <a:ea typeface="Calibri" pitchFamily="34" charset="-122"/>
                <a:cs typeface="Calibri" pitchFamily="34" charset="-120"/>
              </a:rPr>
              <a:t>Job search engines (aggregators)</a:t>
            </a:r>
            <a:endParaRPr lang="en-US" sz="1600" dirty="0"/>
          </a:p>
        </p:txBody>
      </p:sp>
      <p:sp>
        <p:nvSpPr>
          <p:cNvPr id="33" name="Text 29"/>
          <p:cNvSpPr txBox="1"/>
          <p:nvPr/>
        </p:nvSpPr>
        <p:spPr>
          <a:xfrm>
            <a:off x="4709160" y="2468880"/>
            <a:ext cx="3108960" cy="7772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Largest volume; reach sites no ATS covers (LinkedIn, Jobrapido, Bayt via Google for Jobs)</a:t>
            </a:r>
            <a:endParaRPr lang="en-US" sz="1300" dirty="0"/>
          </a:p>
        </p:txBody>
      </p:sp>
      <p:sp>
        <p:nvSpPr>
          <p:cNvPr id="34" name="Shape 30"/>
          <p:cNvSpPr/>
          <p:nvPr/>
        </p:nvSpPr>
        <p:spPr>
          <a:xfrm>
            <a:off x="4709160" y="3383280"/>
            <a:ext cx="3108960" cy="530352"/>
          </a:xfrm>
          <a:prstGeom prst="roundRect">
            <a:avLst>
              <a:gd name="adj" fmla="val 13793"/>
            </a:avLst>
          </a:prstGeom>
          <a:solidFill>
            <a:srgbClr val="FFFFFF"/>
          </a:solidFill>
          <a:ln w="12700">
            <a:solidFill>
              <a:srgbClr val="8CC4EA"/>
            </a:solidFill>
            <a:prstDash val="solid"/>
          </a:ln>
        </p:spPr>
        <p:txBody>
          <a:bodyPr/>
          <a:lstStyle/>
          <a:p>
            <a:endParaRPr/>
          </a:p>
        </p:txBody>
      </p:sp>
      <p:sp>
        <p:nvSpPr>
          <p:cNvPr id="35" name="Text 31"/>
          <p:cNvSpPr txBox="1"/>
          <p:nvPr/>
        </p:nvSpPr>
        <p:spPr>
          <a:xfrm>
            <a:off x="4846320" y="3383280"/>
            <a:ext cx="1463040" cy="530352"/>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Jooble</a:t>
            </a:r>
            <a:endParaRPr lang="en-US" sz="1400" dirty="0"/>
          </a:p>
        </p:txBody>
      </p:sp>
      <p:sp>
        <p:nvSpPr>
          <p:cNvPr id="36" name="Text 32"/>
          <p:cNvSpPr txBox="1"/>
          <p:nvPr/>
        </p:nvSpPr>
        <p:spPr>
          <a:xfrm>
            <a:off x="6263640" y="3383280"/>
            <a:ext cx="1097280" cy="530352"/>
          </a:xfrm>
          <a:prstGeom prst="rect">
            <a:avLst/>
          </a:prstGeom>
          <a:noFill/>
          <a:ln/>
        </p:spPr>
        <p:txBody>
          <a:bodyPr wrap="square" lIns="0" tIns="0" rIns="0" bIns="0" rtlCol="0" anchor="ctr"/>
          <a:lstStyle/>
          <a:p>
            <a:pPr marL="0" indent="0">
              <a:buNone/>
            </a:pPr>
            <a:r>
              <a:rPr lang="en-US" sz="1000" dirty="0">
                <a:solidFill>
                  <a:srgbClr val="5B6475"/>
                </a:solidFill>
                <a:latin typeface="Calibri" pitchFamily="34" charset="0"/>
                <a:ea typeface="Calibri" pitchFamily="34" charset="-122"/>
                <a:cs typeface="Calibri" pitchFamily="34" charset="-120"/>
              </a:rPr>
              <a:t>Free API key</a:t>
            </a:r>
            <a:endParaRPr lang="en-US" sz="1000" dirty="0"/>
          </a:p>
        </p:txBody>
      </p:sp>
      <p:sp>
        <p:nvSpPr>
          <p:cNvPr id="37" name="Text 33"/>
          <p:cNvSpPr txBox="1"/>
          <p:nvPr/>
        </p:nvSpPr>
        <p:spPr>
          <a:xfrm>
            <a:off x="7040880" y="3383280"/>
            <a:ext cx="685800" cy="530352"/>
          </a:xfrm>
          <a:prstGeom prst="rect">
            <a:avLst/>
          </a:prstGeom>
          <a:noFill/>
          <a:ln/>
        </p:spPr>
        <p:txBody>
          <a:bodyPr wrap="square" lIns="0" tIns="0" rIns="0" bIns="0" rtlCol="0" anchor="ctr"/>
          <a:lstStyle/>
          <a:p>
            <a:pPr marL="0" indent="0" algn="r">
              <a:buNone/>
            </a:pPr>
            <a:r>
              <a:rPr lang="en-US" sz="1300" b="1" dirty="0">
                <a:solidFill>
                  <a:srgbClr val="1F6FA8"/>
                </a:solidFill>
                <a:latin typeface="Calibri" pitchFamily="34" charset="0"/>
                <a:ea typeface="Calibri" pitchFamily="34" charset="-122"/>
                <a:cs typeface="Calibri" pitchFamily="34" charset="-120"/>
              </a:rPr>
              <a:t>12,828</a:t>
            </a:r>
            <a:endParaRPr lang="en-US" sz="1300" dirty="0"/>
          </a:p>
        </p:txBody>
      </p:sp>
      <p:sp>
        <p:nvSpPr>
          <p:cNvPr id="38" name="Shape 34"/>
          <p:cNvSpPr/>
          <p:nvPr/>
        </p:nvSpPr>
        <p:spPr>
          <a:xfrm>
            <a:off x="4709160" y="4023360"/>
            <a:ext cx="3108960" cy="530352"/>
          </a:xfrm>
          <a:prstGeom prst="roundRect">
            <a:avLst>
              <a:gd name="adj" fmla="val 13793"/>
            </a:avLst>
          </a:prstGeom>
          <a:solidFill>
            <a:srgbClr val="FFFFFF"/>
          </a:solidFill>
          <a:ln w="12700">
            <a:solidFill>
              <a:srgbClr val="8CC4EA"/>
            </a:solidFill>
            <a:prstDash val="solid"/>
          </a:ln>
        </p:spPr>
        <p:txBody>
          <a:bodyPr/>
          <a:lstStyle/>
          <a:p>
            <a:endParaRPr/>
          </a:p>
        </p:txBody>
      </p:sp>
      <p:sp>
        <p:nvSpPr>
          <p:cNvPr id="39" name="Text 35"/>
          <p:cNvSpPr txBox="1"/>
          <p:nvPr/>
        </p:nvSpPr>
        <p:spPr>
          <a:xfrm>
            <a:off x="4846320" y="4023360"/>
            <a:ext cx="1463040" cy="530352"/>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JSearch</a:t>
            </a:r>
            <a:endParaRPr lang="en-US" sz="1400" dirty="0"/>
          </a:p>
        </p:txBody>
      </p:sp>
      <p:sp>
        <p:nvSpPr>
          <p:cNvPr id="40" name="Text 36"/>
          <p:cNvSpPr txBox="1"/>
          <p:nvPr/>
        </p:nvSpPr>
        <p:spPr>
          <a:xfrm>
            <a:off x="6263640" y="4023360"/>
            <a:ext cx="1097280" cy="530352"/>
          </a:xfrm>
          <a:prstGeom prst="rect">
            <a:avLst/>
          </a:prstGeom>
          <a:noFill/>
          <a:ln/>
        </p:spPr>
        <p:txBody>
          <a:bodyPr wrap="square" lIns="0" tIns="0" rIns="0" bIns="0" rtlCol="0" anchor="ctr"/>
          <a:lstStyle/>
          <a:p>
            <a:pPr marL="0" indent="0">
              <a:buNone/>
            </a:pPr>
            <a:r>
              <a:rPr lang="en-US" sz="1000" dirty="0">
                <a:solidFill>
                  <a:srgbClr val="5B6475"/>
                </a:solidFill>
                <a:latin typeface="Calibri" pitchFamily="34" charset="0"/>
                <a:ea typeface="Calibri" pitchFamily="34" charset="-122"/>
                <a:cs typeface="Calibri" pitchFamily="34" charset="-120"/>
              </a:rPr>
              <a:t>Free API tier</a:t>
            </a:r>
            <a:endParaRPr lang="en-US" sz="1000" dirty="0"/>
          </a:p>
        </p:txBody>
      </p:sp>
      <p:sp>
        <p:nvSpPr>
          <p:cNvPr id="41" name="Text 37"/>
          <p:cNvSpPr txBox="1"/>
          <p:nvPr/>
        </p:nvSpPr>
        <p:spPr>
          <a:xfrm>
            <a:off x="7040880" y="4023360"/>
            <a:ext cx="685800" cy="530352"/>
          </a:xfrm>
          <a:prstGeom prst="rect">
            <a:avLst/>
          </a:prstGeom>
          <a:noFill/>
          <a:ln/>
        </p:spPr>
        <p:txBody>
          <a:bodyPr wrap="square" lIns="0" tIns="0" rIns="0" bIns="0" rtlCol="0" anchor="ctr"/>
          <a:lstStyle/>
          <a:p>
            <a:pPr marL="0" indent="0" algn="r">
              <a:buNone/>
            </a:pPr>
            <a:r>
              <a:rPr lang="en-US" sz="1300" b="1" dirty="0">
                <a:solidFill>
                  <a:srgbClr val="1F6FA8"/>
                </a:solidFill>
                <a:latin typeface="Calibri" pitchFamily="34" charset="0"/>
                <a:ea typeface="Calibri" pitchFamily="34" charset="-122"/>
                <a:cs typeface="Calibri" pitchFamily="34" charset="-120"/>
              </a:rPr>
              <a:t>4,893</a:t>
            </a:r>
            <a:endParaRPr lang="en-US" sz="1300" dirty="0"/>
          </a:p>
        </p:txBody>
      </p:sp>
      <p:sp>
        <p:nvSpPr>
          <p:cNvPr id="42" name="Shape 38"/>
          <p:cNvSpPr/>
          <p:nvPr/>
        </p:nvSpPr>
        <p:spPr>
          <a:xfrm>
            <a:off x="8321040" y="1554480"/>
            <a:ext cx="3319272" cy="4526280"/>
          </a:xfrm>
          <a:prstGeom prst="roundRect">
            <a:avLst>
              <a:gd name="adj" fmla="val 3306"/>
            </a:avLst>
          </a:prstGeom>
          <a:solidFill>
            <a:srgbClr val="F6F1F1"/>
          </a:solidFill>
          <a:ln w="12700">
            <a:solidFill>
              <a:srgbClr val="F6F1F1"/>
            </a:solidFill>
            <a:prstDash val="solid"/>
          </a:ln>
        </p:spPr>
        <p:txBody>
          <a:bodyPr/>
          <a:lstStyle/>
          <a:p>
            <a:endParaRPr/>
          </a:p>
        </p:txBody>
      </p:sp>
      <p:sp>
        <p:nvSpPr>
          <p:cNvPr id="43" name="Shape 39"/>
          <p:cNvSpPr/>
          <p:nvPr/>
        </p:nvSpPr>
        <p:spPr>
          <a:xfrm>
            <a:off x="8595360" y="1828800"/>
            <a:ext cx="502920" cy="502920"/>
          </a:xfrm>
          <a:prstGeom prst="ellipse">
            <a:avLst/>
          </a:prstGeom>
          <a:solidFill>
            <a:srgbClr val="8A3B3B"/>
          </a:solidFill>
          <a:ln w="12700">
            <a:solidFill>
              <a:srgbClr val="8A3B3B"/>
            </a:solidFill>
            <a:prstDash val="solid"/>
          </a:ln>
        </p:spPr>
        <p:txBody>
          <a:bodyPr/>
          <a:lstStyle/>
          <a:p>
            <a:endParaRPr/>
          </a:p>
        </p:txBody>
      </p:sp>
      <p:pic>
        <p:nvPicPr>
          <p:cNvPr id="44" name="Image 2" descr="preencoded.png"/>
          <p:cNvPicPr>
            <a:picLocks noChangeAspect="1"/>
          </p:cNvPicPr>
          <p:nvPr/>
        </p:nvPicPr>
        <p:blipFill>
          <a:blip r:embed="rId5"/>
          <a:stretch>
            <a:fillRect/>
          </a:stretch>
        </p:blipFill>
        <p:spPr>
          <a:xfrm>
            <a:off x="8716061" y="1949501"/>
            <a:ext cx="261518" cy="261518"/>
          </a:xfrm>
          <a:prstGeom prst="rect">
            <a:avLst/>
          </a:prstGeom>
        </p:spPr>
      </p:pic>
      <p:sp>
        <p:nvSpPr>
          <p:cNvPr id="45" name="Text 40"/>
          <p:cNvSpPr txBox="1"/>
          <p:nvPr/>
        </p:nvSpPr>
        <p:spPr>
          <a:xfrm>
            <a:off x="9235440" y="1828800"/>
            <a:ext cx="2221992" cy="502920"/>
          </a:xfrm>
          <a:prstGeom prst="rect">
            <a:avLst/>
          </a:prstGeom>
          <a:noFill/>
          <a:ln/>
        </p:spPr>
        <p:txBody>
          <a:bodyPr wrap="square" lIns="0" tIns="0" rIns="0" bIns="0" rtlCol="0" anchor="ctr"/>
          <a:lstStyle/>
          <a:p>
            <a:pPr marL="0" indent="0">
              <a:buNone/>
            </a:pPr>
            <a:r>
              <a:rPr lang="en-US" sz="1600" b="1" dirty="0">
                <a:solidFill>
                  <a:srgbClr val="8A3B3B"/>
                </a:solidFill>
                <a:latin typeface="Calibri" pitchFamily="34" charset="0"/>
                <a:ea typeface="Calibri" pitchFamily="34" charset="-122"/>
                <a:cs typeface="Calibri" pitchFamily="34" charset="-120"/>
              </a:rPr>
              <a:t>Excluded</a:t>
            </a:r>
            <a:endParaRPr lang="en-US" sz="1600" dirty="0"/>
          </a:p>
        </p:txBody>
      </p:sp>
      <p:sp>
        <p:nvSpPr>
          <p:cNvPr id="46" name="Text 41"/>
          <p:cNvSpPr txBox="1"/>
          <p:nvPr/>
        </p:nvSpPr>
        <p:spPr>
          <a:xfrm>
            <a:off x="8595360" y="2514600"/>
            <a:ext cx="2770632" cy="50292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LinkedIn, Indeed, Bayt, GulfTalent, NaukriGulf, Glassdoor</a:t>
            </a:r>
            <a:endParaRPr lang="en-US" sz="1300" dirty="0"/>
          </a:p>
        </p:txBody>
      </p:sp>
      <p:sp>
        <p:nvSpPr>
          <p:cNvPr id="47" name="Text 42"/>
          <p:cNvSpPr txBox="1"/>
          <p:nvPr/>
        </p:nvSpPr>
        <p:spPr>
          <a:xfrm>
            <a:off x="8595360" y="3017520"/>
            <a:ext cx="2770632" cy="502920"/>
          </a:xfrm>
          <a:prstGeom prst="rect">
            <a:avLst/>
          </a:prstGeom>
          <a:noFill/>
          <a:ln/>
        </p:spPr>
        <p:txBody>
          <a:bodyPr wrap="square" lIns="0" tIns="0" rIns="0" bIns="0" rtlCol="0" anchor="t"/>
          <a:lstStyle/>
          <a:p>
            <a:pPr marL="0" indent="0">
              <a:buNone/>
            </a:pPr>
            <a:r>
              <a:rPr lang="en-US" sz="1200" dirty="0">
                <a:solidFill>
                  <a:srgbClr val="5B6475"/>
                </a:solidFill>
                <a:latin typeface="Calibri" pitchFamily="34" charset="0"/>
                <a:ea typeface="Calibri" pitchFamily="34" charset="-122"/>
                <a:cs typeface="Calibri" pitchFamily="34" charset="-120"/>
              </a:rPr>
              <a:t>Terms of use forbid automated collection</a:t>
            </a:r>
            <a:endParaRPr lang="en-US" sz="1200" dirty="0"/>
          </a:p>
        </p:txBody>
      </p:sp>
      <p:sp>
        <p:nvSpPr>
          <p:cNvPr id="48" name="Text 43"/>
          <p:cNvSpPr txBox="1"/>
          <p:nvPr/>
        </p:nvSpPr>
        <p:spPr>
          <a:xfrm>
            <a:off x="8595360" y="3657600"/>
            <a:ext cx="2770632" cy="50292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Jadarat, Taqat, Qiwa</a:t>
            </a:r>
            <a:endParaRPr lang="en-US" sz="1300" dirty="0"/>
          </a:p>
        </p:txBody>
      </p:sp>
      <p:sp>
        <p:nvSpPr>
          <p:cNvPr id="49" name="Text 44"/>
          <p:cNvSpPr txBox="1"/>
          <p:nvPr/>
        </p:nvSpPr>
        <p:spPr>
          <a:xfrm>
            <a:off x="8595360" y="4160520"/>
            <a:ext cx="2770632" cy="502920"/>
          </a:xfrm>
          <a:prstGeom prst="rect">
            <a:avLst/>
          </a:prstGeom>
          <a:noFill/>
          <a:ln/>
        </p:spPr>
        <p:txBody>
          <a:bodyPr wrap="square" lIns="0" tIns="0" rIns="0" bIns="0" rtlCol="0" anchor="t"/>
          <a:lstStyle/>
          <a:p>
            <a:pPr marL="0" indent="0">
              <a:buNone/>
            </a:pPr>
            <a:r>
              <a:rPr lang="en-US" sz="1200" dirty="0">
                <a:solidFill>
                  <a:srgbClr val="5B6475"/>
                </a:solidFill>
                <a:latin typeface="Calibri" pitchFamily="34" charset="0"/>
                <a:ea typeface="Calibri" pitchFamily="34" charset="-122"/>
                <a:cs typeface="Calibri" pitchFamily="34" charset="-120"/>
              </a:rPr>
              <a:t>Need Nafath login tied to a real national ID</a:t>
            </a:r>
            <a:endParaRPr lang="en-US" sz="1200" dirty="0"/>
          </a:p>
        </p:txBody>
      </p:sp>
      <p:sp>
        <p:nvSpPr>
          <p:cNvPr id="50" name="Text 45"/>
          <p:cNvSpPr txBox="1"/>
          <p:nvPr/>
        </p:nvSpPr>
        <p:spPr>
          <a:xfrm>
            <a:off x="8595360" y="4800600"/>
            <a:ext cx="2770632" cy="50292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Lever, Recruitee</a:t>
            </a:r>
            <a:endParaRPr lang="en-US" sz="1300" dirty="0"/>
          </a:p>
        </p:txBody>
      </p:sp>
      <p:sp>
        <p:nvSpPr>
          <p:cNvPr id="51" name="Text 46"/>
          <p:cNvSpPr txBox="1"/>
          <p:nvPr/>
        </p:nvSpPr>
        <p:spPr>
          <a:xfrm>
            <a:off x="8595360" y="5303520"/>
            <a:ext cx="2770632" cy="502920"/>
          </a:xfrm>
          <a:prstGeom prst="rect">
            <a:avLst/>
          </a:prstGeom>
          <a:noFill/>
          <a:ln/>
        </p:spPr>
        <p:txBody>
          <a:bodyPr wrap="square" lIns="0" tIns="0" rIns="0" bIns="0" rtlCol="0" anchor="t"/>
          <a:lstStyle/>
          <a:p>
            <a:pPr marL="0" indent="0">
              <a:buNone/>
            </a:pPr>
            <a:r>
              <a:rPr lang="en-US" sz="1200" dirty="0">
                <a:solidFill>
                  <a:srgbClr val="5B6475"/>
                </a:solidFill>
                <a:latin typeface="Calibri" pitchFamily="34" charset="0"/>
                <a:ea typeface="Calibri" pitchFamily="34" charset="-122"/>
                <a:cs typeface="Calibri" pitchFamily="34" charset="-120"/>
              </a:rPr>
              <a:t>Tested: too few Saudi jobs through the API</a:t>
            </a:r>
            <a:endParaRPr lang="en-US" sz="1200" dirty="0"/>
          </a:p>
        </p:txBody>
      </p:sp>
      <p:sp>
        <p:nvSpPr>
          <p:cNvPr id="52" name="Text 47"/>
          <p:cNvSpPr txBox="1"/>
          <p:nvPr/>
        </p:nvSpPr>
        <p:spPr>
          <a:xfrm>
            <a:off x="548640" y="6144768"/>
            <a:ext cx="7315200" cy="274320"/>
          </a:xfrm>
          <a:prstGeom prst="rect">
            <a:avLst/>
          </a:prstGeom>
          <a:noFill/>
          <a:ln/>
        </p:spPr>
        <p:txBody>
          <a:bodyPr wrap="square" lIns="0" tIns="0" rIns="0" bIns="0" rtlCol="0" anchor="t"/>
          <a:lstStyle/>
          <a:p>
            <a:pPr marL="0" indent="0">
              <a:buNone/>
            </a:pPr>
            <a:r>
              <a:rPr lang="en-US" sz="1100" i="1" dirty="0">
                <a:solidFill>
                  <a:srgbClr val="5B6475"/>
                </a:solidFill>
                <a:latin typeface="Calibri" pitchFamily="34" charset="0"/>
                <a:ea typeface="Calibri" pitchFamily="34" charset="-122"/>
                <a:cs typeface="Calibri" pitchFamily="34" charset="-120"/>
              </a:rPr>
              <a:t>Unique listings after within-source deduplication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6</a:t>
            </a:r>
            <a:endParaRPr lang="en-US" sz="1000" dirty="0"/>
          </a:p>
        </p:txBody>
      </p:sp>
      <p:sp>
        <p:nvSpPr>
          <p:cNvPr id="4" name="Text 2"/>
          <p:cNvSpPr txBox="1"/>
          <p:nvPr/>
        </p:nvSpPr>
        <p:spPr>
          <a:xfrm>
            <a:off x="548640" y="384048"/>
            <a:ext cx="1109441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General workflow</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ELT: land the raw data first, transform it inside Snowflake with dbt</a:t>
            </a:r>
            <a:endParaRPr lang="en-US" sz="1500" dirty="0"/>
          </a:p>
        </p:txBody>
      </p:sp>
      <p:sp>
        <p:nvSpPr>
          <p:cNvPr id="6" name="Shape 4"/>
          <p:cNvSpPr/>
          <p:nvPr/>
        </p:nvSpPr>
        <p:spPr>
          <a:xfrm>
            <a:off x="548640" y="1600200"/>
            <a:ext cx="1627632" cy="4434840"/>
          </a:xfrm>
          <a:prstGeom prst="roundRect">
            <a:avLst>
              <a:gd name="adj" fmla="val 5618"/>
            </a:avLst>
          </a:prstGeom>
          <a:solidFill>
            <a:srgbClr val="F3EEFB"/>
          </a:solidFill>
          <a:ln w="15875">
            <a:solidFill>
              <a:srgbClr val="B79CDB"/>
            </a:solidFill>
            <a:prstDash val="solid"/>
          </a:ln>
        </p:spPr>
        <p:txBody>
          <a:bodyPr/>
          <a:lstStyle/>
          <a:p>
            <a:endParaRPr/>
          </a:p>
        </p:txBody>
      </p:sp>
      <p:sp>
        <p:nvSpPr>
          <p:cNvPr id="7" name="Text 5"/>
          <p:cNvSpPr txBox="1"/>
          <p:nvPr/>
        </p:nvSpPr>
        <p:spPr>
          <a:xfrm>
            <a:off x="548640" y="1709928"/>
            <a:ext cx="1627632" cy="365760"/>
          </a:xfrm>
          <a:prstGeom prst="rect">
            <a:avLst/>
          </a:prstGeom>
          <a:noFill/>
          <a:ln/>
        </p:spPr>
        <p:txBody>
          <a:bodyPr wrap="square" lIns="0" tIns="0" rIns="0" bIns="0" rtlCol="0" anchor="ctr"/>
          <a:lstStyle/>
          <a:p>
            <a:pPr marL="0" indent="0" algn="ctr">
              <a:buNone/>
            </a:pPr>
            <a:r>
              <a:rPr lang="en-US" sz="1400" b="1" dirty="0">
                <a:solidFill>
                  <a:srgbClr val="6B46A8"/>
                </a:solidFill>
                <a:latin typeface="Calibri" pitchFamily="34" charset="0"/>
                <a:ea typeface="Calibri" pitchFamily="34" charset="-122"/>
                <a:cs typeface="Calibri" pitchFamily="34" charset="-120"/>
              </a:rPr>
              <a:t>Orchestration</a:t>
            </a:r>
            <a:endParaRPr lang="en-US" sz="1400" dirty="0"/>
          </a:p>
        </p:txBody>
      </p:sp>
      <p:sp>
        <p:nvSpPr>
          <p:cNvPr id="8" name="Shape 6"/>
          <p:cNvSpPr/>
          <p:nvPr/>
        </p:nvSpPr>
        <p:spPr>
          <a:xfrm>
            <a:off x="676656" y="2194560"/>
            <a:ext cx="1371600" cy="777240"/>
          </a:xfrm>
          <a:prstGeom prst="rect">
            <a:avLst/>
          </a:prstGeom>
          <a:solidFill>
            <a:srgbClr val="FFFFFF"/>
          </a:solidFill>
          <a:ln w="19050">
            <a:solidFill>
              <a:srgbClr val="6B46A8"/>
            </a:solidFill>
            <a:prstDash val="solid"/>
          </a:ln>
        </p:spPr>
        <p:txBody>
          <a:bodyPr/>
          <a:lstStyle/>
          <a:p>
            <a:endParaRPr/>
          </a:p>
        </p:txBody>
      </p:sp>
      <p:sp>
        <p:nvSpPr>
          <p:cNvPr id="9" name="Text 7"/>
          <p:cNvSpPr txBox="1"/>
          <p:nvPr/>
        </p:nvSpPr>
        <p:spPr>
          <a:xfrm>
            <a:off x="676656" y="2240280"/>
            <a:ext cx="1371600" cy="274320"/>
          </a:xfrm>
          <a:prstGeom prst="rect">
            <a:avLst/>
          </a:prstGeom>
          <a:noFill/>
          <a:ln/>
        </p:spPr>
        <p:txBody>
          <a:bodyPr wrap="square" lIns="0" tIns="0" rIns="0" bIns="0" rtlCol="0" anchor="ctr"/>
          <a:lstStyle/>
          <a:p>
            <a:pPr marL="0" indent="0" algn="ctr">
              <a:buNone/>
            </a:pPr>
            <a:r>
              <a:rPr lang="en-US" sz="1000" dirty="0">
                <a:solidFill>
                  <a:srgbClr val="6B46A8"/>
                </a:solidFill>
                <a:latin typeface="Calibri" pitchFamily="34" charset="0"/>
                <a:ea typeface="Calibri" pitchFamily="34" charset="-122"/>
                <a:cs typeface="Calibri" pitchFamily="34" charset="-120"/>
              </a:rPr>
              <a:t>★ Ours</a:t>
            </a:r>
            <a:endParaRPr lang="en-US" sz="1000" dirty="0"/>
          </a:p>
        </p:txBody>
      </p:sp>
      <p:sp>
        <p:nvSpPr>
          <p:cNvPr id="10" name="Text 8"/>
          <p:cNvSpPr txBox="1"/>
          <p:nvPr/>
        </p:nvSpPr>
        <p:spPr>
          <a:xfrm>
            <a:off x="676656" y="2496312"/>
            <a:ext cx="1371600" cy="411480"/>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run_pipeline.py</a:t>
            </a:r>
            <a:endParaRPr lang="en-US" sz="1300" dirty="0"/>
          </a:p>
        </p:txBody>
      </p:sp>
      <p:sp>
        <p:nvSpPr>
          <p:cNvPr id="11" name="Shape 9"/>
          <p:cNvSpPr/>
          <p:nvPr/>
        </p:nvSpPr>
        <p:spPr>
          <a:xfrm>
            <a:off x="676656" y="3172968"/>
            <a:ext cx="1371600" cy="1234440"/>
          </a:xfrm>
          <a:prstGeom prst="rect">
            <a:avLst/>
          </a:prstGeom>
          <a:solidFill>
            <a:srgbClr val="FFFFFF"/>
          </a:solidFill>
          <a:ln w="12700">
            <a:solidFill>
              <a:srgbClr val="B79CDB"/>
            </a:solidFill>
            <a:prstDash val="dash"/>
          </a:ln>
        </p:spPr>
        <p:txBody>
          <a:bodyPr/>
          <a:lstStyle/>
          <a:p>
            <a:endParaRPr/>
          </a:p>
        </p:txBody>
      </p:sp>
      <p:sp>
        <p:nvSpPr>
          <p:cNvPr id="12" name="Text 10"/>
          <p:cNvSpPr txBox="1"/>
          <p:nvPr/>
        </p:nvSpPr>
        <p:spPr>
          <a:xfrm>
            <a:off x="749808" y="32278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One command: extract → upload → load → freshness → build → export</a:t>
            </a:r>
            <a:endParaRPr lang="en-US" sz="1050" dirty="0"/>
          </a:p>
        </p:txBody>
      </p:sp>
      <p:sp>
        <p:nvSpPr>
          <p:cNvPr id="13" name="Shape 11"/>
          <p:cNvSpPr/>
          <p:nvPr/>
        </p:nvSpPr>
        <p:spPr>
          <a:xfrm>
            <a:off x="676656" y="4544568"/>
            <a:ext cx="1371600" cy="1234440"/>
          </a:xfrm>
          <a:prstGeom prst="rect">
            <a:avLst/>
          </a:prstGeom>
          <a:solidFill>
            <a:srgbClr val="FFFFFF"/>
          </a:solidFill>
          <a:ln w="12700">
            <a:solidFill>
              <a:srgbClr val="B79CDB"/>
            </a:solidFill>
            <a:prstDash val="dash"/>
          </a:ln>
        </p:spPr>
        <p:txBody>
          <a:bodyPr/>
          <a:lstStyle/>
          <a:p>
            <a:endParaRPr/>
          </a:p>
        </p:txBody>
      </p:sp>
      <p:sp>
        <p:nvSpPr>
          <p:cNvPr id="14" name="Text 12"/>
          <p:cNvSpPr txBox="1"/>
          <p:nvPr/>
        </p:nvSpPr>
        <p:spPr>
          <a:xfrm>
            <a:off x="749808" y="45994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Each run gets a run_id and a row in run_log.csv</a:t>
            </a:r>
            <a:endParaRPr lang="en-US" sz="1050" dirty="0"/>
          </a:p>
        </p:txBody>
      </p:sp>
      <p:sp>
        <p:nvSpPr>
          <p:cNvPr id="15" name="Shape 13"/>
          <p:cNvSpPr/>
          <p:nvPr/>
        </p:nvSpPr>
        <p:spPr>
          <a:xfrm>
            <a:off x="2487168" y="1600200"/>
            <a:ext cx="1627632" cy="4434840"/>
          </a:xfrm>
          <a:prstGeom prst="roundRect">
            <a:avLst>
              <a:gd name="adj" fmla="val 5618"/>
            </a:avLst>
          </a:prstGeom>
          <a:solidFill>
            <a:srgbClr val="EAF6EE"/>
          </a:solidFill>
          <a:ln w="15875">
            <a:solidFill>
              <a:srgbClr val="8CC9A1"/>
            </a:solidFill>
            <a:prstDash val="solid"/>
          </a:ln>
        </p:spPr>
        <p:txBody>
          <a:bodyPr/>
          <a:lstStyle/>
          <a:p>
            <a:endParaRPr/>
          </a:p>
        </p:txBody>
      </p:sp>
      <p:sp>
        <p:nvSpPr>
          <p:cNvPr id="16" name="Text 14"/>
          <p:cNvSpPr txBox="1"/>
          <p:nvPr/>
        </p:nvSpPr>
        <p:spPr>
          <a:xfrm>
            <a:off x="2487168" y="1709928"/>
            <a:ext cx="1627632" cy="365760"/>
          </a:xfrm>
          <a:prstGeom prst="rect">
            <a:avLst/>
          </a:prstGeom>
          <a:noFill/>
          <a:ln/>
        </p:spPr>
        <p:txBody>
          <a:bodyPr wrap="square" lIns="0" tIns="0" rIns="0" bIns="0" rtlCol="0" anchor="ctr"/>
          <a:lstStyle/>
          <a:p>
            <a:pPr marL="0" indent="0" algn="ctr">
              <a:buNone/>
            </a:pPr>
            <a:r>
              <a:rPr lang="en-US" sz="1400" b="1" dirty="0">
                <a:solidFill>
                  <a:srgbClr val="2E7D4F"/>
                </a:solidFill>
                <a:latin typeface="Calibri" pitchFamily="34" charset="0"/>
                <a:ea typeface="Calibri" pitchFamily="34" charset="-122"/>
                <a:cs typeface="Calibri" pitchFamily="34" charset="-120"/>
              </a:rPr>
              <a:t>Ingestion</a:t>
            </a:r>
            <a:endParaRPr lang="en-US" sz="1400" dirty="0"/>
          </a:p>
        </p:txBody>
      </p:sp>
      <p:sp>
        <p:nvSpPr>
          <p:cNvPr id="17" name="Shape 15"/>
          <p:cNvSpPr/>
          <p:nvPr/>
        </p:nvSpPr>
        <p:spPr>
          <a:xfrm>
            <a:off x="2615184" y="2194560"/>
            <a:ext cx="1371600" cy="777240"/>
          </a:xfrm>
          <a:prstGeom prst="rect">
            <a:avLst/>
          </a:prstGeom>
          <a:solidFill>
            <a:srgbClr val="FFFFFF"/>
          </a:solidFill>
          <a:ln w="19050">
            <a:solidFill>
              <a:srgbClr val="2E7D4F"/>
            </a:solidFill>
            <a:prstDash val="solid"/>
          </a:ln>
        </p:spPr>
        <p:txBody>
          <a:bodyPr/>
          <a:lstStyle/>
          <a:p>
            <a:endParaRPr/>
          </a:p>
        </p:txBody>
      </p:sp>
      <p:sp>
        <p:nvSpPr>
          <p:cNvPr id="18" name="Text 16"/>
          <p:cNvSpPr txBox="1"/>
          <p:nvPr/>
        </p:nvSpPr>
        <p:spPr>
          <a:xfrm>
            <a:off x="2615184" y="2240280"/>
            <a:ext cx="1371600" cy="274320"/>
          </a:xfrm>
          <a:prstGeom prst="rect">
            <a:avLst/>
          </a:prstGeom>
          <a:noFill/>
          <a:ln/>
        </p:spPr>
        <p:txBody>
          <a:bodyPr wrap="square" lIns="0" tIns="0" rIns="0" bIns="0" rtlCol="0" anchor="ctr"/>
          <a:lstStyle/>
          <a:p>
            <a:pPr marL="0" indent="0" algn="ctr">
              <a:buNone/>
            </a:pPr>
            <a:r>
              <a:rPr lang="en-US" sz="1000" dirty="0">
                <a:solidFill>
                  <a:srgbClr val="2E7D4F"/>
                </a:solidFill>
                <a:latin typeface="Calibri" pitchFamily="34" charset="0"/>
                <a:ea typeface="Calibri" pitchFamily="34" charset="-122"/>
                <a:cs typeface="Calibri" pitchFamily="34" charset="-120"/>
              </a:rPr>
              <a:t>★ Ours</a:t>
            </a:r>
            <a:endParaRPr lang="en-US" sz="1000" dirty="0"/>
          </a:p>
        </p:txBody>
      </p:sp>
      <p:sp>
        <p:nvSpPr>
          <p:cNvPr id="19" name="Text 17"/>
          <p:cNvSpPr txBox="1"/>
          <p:nvPr/>
        </p:nvSpPr>
        <p:spPr>
          <a:xfrm>
            <a:off x="2615184" y="2496312"/>
            <a:ext cx="1371600" cy="411480"/>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Python scripts</a:t>
            </a:r>
            <a:endParaRPr lang="en-US" sz="1300" dirty="0"/>
          </a:p>
        </p:txBody>
      </p:sp>
      <p:sp>
        <p:nvSpPr>
          <p:cNvPr id="20" name="Shape 18"/>
          <p:cNvSpPr/>
          <p:nvPr/>
        </p:nvSpPr>
        <p:spPr>
          <a:xfrm>
            <a:off x="2615184" y="3172968"/>
            <a:ext cx="1371600" cy="1234440"/>
          </a:xfrm>
          <a:prstGeom prst="rect">
            <a:avLst/>
          </a:prstGeom>
          <a:solidFill>
            <a:srgbClr val="FFFFFF"/>
          </a:solidFill>
          <a:ln w="12700">
            <a:solidFill>
              <a:srgbClr val="8CC9A1"/>
            </a:solidFill>
            <a:prstDash val="dash"/>
          </a:ln>
        </p:spPr>
        <p:txBody>
          <a:bodyPr/>
          <a:lstStyle/>
          <a:p>
            <a:endParaRPr/>
          </a:p>
        </p:txBody>
      </p:sp>
      <p:sp>
        <p:nvSpPr>
          <p:cNvPr id="21" name="Text 19"/>
          <p:cNvSpPr txBox="1"/>
          <p:nvPr/>
        </p:nvSpPr>
        <p:spPr>
          <a:xfrm>
            <a:off x="2688336" y="32278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4 ATS boards: Ashby, Greenhouse, SmartRecruiters, Workable</a:t>
            </a:r>
            <a:endParaRPr lang="en-US" sz="1050" dirty="0"/>
          </a:p>
        </p:txBody>
      </p:sp>
      <p:sp>
        <p:nvSpPr>
          <p:cNvPr id="22" name="Shape 20"/>
          <p:cNvSpPr/>
          <p:nvPr/>
        </p:nvSpPr>
        <p:spPr>
          <a:xfrm>
            <a:off x="2615184" y="4544568"/>
            <a:ext cx="1371600" cy="1234440"/>
          </a:xfrm>
          <a:prstGeom prst="rect">
            <a:avLst/>
          </a:prstGeom>
          <a:solidFill>
            <a:srgbClr val="FFFFFF"/>
          </a:solidFill>
          <a:ln w="12700">
            <a:solidFill>
              <a:srgbClr val="8CC9A1"/>
            </a:solidFill>
            <a:prstDash val="dash"/>
          </a:ln>
        </p:spPr>
        <p:txBody>
          <a:bodyPr/>
          <a:lstStyle/>
          <a:p>
            <a:endParaRPr/>
          </a:p>
        </p:txBody>
      </p:sp>
      <p:sp>
        <p:nvSpPr>
          <p:cNvPr id="23" name="Text 21"/>
          <p:cNvSpPr txBox="1"/>
          <p:nvPr/>
        </p:nvSpPr>
        <p:spPr>
          <a:xfrm>
            <a:off x="2688336" y="45994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2 aggregators: Jooble, JSearch (query matrix, retries, key rotation)</a:t>
            </a:r>
            <a:endParaRPr lang="en-US" sz="1050" dirty="0"/>
          </a:p>
        </p:txBody>
      </p:sp>
      <p:sp>
        <p:nvSpPr>
          <p:cNvPr id="24" name="Shape 22"/>
          <p:cNvSpPr/>
          <p:nvPr/>
        </p:nvSpPr>
        <p:spPr>
          <a:xfrm>
            <a:off x="4425696" y="1600200"/>
            <a:ext cx="1627632" cy="4434840"/>
          </a:xfrm>
          <a:prstGeom prst="roundRect">
            <a:avLst>
              <a:gd name="adj" fmla="val 5618"/>
            </a:avLst>
          </a:prstGeom>
          <a:solidFill>
            <a:srgbClr val="FDF1E7"/>
          </a:solidFill>
          <a:ln w="15875">
            <a:solidFill>
              <a:srgbClr val="F0B887"/>
            </a:solidFill>
            <a:prstDash val="solid"/>
          </a:ln>
        </p:spPr>
        <p:txBody>
          <a:bodyPr/>
          <a:lstStyle/>
          <a:p>
            <a:endParaRPr/>
          </a:p>
        </p:txBody>
      </p:sp>
      <p:sp>
        <p:nvSpPr>
          <p:cNvPr id="25" name="Text 23"/>
          <p:cNvSpPr txBox="1"/>
          <p:nvPr/>
        </p:nvSpPr>
        <p:spPr>
          <a:xfrm>
            <a:off x="4425696" y="1709928"/>
            <a:ext cx="1627632" cy="365760"/>
          </a:xfrm>
          <a:prstGeom prst="rect">
            <a:avLst/>
          </a:prstGeom>
          <a:noFill/>
          <a:ln/>
        </p:spPr>
        <p:txBody>
          <a:bodyPr wrap="square" lIns="0" tIns="0" rIns="0" bIns="0" rtlCol="0" anchor="ctr"/>
          <a:lstStyle/>
          <a:p>
            <a:pPr marL="0" indent="0" algn="ctr">
              <a:buNone/>
            </a:pPr>
            <a:r>
              <a:rPr lang="en-US" sz="1400" b="1" dirty="0">
                <a:solidFill>
                  <a:srgbClr val="B8621B"/>
                </a:solidFill>
                <a:latin typeface="Calibri" pitchFamily="34" charset="0"/>
                <a:ea typeface="Calibri" pitchFamily="34" charset="-122"/>
                <a:cs typeface="Calibri" pitchFamily="34" charset="-120"/>
              </a:rPr>
              <a:t>Landing zone</a:t>
            </a:r>
            <a:endParaRPr lang="en-US" sz="1400" dirty="0"/>
          </a:p>
        </p:txBody>
      </p:sp>
      <p:sp>
        <p:nvSpPr>
          <p:cNvPr id="26" name="Shape 24"/>
          <p:cNvSpPr/>
          <p:nvPr/>
        </p:nvSpPr>
        <p:spPr>
          <a:xfrm>
            <a:off x="4553712" y="2194560"/>
            <a:ext cx="1371600" cy="777240"/>
          </a:xfrm>
          <a:prstGeom prst="rect">
            <a:avLst/>
          </a:prstGeom>
          <a:solidFill>
            <a:srgbClr val="FFFFFF"/>
          </a:solidFill>
          <a:ln w="19050">
            <a:solidFill>
              <a:srgbClr val="B8621B"/>
            </a:solidFill>
            <a:prstDash val="solid"/>
          </a:ln>
        </p:spPr>
        <p:txBody>
          <a:bodyPr/>
          <a:lstStyle/>
          <a:p>
            <a:endParaRPr/>
          </a:p>
        </p:txBody>
      </p:sp>
      <p:sp>
        <p:nvSpPr>
          <p:cNvPr id="27" name="Text 25"/>
          <p:cNvSpPr txBox="1"/>
          <p:nvPr/>
        </p:nvSpPr>
        <p:spPr>
          <a:xfrm>
            <a:off x="4553712" y="2240280"/>
            <a:ext cx="1371600" cy="274320"/>
          </a:xfrm>
          <a:prstGeom prst="rect">
            <a:avLst/>
          </a:prstGeom>
          <a:noFill/>
          <a:ln/>
        </p:spPr>
        <p:txBody>
          <a:bodyPr wrap="square" lIns="0" tIns="0" rIns="0" bIns="0" rtlCol="0" anchor="ctr"/>
          <a:lstStyle/>
          <a:p>
            <a:pPr marL="0" indent="0" algn="ctr">
              <a:buNone/>
            </a:pPr>
            <a:r>
              <a:rPr lang="en-US" sz="1000" dirty="0">
                <a:solidFill>
                  <a:srgbClr val="B8621B"/>
                </a:solidFill>
                <a:latin typeface="Calibri" pitchFamily="34" charset="0"/>
                <a:ea typeface="Calibri" pitchFamily="34" charset="-122"/>
                <a:cs typeface="Calibri" pitchFamily="34" charset="-120"/>
              </a:rPr>
              <a:t>★ Ours</a:t>
            </a:r>
            <a:endParaRPr lang="en-US" sz="1000" dirty="0"/>
          </a:p>
        </p:txBody>
      </p:sp>
      <p:sp>
        <p:nvSpPr>
          <p:cNvPr id="28" name="Text 26"/>
          <p:cNvSpPr txBox="1"/>
          <p:nvPr/>
        </p:nvSpPr>
        <p:spPr>
          <a:xfrm>
            <a:off x="4553712" y="2496312"/>
            <a:ext cx="1371600" cy="411480"/>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ADLS Gen2 raw/</a:t>
            </a:r>
            <a:endParaRPr lang="en-US" sz="1300" dirty="0"/>
          </a:p>
        </p:txBody>
      </p:sp>
      <p:sp>
        <p:nvSpPr>
          <p:cNvPr id="29" name="Shape 27"/>
          <p:cNvSpPr/>
          <p:nvPr/>
        </p:nvSpPr>
        <p:spPr>
          <a:xfrm>
            <a:off x="4553712" y="3172968"/>
            <a:ext cx="1371600" cy="1234440"/>
          </a:xfrm>
          <a:prstGeom prst="rect">
            <a:avLst/>
          </a:prstGeom>
          <a:solidFill>
            <a:srgbClr val="FFFFFF"/>
          </a:solidFill>
          <a:ln w="12700">
            <a:solidFill>
              <a:srgbClr val="F0B887"/>
            </a:solidFill>
            <a:prstDash val="dash"/>
          </a:ln>
        </p:spPr>
        <p:txBody>
          <a:bodyPr/>
          <a:lstStyle/>
          <a:p>
            <a:endParaRPr/>
          </a:p>
        </p:txBody>
      </p:sp>
      <p:sp>
        <p:nvSpPr>
          <p:cNvPr id="30" name="Text 28"/>
          <p:cNvSpPr txBox="1"/>
          <p:nvPr/>
        </p:nvSpPr>
        <p:spPr>
          <a:xfrm>
            <a:off x="4626864" y="32278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raw/&lt;source&gt;/ ingest_date=YYYY-MM-DD/ *.json</a:t>
            </a:r>
            <a:endParaRPr lang="en-US" sz="1050" dirty="0"/>
          </a:p>
        </p:txBody>
      </p:sp>
      <p:sp>
        <p:nvSpPr>
          <p:cNvPr id="31" name="Shape 29"/>
          <p:cNvSpPr/>
          <p:nvPr/>
        </p:nvSpPr>
        <p:spPr>
          <a:xfrm>
            <a:off x="4553712" y="4544568"/>
            <a:ext cx="1371600" cy="1234440"/>
          </a:xfrm>
          <a:prstGeom prst="rect">
            <a:avLst/>
          </a:prstGeom>
          <a:solidFill>
            <a:srgbClr val="FFFFFF"/>
          </a:solidFill>
          <a:ln w="12700">
            <a:solidFill>
              <a:srgbClr val="F0B887"/>
            </a:solidFill>
            <a:prstDash val="dash"/>
          </a:ln>
        </p:spPr>
        <p:txBody>
          <a:bodyPr/>
          <a:lstStyle/>
          <a:p>
            <a:endParaRPr/>
          </a:p>
        </p:txBody>
      </p:sp>
      <p:sp>
        <p:nvSpPr>
          <p:cNvPr id="32" name="Text 30"/>
          <p:cNvSpPr txBox="1"/>
          <p:nvPr/>
        </p:nvSpPr>
        <p:spPr>
          <a:xfrm>
            <a:off x="4626864" y="45994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Append-only, never overwritten: 3,007 files</a:t>
            </a:r>
            <a:endParaRPr lang="en-US" sz="1050" dirty="0"/>
          </a:p>
        </p:txBody>
      </p:sp>
      <p:sp>
        <p:nvSpPr>
          <p:cNvPr id="33" name="Shape 31"/>
          <p:cNvSpPr/>
          <p:nvPr/>
        </p:nvSpPr>
        <p:spPr>
          <a:xfrm>
            <a:off x="6364224" y="1600200"/>
            <a:ext cx="1627632" cy="4434840"/>
          </a:xfrm>
          <a:prstGeom prst="roundRect">
            <a:avLst>
              <a:gd name="adj" fmla="val 5618"/>
            </a:avLst>
          </a:prstGeom>
          <a:solidFill>
            <a:srgbClr val="E8F3FB"/>
          </a:solidFill>
          <a:ln w="15875">
            <a:solidFill>
              <a:srgbClr val="8CC4EA"/>
            </a:solidFill>
            <a:prstDash val="solid"/>
          </a:ln>
        </p:spPr>
        <p:txBody>
          <a:bodyPr/>
          <a:lstStyle/>
          <a:p>
            <a:endParaRPr/>
          </a:p>
        </p:txBody>
      </p:sp>
      <p:sp>
        <p:nvSpPr>
          <p:cNvPr id="34" name="Text 32"/>
          <p:cNvSpPr txBox="1"/>
          <p:nvPr/>
        </p:nvSpPr>
        <p:spPr>
          <a:xfrm>
            <a:off x="6364224" y="1709928"/>
            <a:ext cx="1627632" cy="365760"/>
          </a:xfrm>
          <a:prstGeom prst="rect">
            <a:avLst/>
          </a:prstGeom>
          <a:noFill/>
          <a:ln/>
        </p:spPr>
        <p:txBody>
          <a:bodyPr wrap="square" lIns="0" tIns="0" rIns="0" bIns="0" rtlCol="0" anchor="ctr"/>
          <a:lstStyle/>
          <a:p>
            <a:pPr marL="0" indent="0" algn="ctr">
              <a:buNone/>
            </a:pPr>
            <a:r>
              <a:rPr lang="en-US" sz="1400" b="1" dirty="0">
                <a:solidFill>
                  <a:srgbClr val="1F6FA8"/>
                </a:solidFill>
                <a:latin typeface="Calibri" pitchFamily="34" charset="0"/>
                <a:ea typeface="Calibri" pitchFamily="34" charset="-122"/>
                <a:cs typeface="Calibri" pitchFamily="34" charset="-120"/>
              </a:rPr>
              <a:t>Warehouse</a:t>
            </a:r>
            <a:endParaRPr lang="en-US" sz="1400" dirty="0"/>
          </a:p>
        </p:txBody>
      </p:sp>
      <p:sp>
        <p:nvSpPr>
          <p:cNvPr id="35" name="Shape 33"/>
          <p:cNvSpPr/>
          <p:nvPr/>
        </p:nvSpPr>
        <p:spPr>
          <a:xfrm>
            <a:off x="6492240" y="2194560"/>
            <a:ext cx="1371600" cy="777240"/>
          </a:xfrm>
          <a:prstGeom prst="rect">
            <a:avLst/>
          </a:prstGeom>
          <a:solidFill>
            <a:srgbClr val="FFFFFF"/>
          </a:solidFill>
          <a:ln w="19050">
            <a:solidFill>
              <a:srgbClr val="1F6FA8"/>
            </a:solidFill>
            <a:prstDash val="solid"/>
          </a:ln>
        </p:spPr>
        <p:txBody>
          <a:bodyPr/>
          <a:lstStyle/>
          <a:p>
            <a:endParaRPr/>
          </a:p>
        </p:txBody>
      </p:sp>
      <p:sp>
        <p:nvSpPr>
          <p:cNvPr id="36" name="Text 34"/>
          <p:cNvSpPr txBox="1"/>
          <p:nvPr/>
        </p:nvSpPr>
        <p:spPr>
          <a:xfrm>
            <a:off x="6492240" y="2240280"/>
            <a:ext cx="1371600" cy="274320"/>
          </a:xfrm>
          <a:prstGeom prst="rect">
            <a:avLst/>
          </a:prstGeom>
          <a:noFill/>
          <a:ln/>
        </p:spPr>
        <p:txBody>
          <a:bodyPr wrap="square" lIns="0" tIns="0" rIns="0" bIns="0" rtlCol="0" anchor="ctr"/>
          <a:lstStyle/>
          <a:p>
            <a:pPr marL="0" indent="0" algn="ctr">
              <a:buNone/>
            </a:pPr>
            <a:r>
              <a:rPr lang="en-US" sz="1000" dirty="0">
                <a:solidFill>
                  <a:srgbClr val="1F6FA8"/>
                </a:solidFill>
                <a:latin typeface="Calibri" pitchFamily="34" charset="0"/>
                <a:ea typeface="Calibri" pitchFamily="34" charset="-122"/>
                <a:cs typeface="Calibri" pitchFamily="34" charset="-120"/>
              </a:rPr>
              <a:t>★ Ours</a:t>
            </a:r>
            <a:endParaRPr lang="en-US" sz="1000" dirty="0"/>
          </a:p>
        </p:txBody>
      </p:sp>
      <p:sp>
        <p:nvSpPr>
          <p:cNvPr id="37" name="Text 35"/>
          <p:cNvSpPr txBox="1"/>
          <p:nvPr/>
        </p:nvSpPr>
        <p:spPr>
          <a:xfrm>
            <a:off x="6492240" y="2496312"/>
            <a:ext cx="1371600" cy="411480"/>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Snowflake RAW</a:t>
            </a:r>
            <a:endParaRPr lang="en-US" sz="1300" dirty="0"/>
          </a:p>
        </p:txBody>
      </p:sp>
      <p:sp>
        <p:nvSpPr>
          <p:cNvPr id="38" name="Shape 36"/>
          <p:cNvSpPr/>
          <p:nvPr/>
        </p:nvSpPr>
        <p:spPr>
          <a:xfrm>
            <a:off x="6492240" y="3172968"/>
            <a:ext cx="1371600" cy="1234440"/>
          </a:xfrm>
          <a:prstGeom prst="rect">
            <a:avLst/>
          </a:prstGeom>
          <a:solidFill>
            <a:srgbClr val="FFFFFF"/>
          </a:solidFill>
          <a:ln w="12700">
            <a:solidFill>
              <a:srgbClr val="8CC4EA"/>
            </a:solidFill>
            <a:prstDash val="dash"/>
          </a:ln>
        </p:spPr>
        <p:txBody>
          <a:bodyPr/>
          <a:lstStyle/>
          <a:p>
            <a:endParaRPr/>
          </a:p>
        </p:txBody>
      </p:sp>
      <p:sp>
        <p:nvSpPr>
          <p:cNvPr id="39" name="Text 37"/>
          <p:cNvSpPr txBox="1"/>
          <p:nvPr/>
        </p:nvSpPr>
        <p:spPr>
          <a:xfrm>
            <a:off x="6565392" y="32278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External stage (SAS) + COPY INTO, run by dbt load_raw</a:t>
            </a:r>
            <a:endParaRPr lang="en-US" sz="1050" dirty="0"/>
          </a:p>
        </p:txBody>
      </p:sp>
      <p:sp>
        <p:nvSpPr>
          <p:cNvPr id="40" name="Shape 38"/>
          <p:cNvSpPr/>
          <p:nvPr/>
        </p:nvSpPr>
        <p:spPr>
          <a:xfrm>
            <a:off x="6492240" y="4544568"/>
            <a:ext cx="1371600" cy="1234440"/>
          </a:xfrm>
          <a:prstGeom prst="rect">
            <a:avLst/>
          </a:prstGeom>
          <a:solidFill>
            <a:srgbClr val="FFFFFF"/>
          </a:solidFill>
          <a:ln w="12700">
            <a:solidFill>
              <a:srgbClr val="8CC4EA"/>
            </a:solidFill>
            <a:prstDash val="dash"/>
          </a:ln>
        </p:spPr>
        <p:txBody>
          <a:bodyPr/>
          <a:lstStyle/>
          <a:p>
            <a:endParaRPr/>
          </a:p>
        </p:txBody>
      </p:sp>
      <p:sp>
        <p:nvSpPr>
          <p:cNvPr id="41" name="Text 39"/>
          <p:cNvSpPr txBox="1"/>
          <p:nvPr/>
        </p:nvSpPr>
        <p:spPr>
          <a:xfrm>
            <a:off x="6565392" y="45994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JSON kept untouched as VARIANT: 52,937 rows</a:t>
            </a:r>
            <a:endParaRPr lang="en-US" sz="1050" dirty="0"/>
          </a:p>
        </p:txBody>
      </p:sp>
      <p:sp>
        <p:nvSpPr>
          <p:cNvPr id="42" name="Shape 40"/>
          <p:cNvSpPr/>
          <p:nvPr/>
        </p:nvSpPr>
        <p:spPr>
          <a:xfrm>
            <a:off x="8302752" y="1600200"/>
            <a:ext cx="1627632" cy="4434840"/>
          </a:xfrm>
          <a:prstGeom prst="roundRect">
            <a:avLst>
              <a:gd name="adj" fmla="val 5618"/>
            </a:avLst>
          </a:prstGeom>
          <a:solidFill>
            <a:srgbClr val="E6F6F4"/>
          </a:solidFill>
          <a:ln w="15875">
            <a:solidFill>
              <a:srgbClr val="7FCBBF"/>
            </a:solidFill>
            <a:prstDash val="solid"/>
          </a:ln>
        </p:spPr>
        <p:txBody>
          <a:bodyPr/>
          <a:lstStyle/>
          <a:p>
            <a:endParaRPr/>
          </a:p>
        </p:txBody>
      </p:sp>
      <p:sp>
        <p:nvSpPr>
          <p:cNvPr id="43" name="Text 41"/>
          <p:cNvSpPr txBox="1"/>
          <p:nvPr/>
        </p:nvSpPr>
        <p:spPr>
          <a:xfrm>
            <a:off x="8302752" y="1709928"/>
            <a:ext cx="1627632" cy="365760"/>
          </a:xfrm>
          <a:prstGeom prst="rect">
            <a:avLst/>
          </a:prstGeom>
          <a:noFill/>
          <a:ln/>
        </p:spPr>
        <p:txBody>
          <a:bodyPr wrap="square" lIns="0" tIns="0" rIns="0" bIns="0" rtlCol="0" anchor="ctr"/>
          <a:lstStyle/>
          <a:p>
            <a:pPr marL="0" indent="0" algn="ctr">
              <a:buNone/>
            </a:pPr>
            <a:r>
              <a:rPr lang="en-US" sz="1400" b="1" dirty="0">
                <a:solidFill>
                  <a:srgbClr val="1C7F74"/>
                </a:solidFill>
                <a:latin typeface="Calibri" pitchFamily="34" charset="0"/>
                <a:ea typeface="Calibri" pitchFamily="34" charset="-122"/>
                <a:cs typeface="Calibri" pitchFamily="34" charset="-120"/>
              </a:rPr>
              <a:t>Transformation</a:t>
            </a:r>
            <a:endParaRPr lang="en-US" sz="1400" dirty="0"/>
          </a:p>
        </p:txBody>
      </p:sp>
      <p:sp>
        <p:nvSpPr>
          <p:cNvPr id="44" name="Shape 42"/>
          <p:cNvSpPr/>
          <p:nvPr/>
        </p:nvSpPr>
        <p:spPr>
          <a:xfrm>
            <a:off x="8430768" y="2194560"/>
            <a:ext cx="1371600" cy="777240"/>
          </a:xfrm>
          <a:prstGeom prst="rect">
            <a:avLst/>
          </a:prstGeom>
          <a:solidFill>
            <a:srgbClr val="FFFFFF"/>
          </a:solidFill>
          <a:ln w="19050">
            <a:solidFill>
              <a:srgbClr val="1C7F74"/>
            </a:solidFill>
            <a:prstDash val="solid"/>
          </a:ln>
        </p:spPr>
        <p:txBody>
          <a:bodyPr/>
          <a:lstStyle/>
          <a:p>
            <a:endParaRPr/>
          </a:p>
        </p:txBody>
      </p:sp>
      <p:sp>
        <p:nvSpPr>
          <p:cNvPr id="45" name="Text 43"/>
          <p:cNvSpPr txBox="1"/>
          <p:nvPr/>
        </p:nvSpPr>
        <p:spPr>
          <a:xfrm>
            <a:off x="8430768" y="2240280"/>
            <a:ext cx="1371600" cy="274320"/>
          </a:xfrm>
          <a:prstGeom prst="rect">
            <a:avLst/>
          </a:prstGeom>
          <a:noFill/>
          <a:ln/>
        </p:spPr>
        <p:txBody>
          <a:bodyPr wrap="square" lIns="0" tIns="0" rIns="0" bIns="0" rtlCol="0" anchor="ctr"/>
          <a:lstStyle/>
          <a:p>
            <a:pPr marL="0" indent="0" algn="ctr">
              <a:buNone/>
            </a:pPr>
            <a:r>
              <a:rPr lang="en-US" sz="1000" dirty="0">
                <a:solidFill>
                  <a:srgbClr val="1C7F74"/>
                </a:solidFill>
                <a:latin typeface="Calibri" pitchFamily="34" charset="0"/>
                <a:ea typeface="Calibri" pitchFamily="34" charset="-122"/>
                <a:cs typeface="Calibri" pitchFamily="34" charset="-120"/>
              </a:rPr>
              <a:t>★ Ours</a:t>
            </a:r>
            <a:endParaRPr lang="en-US" sz="1000" dirty="0"/>
          </a:p>
        </p:txBody>
      </p:sp>
      <p:sp>
        <p:nvSpPr>
          <p:cNvPr id="46" name="Text 44"/>
          <p:cNvSpPr txBox="1"/>
          <p:nvPr/>
        </p:nvSpPr>
        <p:spPr>
          <a:xfrm>
            <a:off x="8430768" y="2496312"/>
            <a:ext cx="1371600" cy="411480"/>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dbt-core</a:t>
            </a:r>
            <a:endParaRPr lang="en-US" sz="1300" dirty="0"/>
          </a:p>
        </p:txBody>
      </p:sp>
      <p:sp>
        <p:nvSpPr>
          <p:cNvPr id="47" name="Shape 45"/>
          <p:cNvSpPr/>
          <p:nvPr/>
        </p:nvSpPr>
        <p:spPr>
          <a:xfrm>
            <a:off x="8430768" y="3172968"/>
            <a:ext cx="1371600" cy="1234440"/>
          </a:xfrm>
          <a:prstGeom prst="rect">
            <a:avLst/>
          </a:prstGeom>
          <a:solidFill>
            <a:srgbClr val="FFFFFF"/>
          </a:solidFill>
          <a:ln w="12700">
            <a:solidFill>
              <a:srgbClr val="7FCBBF"/>
            </a:solidFill>
            <a:prstDash val="dash"/>
          </a:ln>
        </p:spPr>
        <p:txBody>
          <a:bodyPr/>
          <a:lstStyle/>
          <a:p>
            <a:endParaRPr/>
          </a:p>
        </p:txBody>
      </p:sp>
      <p:sp>
        <p:nvSpPr>
          <p:cNvPr id="48" name="Text 46"/>
          <p:cNvSpPr txBox="1"/>
          <p:nvPr/>
        </p:nvSpPr>
        <p:spPr>
          <a:xfrm>
            <a:off x="8503920" y="32278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STAGING → INTERMEDIATE → MARTS, plus 10 seeds</a:t>
            </a:r>
            <a:endParaRPr lang="en-US" sz="1050" dirty="0"/>
          </a:p>
        </p:txBody>
      </p:sp>
      <p:sp>
        <p:nvSpPr>
          <p:cNvPr id="49" name="Shape 47"/>
          <p:cNvSpPr/>
          <p:nvPr/>
        </p:nvSpPr>
        <p:spPr>
          <a:xfrm>
            <a:off x="8430768" y="4544568"/>
            <a:ext cx="1371600" cy="1234440"/>
          </a:xfrm>
          <a:prstGeom prst="rect">
            <a:avLst/>
          </a:prstGeom>
          <a:solidFill>
            <a:srgbClr val="FFFFFF"/>
          </a:solidFill>
          <a:ln w="12700">
            <a:solidFill>
              <a:srgbClr val="7FCBBF"/>
            </a:solidFill>
            <a:prstDash val="dash"/>
          </a:ln>
        </p:spPr>
        <p:txBody>
          <a:bodyPr/>
          <a:lstStyle/>
          <a:p>
            <a:endParaRPr/>
          </a:p>
        </p:txBody>
      </p:sp>
      <p:sp>
        <p:nvSpPr>
          <p:cNvPr id="50" name="Text 48"/>
          <p:cNvSpPr txBox="1"/>
          <p:nvPr/>
        </p:nvSpPr>
        <p:spPr>
          <a:xfrm>
            <a:off x="8503920" y="4599432"/>
            <a:ext cx="1225296" cy="1124712"/>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Star schema; 288 tests; 19 reconciliation checks</a:t>
            </a:r>
            <a:endParaRPr lang="en-US" sz="1050" dirty="0"/>
          </a:p>
        </p:txBody>
      </p:sp>
      <p:sp>
        <p:nvSpPr>
          <p:cNvPr id="51" name="Shape 49"/>
          <p:cNvSpPr/>
          <p:nvPr/>
        </p:nvSpPr>
        <p:spPr>
          <a:xfrm>
            <a:off x="2203704" y="2578608"/>
            <a:ext cx="256032" cy="0"/>
          </a:xfrm>
          <a:prstGeom prst="line">
            <a:avLst/>
          </a:prstGeom>
          <a:noFill/>
          <a:ln w="22225">
            <a:solidFill>
              <a:srgbClr val="14213D"/>
            </a:solidFill>
            <a:prstDash val="dash"/>
            <a:tailEnd type="triangle"/>
          </a:ln>
        </p:spPr>
        <p:txBody>
          <a:bodyPr/>
          <a:lstStyle/>
          <a:p>
            <a:endParaRPr/>
          </a:p>
        </p:txBody>
      </p:sp>
      <p:sp>
        <p:nvSpPr>
          <p:cNvPr id="52" name="Shape 50"/>
          <p:cNvSpPr/>
          <p:nvPr/>
        </p:nvSpPr>
        <p:spPr>
          <a:xfrm>
            <a:off x="4142232" y="2578608"/>
            <a:ext cx="256032" cy="0"/>
          </a:xfrm>
          <a:prstGeom prst="line">
            <a:avLst/>
          </a:prstGeom>
          <a:noFill/>
          <a:ln w="22225">
            <a:solidFill>
              <a:srgbClr val="14213D"/>
            </a:solidFill>
            <a:prstDash val="solid"/>
            <a:tailEnd type="triangle"/>
          </a:ln>
        </p:spPr>
        <p:txBody>
          <a:bodyPr/>
          <a:lstStyle/>
          <a:p>
            <a:endParaRPr/>
          </a:p>
        </p:txBody>
      </p:sp>
      <p:sp>
        <p:nvSpPr>
          <p:cNvPr id="53" name="Shape 51"/>
          <p:cNvSpPr/>
          <p:nvPr/>
        </p:nvSpPr>
        <p:spPr>
          <a:xfrm>
            <a:off x="6080760" y="2578608"/>
            <a:ext cx="256032" cy="0"/>
          </a:xfrm>
          <a:prstGeom prst="line">
            <a:avLst/>
          </a:prstGeom>
          <a:noFill/>
          <a:ln w="22225">
            <a:solidFill>
              <a:srgbClr val="14213D"/>
            </a:solidFill>
            <a:prstDash val="solid"/>
            <a:tailEnd type="triangle"/>
          </a:ln>
        </p:spPr>
        <p:txBody>
          <a:bodyPr/>
          <a:lstStyle/>
          <a:p>
            <a:endParaRPr/>
          </a:p>
        </p:txBody>
      </p:sp>
      <p:sp>
        <p:nvSpPr>
          <p:cNvPr id="54" name="Shape 52"/>
          <p:cNvSpPr/>
          <p:nvPr/>
        </p:nvSpPr>
        <p:spPr>
          <a:xfrm>
            <a:off x="8019288" y="2578608"/>
            <a:ext cx="256032" cy="0"/>
          </a:xfrm>
          <a:prstGeom prst="line">
            <a:avLst/>
          </a:prstGeom>
          <a:noFill/>
          <a:ln w="22225">
            <a:solidFill>
              <a:srgbClr val="14213D"/>
            </a:solidFill>
            <a:prstDash val="solid"/>
            <a:tailEnd type="triangle"/>
          </a:ln>
        </p:spPr>
        <p:txBody>
          <a:bodyPr/>
          <a:lstStyle/>
          <a:p>
            <a:endParaRPr/>
          </a:p>
        </p:txBody>
      </p:sp>
      <p:sp>
        <p:nvSpPr>
          <p:cNvPr id="55" name="Shape 53"/>
          <p:cNvSpPr/>
          <p:nvPr/>
        </p:nvSpPr>
        <p:spPr>
          <a:xfrm>
            <a:off x="10241280" y="1600200"/>
            <a:ext cx="1401775" cy="4434840"/>
          </a:xfrm>
          <a:prstGeom prst="roundRect">
            <a:avLst>
              <a:gd name="adj" fmla="val 6523"/>
            </a:avLst>
          </a:prstGeom>
          <a:solidFill>
            <a:srgbClr val="FBEFF3"/>
          </a:solidFill>
          <a:ln w="15875">
            <a:solidFill>
              <a:srgbClr val="E3A3B8"/>
            </a:solidFill>
            <a:prstDash val="solid"/>
          </a:ln>
        </p:spPr>
        <p:txBody>
          <a:bodyPr/>
          <a:lstStyle/>
          <a:p>
            <a:endParaRPr/>
          </a:p>
        </p:txBody>
      </p:sp>
      <p:sp>
        <p:nvSpPr>
          <p:cNvPr id="56" name="Text 54"/>
          <p:cNvSpPr txBox="1"/>
          <p:nvPr/>
        </p:nvSpPr>
        <p:spPr>
          <a:xfrm>
            <a:off x="10241280" y="1709928"/>
            <a:ext cx="1401775" cy="365760"/>
          </a:xfrm>
          <a:prstGeom prst="rect">
            <a:avLst/>
          </a:prstGeom>
          <a:noFill/>
          <a:ln/>
        </p:spPr>
        <p:txBody>
          <a:bodyPr wrap="square" lIns="0" tIns="0" rIns="0" bIns="0" rtlCol="0" anchor="ctr"/>
          <a:lstStyle/>
          <a:p>
            <a:pPr marL="0" indent="0" algn="ctr">
              <a:buNone/>
            </a:pPr>
            <a:r>
              <a:rPr lang="en-US" sz="1400" b="1" dirty="0">
                <a:solidFill>
                  <a:srgbClr val="A33A62"/>
                </a:solidFill>
                <a:latin typeface="Calibri" pitchFamily="34" charset="0"/>
                <a:ea typeface="Calibri" pitchFamily="34" charset="-122"/>
                <a:cs typeface="Calibri" pitchFamily="34" charset="-120"/>
              </a:rPr>
              <a:t>Serve</a:t>
            </a:r>
            <a:endParaRPr lang="en-US" sz="1400" dirty="0"/>
          </a:p>
        </p:txBody>
      </p:sp>
      <p:sp>
        <p:nvSpPr>
          <p:cNvPr id="57" name="Shape 55"/>
          <p:cNvSpPr/>
          <p:nvPr/>
        </p:nvSpPr>
        <p:spPr>
          <a:xfrm>
            <a:off x="10369296" y="2194560"/>
            <a:ext cx="1145743" cy="777240"/>
          </a:xfrm>
          <a:prstGeom prst="rect">
            <a:avLst/>
          </a:prstGeom>
          <a:solidFill>
            <a:srgbClr val="FFFFFF"/>
          </a:solidFill>
          <a:ln w="19050">
            <a:solidFill>
              <a:srgbClr val="A33A62"/>
            </a:solidFill>
            <a:prstDash val="solid"/>
          </a:ln>
        </p:spPr>
        <p:txBody>
          <a:bodyPr/>
          <a:lstStyle/>
          <a:p>
            <a:endParaRPr/>
          </a:p>
        </p:txBody>
      </p:sp>
      <p:sp>
        <p:nvSpPr>
          <p:cNvPr id="58" name="Text 56"/>
          <p:cNvSpPr txBox="1"/>
          <p:nvPr/>
        </p:nvSpPr>
        <p:spPr>
          <a:xfrm>
            <a:off x="10369296" y="2240280"/>
            <a:ext cx="1145743" cy="274320"/>
          </a:xfrm>
          <a:prstGeom prst="rect">
            <a:avLst/>
          </a:prstGeom>
          <a:noFill/>
          <a:ln/>
        </p:spPr>
        <p:txBody>
          <a:bodyPr wrap="square" lIns="0" tIns="0" rIns="0" bIns="0" rtlCol="0" anchor="ctr"/>
          <a:lstStyle/>
          <a:p>
            <a:pPr marL="0" indent="0" algn="ctr">
              <a:buNone/>
            </a:pPr>
            <a:r>
              <a:rPr lang="en-US" sz="1000" dirty="0">
                <a:solidFill>
                  <a:srgbClr val="A33A62"/>
                </a:solidFill>
                <a:latin typeface="Calibri" pitchFamily="34" charset="0"/>
                <a:ea typeface="Calibri" pitchFamily="34" charset="-122"/>
                <a:cs typeface="Calibri" pitchFamily="34" charset="-120"/>
              </a:rPr>
              <a:t>★ Ours</a:t>
            </a:r>
            <a:endParaRPr lang="en-US" sz="1000" dirty="0"/>
          </a:p>
        </p:txBody>
      </p:sp>
      <p:sp>
        <p:nvSpPr>
          <p:cNvPr id="59" name="Text 57"/>
          <p:cNvSpPr txBox="1"/>
          <p:nvPr/>
        </p:nvSpPr>
        <p:spPr>
          <a:xfrm>
            <a:off x="10369296" y="2496312"/>
            <a:ext cx="1145743" cy="411480"/>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Power BI</a:t>
            </a:r>
            <a:endParaRPr lang="en-US" sz="1300" dirty="0"/>
          </a:p>
        </p:txBody>
      </p:sp>
      <p:sp>
        <p:nvSpPr>
          <p:cNvPr id="60" name="Shape 58"/>
          <p:cNvSpPr/>
          <p:nvPr/>
        </p:nvSpPr>
        <p:spPr>
          <a:xfrm>
            <a:off x="10369296" y="3108960"/>
            <a:ext cx="1145743" cy="822960"/>
          </a:xfrm>
          <a:prstGeom prst="rect">
            <a:avLst/>
          </a:prstGeom>
          <a:solidFill>
            <a:srgbClr val="FFFFFF"/>
          </a:solidFill>
          <a:ln w="12700">
            <a:solidFill>
              <a:srgbClr val="E3A3B8"/>
            </a:solidFill>
            <a:prstDash val="dash"/>
          </a:ln>
        </p:spPr>
        <p:txBody>
          <a:bodyPr/>
          <a:lstStyle/>
          <a:p>
            <a:endParaRPr/>
          </a:p>
        </p:txBody>
      </p:sp>
      <p:sp>
        <p:nvSpPr>
          <p:cNvPr id="61" name="Text 59"/>
          <p:cNvSpPr txBox="1"/>
          <p:nvPr/>
        </p:nvSpPr>
        <p:spPr>
          <a:xfrm>
            <a:off x="10442448" y="3136392"/>
            <a:ext cx="999439" cy="768096"/>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Reads MARTS through a read-only role</a:t>
            </a:r>
            <a:endParaRPr lang="en-US" sz="1050" dirty="0"/>
          </a:p>
        </p:txBody>
      </p:sp>
      <p:sp>
        <p:nvSpPr>
          <p:cNvPr id="62" name="Shape 60"/>
          <p:cNvSpPr/>
          <p:nvPr/>
        </p:nvSpPr>
        <p:spPr>
          <a:xfrm>
            <a:off x="10369296" y="4114800"/>
            <a:ext cx="1145743" cy="777240"/>
          </a:xfrm>
          <a:prstGeom prst="rect">
            <a:avLst/>
          </a:prstGeom>
          <a:solidFill>
            <a:srgbClr val="FFFFFF"/>
          </a:solidFill>
          <a:ln w="19050">
            <a:solidFill>
              <a:srgbClr val="A33A62"/>
            </a:solidFill>
            <a:prstDash val="solid"/>
          </a:ln>
        </p:spPr>
        <p:txBody>
          <a:bodyPr/>
          <a:lstStyle/>
          <a:p>
            <a:endParaRPr/>
          </a:p>
        </p:txBody>
      </p:sp>
      <p:sp>
        <p:nvSpPr>
          <p:cNvPr id="63" name="Text 61"/>
          <p:cNvSpPr txBox="1"/>
          <p:nvPr/>
        </p:nvSpPr>
        <p:spPr>
          <a:xfrm>
            <a:off x="10369296" y="4160520"/>
            <a:ext cx="1145743" cy="274320"/>
          </a:xfrm>
          <a:prstGeom prst="rect">
            <a:avLst/>
          </a:prstGeom>
          <a:noFill/>
          <a:ln/>
        </p:spPr>
        <p:txBody>
          <a:bodyPr wrap="square" lIns="0" tIns="0" rIns="0" bIns="0" rtlCol="0" anchor="ctr"/>
          <a:lstStyle/>
          <a:p>
            <a:pPr marL="0" indent="0" algn="ctr">
              <a:buNone/>
            </a:pPr>
            <a:r>
              <a:rPr lang="en-US" sz="1000" dirty="0">
                <a:solidFill>
                  <a:srgbClr val="A33A62"/>
                </a:solidFill>
                <a:latin typeface="Calibri" pitchFamily="34" charset="0"/>
                <a:ea typeface="Calibri" pitchFamily="34" charset="-122"/>
                <a:cs typeface="Calibri" pitchFamily="34" charset="-120"/>
              </a:rPr>
              <a:t>★ Ours</a:t>
            </a:r>
            <a:endParaRPr lang="en-US" sz="1000" dirty="0"/>
          </a:p>
        </p:txBody>
      </p:sp>
      <p:sp>
        <p:nvSpPr>
          <p:cNvPr id="64" name="Text 62"/>
          <p:cNvSpPr txBox="1"/>
          <p:nvPr/>
        </p:nvSpPr>
        <p:spPr>
          <a:xfrm>
            <a:off x="10369296" y="4416552"/>
            <a:ext cx="1145743" cy="411480"/>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ADLS curated/</a:t>
            </a:r>
            <a:endParaRPr lang="en-US" sz="1300" dirty="0"/>
          </a:p>
        </p:txBody>
      </p:sp>
      <p:sp>
        <p:nvSpPr>
          <p:cNvPr id="65" name="Shape 63"/>
          <p:cNvSpPr/>
          <p:nvPr/>
        </p:nvSpPr>
        <p:spPr>
          <a:xfrm>
            <a:off x="10369296" y="5029200"/>
            <a:ext cx="1145743" cy="822960"/>
          </a:xfrm>
          <a:prstGeom prst="rect">
            <a:avLst/>
          </a:prstGeom>
          <a:solidFill>
            <a:srgbClr val="FFFFFF"/>
          </a:solidFill>
          <a:ln w="12700">
            <a:solidFill>
              <a:srgbClr val="E3A3B8"/>
            </a:solidFill>
            <a:prstDash val="dash"/>
          </a:ln>
        </p:spPr>
        <p:txBody>
          <a:bodyPr/>
          <a:lstStyle/>
          <a:p>
            <a:endParaRPr/>
          </a:p>
        </p:txBody>
      </p:sp>
      <p:sp>
        <p:nvSpPr>
          <p:cNvPr id="66" name="Text 64"/>
          <p:cNvSpPr txBox="1"/>
          <p:nvPr/>
        </p:nvSpPr>
        <p:spPr>
          <a:xfrm>
            <a:off x="10442448" y="5056632"/>
            <a:ext cx="999439" cy="768096"/>
          </a:xfrm>
          <a:prstGeom prst="rect">
            <a:avLst/>
          </a:prstGeom>
          <a:noFill/>
          <a:ln/>
        </p:spPr>
        <p:txBody>
          <a:bodyPr wrap="square" lIns="0" tIns="0" rIns="0" bIns="0" rtlCol="0" anchor="ctr"/>
          <a:lstStyle/>
          <a:p>
            <a:pPr marL="0" indent="0" algn="ctr">
              <a:buNone/>
            </a:pPr>
            <a:r>
              <a:rPr lang="en-US" sz="1050" dirty="0">
                <a:solidFill>
                  <a:srgbClr val="1F2937"/>
                </a:solidFill>
                <a:latin typeface="Calibri" pitchFamily="34" charset="0"/>
                <a:ea typeface="Calibri" pitchFamily="34" charset="-122"/>
                <a:cs typeface="Calibri" pitchFamily="34" charset="-120"/>
              </a:rPr>
              <a:t>10 Parquet files per export, plus CSV in final_datasets/</a:t>
            </a:r>
            <a:endParaRPr lang="en-US" sz="1050" dirty="0"/>
          </a:p>
        </p:txBody>
      </p:sp>
      <p:sp>
        <p:nvSpPr>
          <p:cNvPr id="67" name="Shape 65"/>
          <p:cNvSpPr/>
          <p:nvPr/>
        </p:nvSpPr>
        <p:spPr>
          <a:xfrm>
            <a:off x="9957816" y="2578608"/>
            <a:ext cx="256032" cy="0"/>
          </a:xfrm>
          <a:prstGeom prst="line">
            <a:avLst/>
          </a:prstGeom>
          <a:noFill/>
          <a:ln w="22225">
            <a:solidFill>
              <a:srgbClr val="14213D"/>
            </a:solidFill>
            <a:prstDash val="solid"/>
            <a:tailEnd type="triangle"/>
          </a:ln>
        </p:spPr>
        <p:txBody>
          <a:bodyPr/>
          <a:lstStyle/>
          <a:p>
            <a:endParaRPr/>
          </a:p>
        </p:txBody>
      </p:sp>
      <p:sp>
        <p:nvSpPr>
          <p:cNvPr id="68" name="Shape 66"/>
          <p:cNvSpPr/>
          <p:nvPr/>
        </p:nvSpPr>
        <p:spPr>
          <a:xfrm>
            <a:off x="9957816" y="4498848"/>
            <a:ext cx="256032" cy="0"/>
          </a:xfrm>
          <a:prstGeom prst="line">
            <a:avLst/>
          </a:prstGeom>
          <a:noFill/>
          <a:ln w="22225">
            <a:solidFill>
              <a:srgbClr val="14213D"/>
            </a:solidFill>
            <a:prstDash val="solid"/>
            <a:tailEnd type="triangle"/>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7</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ETL or ELT?  We chose ELT</a:t>
            </a:r>
            <a:endParaRPr lang="en-US" sz="3200" dirty="0"/>
          </a:p>
        </p:txBody>
      </p:sp>
      <p:sp>
        <p:nvSpPr>
          <p:cNvPr id="5" name="Shape 3"/>
          <p:cNvSpPr/>
          <p:nvPr/>
        </p:nvSpPr>
        <p:spPr>
          <a:xfrm>
            <a:off x="9265615" y="475488"/>
            <a:ext cx="2377440" cy="384048"/>
          </a:xfrm>
          <a:prstGeom prst="roundRect">
            <a:avLst>
              <a:gd name="adj" fmla="val 50000"/>
            </a:avLst>
          </a:prstGeom>
          <a:solidFill>
            <a:srgbClr val="F3EEFB"/>
          </a:solidFill>
          <a:ln w="12700">
            <a:solidFill>
              <a:srgbClr val="B79CDB"/>
            </a:solidFill>
            <a:prstDash val="solid"/>
          </a:ln>
        </p:spPr>
        <p:txBody>
          <a:bodyPr/>
          <a:lstStyle/>
          <a:p>
            <a:endParaRPr/>
          </a:p>
        </p:txBody>
      </p:sp>
      <p:sp>
        <p:nvSpPr>
          <p:cNvPr id="6" name="Text 4"/>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6B46A8"/>
                </a:solidFill>
                <a:latin typeface="Calibri" pitchFamily="34" charset="0"/>
                <a:ea typeface="Calibri" pitchFamily="34" charset="-122"/>
                <a:cs typeface="Calibri" pitchFamily="34" charset="-120"/>
              </a:rPr>
              <a:t>Design</a:t>
            </a:r>
            <a:endParaRPr lang="en-US" sz="1200" dirty="0"/>
          </a:p>
        </p:txBody>
      </p:sp>
      <p:sp>
        <p:nvSpPr>
          <p:cNvPr id="7" name="Shape 5"/>
          <p:cNvSpPr/>
          <p:nvPr/>
        </p:nvSpPr>
        <p:spPr>
          <a:xfrm>
            <a:off x="548640" y="1325880"/>
            <a:ext cx="5349240" cy="3566160"/>
          </a:xfrm>
          <a:prstGeom prst="roundRect">
            <a:avLst>
              <a:gd name="adj" fmla="val 3077"/>
            </a:avLst>
          </a:prstGeom>
          <a:solidFill>
            <a:srgbClr val="F4F6F9"/>
          </a:solidFill>
          <a:ln w="12700">
            <a:solidFill>
              <a:srgbClr val="F4F6F9"/>
            </a:solidFill>
            <a:prstDash val="solid"/>
          </a:ln>
        </p:spPr>
        <p:txBody>
          <a:bodyPr/>
          <a:lstStyle/>
          <a:p>
            <a:endParaRPr/>
          </a:p>
        </p:txBody>
      </p:sp>
      <p:sp>
        <p:nvSpPr>
          <p:cNvPr id="8" name="Text 6"/>
          <p:cNvSpPr txBox="1"/>
          <p:nvPr/>
        </p:nvSpPr>
        <p:spPr>
          <a:xfrm>
            <a:off x="914400" y="1600200"/>
            <a:ext cx="4617720" cy="502920"/>
          </a:xfrm>
          <a:prstGeom prst="rect">
            <a:avLst/>
          </a:prstGeom>
          <a:noFill/>
          <a:ln/>
        </p:spPr>
        <p:txBody>
          <a:bodyPr wrap="square" lIns="0" tIns="0" rIns="0" bIns="0" rtlCol="0" anchor="ctr"/>
          <a:lstStyle/>
          <a:p>
            <a:pPr marL="0" indent="0">
              <a:buNone/>
            </a:pPr>
            <a:r>
              <a:rPr lang="en-US" sz="2400" b="1" dirty="0">
                <a:solidFill>
                  <a:srgbClr val="5B6475"/>
                </a:solidFill>
                <a:latin typeface="Calibri" pitchFamily="34" charset="0"/>
                <a:ea typeface="Calibri" pitchFamily="34" charset="-122"/>
                <a:cs typeface="Calibri" pitchFamily="34" charset="-120"/>
              </a:rPr>
              <a:t>ETL</a:t>
            </a:r>
            <a:endParaRPr lang="en-US" sz="2400" dirty="0"/>
          </a:p>
        </p:txBody>
      </p:sp>
      <p:sp>
        <p:nvSpPr>
          <p:cNvPr id="9" name="Text 7"/>
          <p:cNvSpPr txBox="1"/>
          <p:nvPr/>
        </p:nvSpPr>
        <p:spPr>
          <a:xfrm>
            <a:off x="914400" y="2103120"/>
            <a:ext cx="4617720" cy="365760"/>
          </a:xfrm>
          <a:prstGeom prst="rect">
            <a:avLst/>
          </a:prstGeom>
          <a:noFill/>
          <a:ln/>
        </p:spPr>
        <p:txBody>
          <a:bodyPr wrap="square" lIns="0" tIns="0" rIns="0" bIns="0" rtlCol="0" anchor="ctr"/>
          <a:lstStyle/>
          <a:p>
            <a:pPr marL="0" indent="0">
              <a:buNone/>
            </a:pPr>
            <a:r>
              <a:rPr lang="en-US" sz="1500" dirty="0">
                <a:solidFill>
                  <a:srgbClr val="5B6475"/>
                </a:solidFill>
                <a:latin typeface="Courier New" pitchFamily="34" charset="0"/>
                <a:ea typeface="Courier New" pitchFamily="34" charset="-122"/>
                <a:cs typeface="Courier New" pitchFamily="34" charset="-120"/>
              </a:rPr>
              <a:t>Extract → Transform → Load</a:t>
            </a:r>
            <a:endParaRPr lang="en-US" sz="1500" dirty="0"/>
          </a:p>
        </p:txBody>
      </p:sp>
      <p:sp>
        <p:nvSpPr>
          <p:cNvPr id="10" name="Text 8"/>
          <p:cNvSpPr txBox="1"/>
          <p:nvPr/>
        </p:nvSpPr>
        <p:spPr>
          <a:xfrm>
            <a:off x="914400" y="2651760"/>
            <a:ext cx="461772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Transform in Python before loading</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Raw payload is lost once transformed</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A rule change means re-collecting from the APIs</a:t>
            </a:r>
            <a:endParaRPr lang="en-US" sz="1600" dirty="0"/>
          </a:p>
        </p:txBody>
      </p:sp>
      <p:sp>
        <p:nvSpPr>
          <p:cNvPr id="11" name="Shape 9"/>
          <p:cNvSpPr/>
          <p:nvPr/>
        </p:nvSpPr>
        <p:spPr>
          <a:xfrm>
            <a:off x="6217920" y="1325880"/>
            <a:ext cx="5349240" cy="3566160"/>
          </a:xfrm>
          <a:prstGeom prst="roundRect">
            <a:avLst>
              <a:gd name="adj" fmla="val 3077"/>
            </a:avLst>
          </a:prstGeom>
          <a:solidFill>
            <a:srgbClr val="EAF6EE"/>
          </a:solidFill>
          <a:ln w="12700">
            <a:solidFill>
              <a:srgbClr val="12825A"/>
            </a:solidFill>
            <a:prstDash val="solid"/>
          </a:ln>
        </p:spPr>
        <p:txBody>
          <a:bodyPr/>
          <a:lstStyle/>
          <a:p>
            <a:endParaRPr/>
          </a:p>
        </p:txBody>
      </p:sp>
      <p:sp>
        <p:nvSpPr>
          <p:cNvPr id="12" name="Text 10"/>
          <p:cNvSpPr txBox="1"/>
          <p:nvPr/>
        </p:nvSpPr>
        <p:spPr>
          <a:xfrm>
            <a:off x="6583680" y="1600200"/>
            <a:ext cx="4617720" cy="502920"/>
          </a:xfrm>
          <a:prstGeom prst="rect">
            <a:avLst/>
          </a:prstGeom>
          <a:noFill/>
          <a:ln/>
        </p:spPr>
        <p:txBody>
          <a:bodyPr wrap="square" lIns="0" tIns="0" rIns="0" bIns="0" rtlCol="0" anchor="ctr"/>
          <a:lstStyle/>
          <a:p>
            <a:pPr marL="0" indent="0">
              <a:buNone/>
            </a:pPr>
            <a:r>
              <a:rPr lang="en-US" sz="2400" b="1" dirty="0">
                <a:solidFill>
                  <a:srgbClr val="12825A"/>
                </a:solidFill>
                <a:latin typeface="Calibri" pitchFamily="34" charset="0"/>
                <a:ea typeface="Calibri" pitchFamily="34" charset="-122"/>
                <a:cs typeface="Calibri" pitchFamily="34" charset="-120"/>
              </a:rPr>
              <a:t>ELT (ours)</a:t>
            </a:r>
            <a:endParaRPr lang="en-US" sz="2400" dirty="0"/>
          </a:p>
        </p:txBody>
      </p:sp>
      <p:sp>
        <p:nvSpPr>
          <p:cNvPr id="13" name="Text 11"/>
          <p:cNvSpPr txBox="1"/>
          <p:nvPr/>
        </p:nvSpPr>
        <p:spPr>
          <a:xfrm>
            <a:off x="6583680" y="2103120"/>
            <a:ext cx="4617720" cy="365760"/>
          </a:xfrm>
          <a:prstGeom prst="rect">
            <a:avLst/>
          </a:prstGeom>
          <a:noFill/>
          <a:ln/>
        </p:spPr>
        <p:txBody>
          <a:bodyPr wrap="square" lIns="0" tIns="0" rIns="0" bIns="0" rtlCol="0" anchor="ctr"/>
          <a:lstStyle/>
          <a:p>
            <a:pPr marL="0" indent="0">
              <a:buNone/>
            </a:pPr>
            <a:r>
              <a:rPr lang="en-US" sz="1500" dirty="0">
                <a:solidFill>
                  <a:srgbClr val="5B6475"/>
                </a:solidFill>
                <a:latin typeface="Courier New" pitchFamily="34" charset="0"/>
                <a:ea typeface="Courier New" pitchFamily="34" charset="-122"/>
                <a:cs typeface="Courier New" pitchFamily="34" charset="-120"/>
              </a:rPr>
              <a:t>Extract → Load → Transform</a:t>
            </a:r>
            <a:endParaRPr lang="en-US" sz="1500" dirty="0"/>
          </a:p>
        </p:txBody>
      </p:sp>
      <p:sp>
        <p:nvSpPr>
          <p:cNvPr id="14" name="Text 12"/>
          <p:cNvSpPr txBox="1"/>
          <p:nvPr/>
        </p:nvSpPr>
        <p:spPr>
          <a:xfrm>
            <a:off x="6583680" y="2651760"/>
            <a:ext cx="461772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Raw JSON loaded untouched into Snowflake (VARIANT)</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All rules in dbt SQL: versioned in Git, tested, re-runnable</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A rule change = rebuild from RAW; no new API calls, no quota spent</a:t>
            </a:r>
            <a:endParaRPr lang="en-US" sz="1600" dirty="0"/>
          </a:p>
        </p:txBody>
      </p:sp>
      <p:sp>
        <p:nvSpPr>
          <p:cNvPr id="15" name="Shape 13"/>
          <p:cNvSpPr/>
          <p:nvPr/>
        </p:nvSpPr>
        <p:spPr>
          <a:xfrm>
            <a:off x="548640" y="5120640"/>
            <a:ext cx="11094415" cy="1005840"/>
          </a:xfrm>
          <a:prstGeom prst="roundRect">
            <a:avLst>
              <a:gd name="adj" fmla="val 10909"/>
            </a:avLst>
          </a:prstGeom>
          <a:solidFill>
            <a:srgbClr val="14213D"/>
          </a:solidFill>
          <a:ln w="12700">
            <a:solidFill>
              <a:srgbClr val="14213D"/>
            </a:solidFill>
            <a:prstDash val="solid"/>
          </a:ln>
        </p:spPr>
        <p:txBody>
          <a:bodyPr/>
          <a:lstStyle/>
          <a:p>
            <a:endParaRPr/>
          </a:p>
        </p:txBody>
      </p:sp>
      <p:sp>
        <p:nvSpPr>
          <p:cNvPr id="16" name="Text 14"/>
          <p:cNvSpPr txBox="1"/>
          <p:nvPr/>
        </p:nvSpPr>
        <p:spPr>
          <a:xfrm>
            <a:off x="868680" y="5120640"/>
            <a:ext cx="10454335" cy="10058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Why it mattered: API quotas are small (Jooble: 500 requests per key, lifetime), so we cannot afford to collect twice. Keeping raw data lets us fix a rule and rebuild in minutes.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8</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Issues we faced in extraction</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Rate limits, quotas, and search engines that only answer queries</a:t>
            </a:r>
            <a:endParaRPr lang="en-US" sz="1500" dirty="0"/>
          </a:p>
        </p:txBody>
      </p:sp>
      <p:sp>
        <p:nvSpPr>
          <p:cNvPr id="6" name="Shape 4"/>
          <p:cNvSpPr/>
          <p:nvPr/>
        </p:nvSpPr>
        <p:spPr>
          <a:xfrm>
            <a:off x="9265615" y="475488"/>
            <a:ext cx="2377440" cy="384048"/>
          </a:xfrm>
          <a:prstGeom prst="roundRect">
            <a:avLst>
              <a:gd name="adj" fmla="val 50000"/>
            </a:avLst>
          </a:prstGeom>
          <a:solidFill>
            <a:srgbClr val="EAF6EE"/>
          </a:solidFill>
          <a:ln w="12700">
            <a:solidFill>
              <a:srgbClr val="8CC9A1"/>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2E7D4F"/>
                </a:solidFill>
                <a:latin typeface="Calibri" pitchFamily="34" charset="0"/>
                <a:ea typeface="Calibri" pitchFamily="34" charset="-122"/>
                <a:cs typeface="Calibri" pitchFamily="34" charset="-120"/>
              </a:rPr>
              <a:t>Extract</a:t>
            </a:r>
            <a:endParaRPr lang="en-US" sz="1200" dirty="0"/>
          </a:p>
        </p:txBody>
      </p:sp>
      <p:sp>
        <p:nvSpPr>
          <p:cNvPr id="8" name="Shape 6"/>
          <p:cNvSpPr/>
          <p:nvPr/>
        </p:nvSpPr>
        <p:spPr>
          <a:xfrm>
            <a:off x="548640" y="1554480"/>
            <a:ext cx="5349240" cy="1389888"/>
          </a:xfrm>
          <a:prstGeom prst="roundRect">
            <a:avLst>
              <a:gd name="adj" fmla="val 7895"/>
            </a:avLst>
          </a:prstGeom>
          <a:solidFill>
            <a:srgbClr val="EAF6EE"/>
          </a:solidFill>
          <a:ln w="12700">
            <a:solidFill>
              <a:srgbClr val="EAF6EE"/>
            </a:solidFill>
            <a:prstDash val="solid"/>
          </a:ln>
        </p:spPr>
        <p:txBody>
          <a:bodyPr/>
          <a:lstStyle/>
          <a:p>
            <a:endParaRPr/>
          </a:p>
        </p:txBody>
      </p:sp>
      <p:sp>
        <p:nvSpPr>
          <p:cNvPr id="9" name="Shape 7"/>
          <p:cNvSpPr/>
          <p:nvPr/>
        </p:nvSpPr>
        <p:spPr>
          <a:xfrm>
            <a:off x="777240" y="1783080"/>
            <a:ext cx="502920" cy="502920"/>
          </a:xfrm>
          <a:prstGeom prst="ellipse">
            <a:avLst/>
          </a:prstGeom>
          <a:solidFill>
            <a:srgbClr val="2E7D4F"/>
          </a:solidFill>
          <a:ln w="12700">
            <a:solidFill>
              <a:srgbClr val="2E7D4F"/>
            </a:solidFill>
            <a:prstDash val="solid"/>
          </a:ln>
        </p:spPr>
        <p:txBody>
          <a:bodyPr/>
          <a:lstStyle/>
          <a:p>
            <a:endParaRPr/>
          </a:p>
        </p:txBody>
      </p:sp>
      <p:pic>
        <p:nvPicPr>
          <p:cNvPr id="10" name="Image 0" descr="preencoded.png"/>
          <p:cNvPicPr>
            <a:picLocks noChangeAspect="1"/>
          </p:cNvPicPr>
          <p:nvPr/>
        </p:nvPicPr>
        <p:blipFill>
          <a:blip r:embed="rId3"/>
          <a:stretch>
            <a:fillRect/>
          </a:stretch>
        </p:blipFill>
        <p:spPr>
          <a:xfrm>
            <a:off x="897941" y="1903781"/>
            <a:ext cx="261518" cy="261518"/>
          </a:xfrm>
          <a:prstGeom prst="rect">
            <a:avLst/>
          </a:prstGeom>
        </p:spPr>
      </p:pic>
      <p:sp>
        <p:nvSpPr>
          <p:cNvPr id="11" name="Text 8"/>
          <p:cNvSpPr txBox="1"/>
          <p:nvPr/>
        </p:nvSpPr>
        <p:spPr>
          <a:xfrm>
            <a:off x="1463040" y="1737360"/>
            <a:ext cx="4251960" cy="365760"/>
          </a:xfrm>
          <a:prstGeom prst="rect">
            <a:avLst/>
          </a:prstGeom>
          <a:noFill/>
          <a:ln/>
        </p:spPr>
        <p:txBody>
          <a:bodyPr wrap="square" lIns="0" tIns="0" rIns="0" bIns="0" rtlCol="0" anchor="ctr"/>
          <a:lstStyle/>
          <a:p>
            <a:pPr marL="0" indent="0">
              <a:buNone/>
            </a:pPr>
            <a:r>
              <a:rPr lang="en-US" sz="1600" b="1" dirty="0">
                <a:solidFill>
                  <a:srgbClr val="2E7D4F"/>
                </a:solidFill>
                <a:latin typeface="Calibri" pitchFamily="34" charset="0"/>
                <a:ea typeface="Calibri" pitchFamily="34" charset="-122"/>
                <a:cs typeface="Calibri" pitchFamily="34" charset="-120"/>
              </a:rPr>
              <a:t>Rate limits and failures</a:t>
            </a:r>
            <a:endParaRPr lang="en-US" sz="1600" dirty="0"/>
          </a:p>
        </p:txBody>
      </p:sp>
      <p:sp>
        <p:nvSpPr>
          <p:cNvPr id="12" name="Text 9"/>
          <p:cNvSpPr txBox="1"/>
          <p:nvPr/>
        </p:nvSpPr>
        <p:spPr>
          <a:xfrm>
            <a:off x="1463040" y="2121408"/>
            <a:ext cx="4251960" cy="7315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HTTP 429, 5xx and timeouts retried with back-off. A board that still fails gets no file, so it counts as "not pulled", never as "all jobs closed".</a:t>
            </a:r>
            <a:endParaRPr lang="en-US" sz="1250" dirty="0"/>
          </a:p>
        </p:txBody>
      </p:sp>
      <p:sp>
        <p:nvSpPr>
          <p:cNvPr id="13" name="Shape 10"/>
          <p:cNvSpPr/>
          <p:nvPr/>
        </p:nvSpPr>
        <p:spPr>
          <a:xfrm>
            <a:off x="6217920" y="1554480"/>
            <a:ext cx="5349240" cy="1389888"/>
          </a:xfrm>
          <a:prstGeom prst="roundRect">
            <a:avLst>
              <a:gd name="adj" fmla="val 7895"/>
            </a:avLst>
          </a:prstGeom>
          <a:solidFill>
            <a:srgbClr val="EAF6EE"/>
          </a:solidFill>
          <a:ln w="12700">
            <a:solidFill>
              <a:srgbClr val="EAF6EE"/>
            </a:solidFill>
            <a:prstDash val="solid"/>
          </a:ln>
        </p:spPr>
        <p:txBody>
          <a:bodyPr/>
          <a:lstStyle/>
          <a:p>
            <a:endParaRPr/>
          </a:p>
        </p:txBody>
      </p:sp>
      <p:sp>
        <p:nvSpPr>
          <p:cNvPr id="14" name="Shape 11"/>
          <p:cNvSpPr/>
          <p:nvPr/>
        </p:nvSpPr>
        <p:spPr>
          <a:xfrm>
            <a:off x="6446520" y="1783080"/>
            <a:ext cx="502920" cy="502920"/>
          </a:xfrm>
          <a:prstGeom prst="ellipse">
            <a:avLst/>
          </a:prstGeom>
          <a:solidFill>
            <a:srgbClr val="2E7D4F"/>
          </a:solidFill>
          <a:ln w="12700">
            <a:solidFill>
              <a:srgbClr val="2E7D4F"/>
            </a:solidFill>
            <a:prstDash val="solid"/>
          </a:ln>
        </p:spPr>
        <p:txBody>
          <a:bodyPr/>
          <a:lstStyle/>
          <a:p>
            <a:endParaRPr/>
          </a:p>
        </p:txBody>
      </p:sp>
      <p:pic>
        <p:nvPicPr>
          <p:cNvPr id="15" name="Image 1" descr="preencoded.png"/>
          <p:cNvPicPr>
            <a:picLocks noChangeAspect="1"/>
          </p:cNvPicPr>
          <p:nvPr/>
        </p:nvPicPr>
        <p:blipFill>
          <a:blip r:embed="rId4"/>
          <a:stretch>
            <a:fillRect/>
          </a:stretch>
        </p:blipFill>
        <p:spPr>
          <a:xfrm>
            <a:off x="6567221" y="1903781"/>
            <a:ext cx="261518" cy="261518"/>
          </a:xfrm>
          <a:prstGeom prst="rect">
            <a:avLst/>
          </a:prstGeom>
        </p:spPr>
      </p:pic>
      <p:sp>
        <p:nvSpPr>
          <p:cNvPr id="16" name="Text 12"/>
          <p:cNvSpPr txBox="1"/>
          <p:nvPr/>
        </p:nvSpPr>
        <p:spPr>
          <a:xfrm>
            <a:off x="7132320" y="1737360"/>
            <a:ext cx="4251960" cy="365760"/>
          </a:xfrm>
          <a:prstGeom prst="rect">
            <a:avLst/>
          </a:prstGeom>
          <a:noFill/>
          <a:ln/>
        </p:spPr>
        <p:txBody>
          <a:bodyPr wrap="square" lIns="0" tIns="0" rIns="0" bIns="0" rtlCol="0" anchor="ctr"/>
          <a:lstStyle/>
          <a:p>
            <a:pPr marL="0" indent="0">
              <a:buNone/>
            </a:pPr>
            <a:r>
              <a:rPr lang="en-US" sz="1600" b="1" dirty="0">
                <a:solidFill>
                  <a:srgbClr val="2E7D4F"/>
                </a:solidFill>
                <a:latin typeface="Calibri" pitchFamily="34" charset="0"/>
                <a:ea typeface="Calibri" pitchFamily="34" charset="-122"/>
                <a:cs typeface="Calibri" pitchFamily="34" charset="-120"/>
              </a:rPr>
              <a:t>Quotas</a:t>
            </a:r>
            <a:endParaRPr lang="en-US" sz="1600" dirty="0"/>
          </a:p>
        </p:txBody>
      </p:sp>
      <p:sp>
        <p:nvSpPr>
          <p:cNvPr id="17" name="Text 13"/>
          <p:cNvSpPr txBox="1"/>
          <p:nvPr/>
        </p:nvSpPr>
        <p:spPr>
          <a:xfrm>
            <a:off x="7132320" y="2121408"/>
            <a:ext cx="4251960" cy="7315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Jooble: 500 requests per key, for life; a campaign needs ~770. JSearch: ~200 per account. The collector rotates keys; queries cut short are re-run by name (rerun_queries.py).</a:t>
            </a:r>
            <a:endParaRPr lang="en-US" sz="1250" dirty="0"/>
          </a:p>
        </p:txBody>
      </p:sp>
      <p:sp>
        <p:nvSpPr>
          <p:cNvPr id="18" name="Shape 14"/>
          <p:cNvSpPr/>
          <p:nvPr/>
        </p:nvSpPr>
        <p:spPr>
          <a:xfrm>
            <a:off x="548640" y="3127248"/>
            <a:ext cx="5349240" cy="1389888"/>
          </a:xfrm>
          <a:prstGeom prst="roundRect">
            <a:avLst>
              <a:gd name="adj" fmla="val 7895"/>
            </a:avLst>
          </a:prstGeom>
          <a:solidFill>
            <a:srgbClr val="EAF6EE"/>
          </a:solidFill>
          <a:ln w="12700">
            <a:solidFill>
              <a:srgbClr val="EAF6EE"/>
            </a:solidFill>
            <a:prstDash val="solid"/>
          </a:ln>
        </p:spPr>
        <p:txBody>
          <a:bodyPr/>
          <a:lstStyle/>
          <a:p>
            <a:endParaRPr/>
          </a:p>
        </p:txBody>
      </p:sp>
      <p:sp>
        <p:nvSpPr>
          <p:cNvPr id="19" name="Shape 15"/>
          <p:cNvSpPr/>
          <p:nvPr/>
        </p:nvSpPr>
        <p:spPr>
          <a:xfrm>
            <a:off x="777240" y="3355848"/>
            <a:ext cx="502920" cy="502920"/>
          </a:xfrm>
          <a:prstGeom prst="ellipse">
            <a:avLst/>
          </a:prstGeom>
          <a:solidFill>
            <a:srgbClr val="2E7D4F"/>
          </a:solidFill>
          <a:ln w="12700">
            <a:solidFill>
              <a:srgbClr val="2E7D4F"/>
            </a:solidFill>
            <a:prstDash val="solid"/>
          </a:ln>
        </p:spPr>
        <p:txBody>
          <a:bodyPr/>
          <a:lstStyle/>
          <a:p>
            <a:endParaRPr/>
          </a:p>
        </p:txBody>
      </p:sp>
      <p:pic>
        <p:nvPicPr>
          <p:cNvPr id="20" name="Image 2" descr="preencoded.png"/>
          <p:cNvPicPr>
            <a:picLocks noChangeAspect="1"/>
          </p:cNvPicPr>
          <p:nvPr/>
        </p:nvPicPr>
        <p:blipFill>
          <a:blip r:embed="rId5"/>
          <a:stretch>
            <a:fillRect/>
          </a:stretch>
        </p:blipFill>
        <p:spPr>
          <a:xfrm>
            <a:off x="897941" y="3476549"/>
            <a:ext cx="261518" cy="261518"/>
          </a:xfrm>
          <a:prstGeom prst="rect">
            <a:avLst/>
          </a:prstGeom>
        </p:spPr>
      </p:pic>
      <p:sp>
        <p:nvSpPr>
          <p:cNvPr id="21" name="Text 16"/>
          <p:cNvSpPr txBox="1"/>
          <p:nvPr/>
        </p:nvSpPr>
        <p:spPr>
          <a:xfrm>
            <a:off x="1463040" y="3310128"/>
            <a:ext cx="4251960" cy="365760"/>
          </a:xfrm>
          <a:prstGeom prst="rect">
            <a:avLst/>
          </a:prstGeom>
          <a:noFill/>
          <a:ln/>
        </p:spPr>
        <p:txBody>
          <a:bodyPr wrap="square" lIns="0" tIns="0" rIns="0" bIns="0" rtlCol="0" anchor="ctr"/>
          <a:lstStyle/>
          <a:p>
            <a:pPr marL="0" indent="0">
              <a:buNone/>
            </a:pPr>
            <a:r>
              <a:rPr lang="en-US" sz="1600" b="1" dirty="0">
                <a:solidFill>
                  <a:srgbClr val="2E7D4F"/>
                </a:solidFill>
                <a:latin typeface="Calibri" pitchFamily="34" charset="0"/>
                <a:ea typeface="Calibri" pitchFamily="34" charset="-122"/>
                <a:cs typeface="Calibri" pitchFamily="34" charset="-120"/>
              </a:rPr>
              <a:t>Query-only APIs</a:t>
            </a:r>
            <a:endParaRPr lang="en-US" sz="1600" dirty="0"/>
          </a:p>
        </p:txBody>
      </p:sp>
      <p:sp>
        <p:nvSpPr>
          <p:cNvPr id="22" name="Text 17"/>
          <p:cNvSpPr txBox="1"/>
          <p:nvPr/>
        </p:nvSpPr>
        <p:spPr>
          <a:xfrm>
            <a:off x="1463040" y="3694176"/>
            <a:ext cx="4251960" cy="7315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No "give me everything" endpoint. Jooble stops at 1,000 results per query, so we split by city and job title; JSearch gives no total, so we split by posting-date window.</a:t>
            </a:r>
            <a:endParaRPr lang="en-US" sz="1250" dirty="0"/>
          </a:p>
        </p:txBody>
      </p:sp>
      <p:sp>
        <p:nvSpPr>
          <p:cNvPr id="23" name="Shape 18"/>
          <p:cNvSpPr/>
          <p:nvPr/>
        </p:nvSpPr>
        <p:spPr>
          <a:xfrm>
            <a:off x="6217920" y="3127248"/>
            <a:ext cx="5349240" cy="1389888"/>
          </a:xfrm>
          <a:prstGeom prst="roundRect">
            <a:avLst>
              <a:gd name="adj" fmla="val 7895"/>
            </a:avLst>
          </a:prstGeom>
          <a:solidFill>
            <a:srgbClr val="EAF6EE"/>
          </a:solidFill>
          <a:ln w="12700">
            <a:solidFill>
              <a:srgbClr val="EAF6EE"/>
            </a:solidFill>
            <a:prstDash val="solid"/>
          </a:ln>
        </p:spPr>
        <p:txBody>
          <a:bodyPr/>
          <a:lstStyle/>
          <a:p>
            <a:endParaRPr/>
          </a:p>
        </p:txBody>
      </p:sp>
      <p:sp>
        <p:nvSpPr>
          <p:cNvPr id="24" name="Shape 19"/>
          <p:cNvSpPr/>
          <p:nvPr/>
        </p:nvSpPr>
        <p:spPr>
          <a:xfrm>
            <a:off x="6446520" y="3355848"/>
            <a:ext cx="502920" cy="502920"/>
          </a:xfrm>
          <a:prstGeom prst="ellipse">
            <a:avLst/>
          </a:prstGeom>
          <a:solidFill>
            <a:srgbClr val="2E7D4F"/>
          </a:solidFill>
          <a:ln w="12700">
            <a:solidFill>
              <a:srgbClr val="2E7D4F"/>
            </a:solidFill>
            <a:prstDash val="solid"/>
          </a:ln>
        </p:spPr>
        <p:txBody>
          <a:bodyPr/>
          <a:lstStyle/>
          <a:p>
            <a:endParaRPr/>
          </a:p>
        </p:txBody>
      </p:sp>
      <p:pic>
        <p:nvPicPr>
          <p:cNvPr id="25" name="Image 3" descr="preencoded.png"/>
          <p:cNvPicPr>
            <a:picLocks noChangeAspect="1"/>
          </p:cNvPicPr>
          <p:nvPr/>
        </p:nvPicPr>
        <p:blipFill>
          <a:blip r:embed="rId6"/>
          <a:stretch>
            <a:fillRect/>
          </a:stretch>
        </p:blipFill>
        <p:spPr>
          <a:xfrm>
            <a:off x="6567221" y="3476549"/>
            <a:ext cx="261518" cy="261518"/>
          </a:xfrm>
          <a:prstGeom prst="rect">
            <a:avLst/>
          </a:prstGeom>
        </p:spPr>
      </p:pic>
      <p:sp>
        <p:nvSpPr>
          <p:cNvPr id="26" name="Text 20"/>
          <p:cNvSpPr txBox="1"/>
          <p:nvPr/>
        </p:nvSpPr>
        <p:spPr>
          <a:xfrm>
            <a:off x="7132320" y="3310128"/>
            <a:ext cx="4251960" cy="365760"/>
          </a:xfrm>
          <a:prstGeom prst="rect">
            <a:avLst/>
          </a:prstGeom>
          <a:noFill/>
          <a:ln/>
        </p:spPr>
        <p:txBody>
          <a:bodyPr wrap="square" lIns="0" tIns="0" rIns="0" bIns="0" rtlCol="0" anchor="ctr"/>
          <a:lstStyle/>
          <a:p>
            <a:pPr marL="0" indent="0">
              <a:buNone/>
            </a:pPr>
            <a:r>
              <a:rPr lang="en-US" sz="1600" b="1" dirty="0">
                <a:solidFill>
                  <a:srgbClr val="2E7D4F"/>
                </a:solidFill>
                <a:latin typeface="Calibri" pitchFamily="34" charset="0"/>
                <a:ea typeface="Calibri" pitchFamily="34" charset="-122"/>
                <a:cs typeface="Calibri" pitchFamily="34" charset="-120"/>
              </a:rPr>
              <a:t>Silent fallbacks</a:t>
            </a:r>
            <a:endParaRPr lang="en-US" sz="1600" dirty="0"/>
          </a:p>
        </p:txBody>
      </p:sp>
      <p:sp>
        <p:nvSpPr>
          <p:cNvPr id="27" name="Text 21"/>
          <p:cNvSpPr txBox="1"/>
          <p:nvPr/>
        </p:nvSpPr>
        <p:spPr>
          <a:xfrm>
            <a:off x="7132320" y="3694176"/>
            <a:ext cx="4251960" cy="7315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Jooble ignores an unknown location and returns everything. A pre-flight request checks the total before a full pull.</a:t>
            </a:r>
            <a:endParaRPr lang="en-US" sz="1250" dirty="0"/>
          </a:p>
        </p:txBody>
      </p:sp>
      <p:sp>
        <p:nvSpPr>
          <p:cNvPr id="28" name="Shape 22"/>
          <p:cNvSpPr/>
          <p:nvPr/>
        </p:nvSpPr>
        <p:spPr>
          <a:xfrm>
            <a:off x="548640" y="4700016"/>
            <a:ext cx="5349240" cy="1389888"/>
          </a:xfrm>
          <a:prstGeom prst="roundRect">
            <a:avLst>
              <a:gd name="adj" fmla="val 7895"/>
            </a:avLst>
          </a:prstGeom>
          <a:solidFill>
            <a:srgbClr val="EAF6EE"/>
          </a:solidFill>
          <a:ln w="12700">
            <a:solidFill>
              <a:srgbClr val="EAF6EE"/>
            </a:solidFill>
            <a:prstDash val="solid"/>
          </a:ln>
        </p:spPr>
        <p:txBody>
          <a:bodyPr/>
          <a:lstStyle/>
          <a:p>
            <a:endParaRPr/>
          </a:p>
        </p:txBody>
      </p:sp>
      <p:sp>
        <p:nvSpPr>
          <p:cNvPr id="29" name="Shape 23"/>
          <p:cNvSpPr/>
          <p:nvPr/>
        </p:nvSpPr>
        <p:spPr>
          <a:xfrm>
            <a:off x="777240" y="4928616"/>
            <a:ext cx="502920" cy="502920"/>
          </a:xfrm>
          <a:prstGeom prst="ellipse">
            <a:avLst/>
          </a:prstGeom>
          <a:solidFill>
            <a:srgbClr val="2E7D4F"/>
          </a:solidFill>
          <a:ln w="12700">
            <a:solidFill>
              <a:srgbClr val="2E7D4F"/>
            </a:solidFill>
            <a:prstDash val="solid"/>
          </a:ln>
        </p:spPr>
        <p:txBody>
          <a:bodyPr/>
          <a:lstStyle/>
          <a:p>
            <a:endParaRPr/>
          </a:p>
        </p:txBody>
      </p:sp>
      <p:pic>
        <p:nvPicPr>
          <p:cNvPr id="30" name="Image 4" descr="preencoded.png"/>
          <p:cNvPicPr>
            <a:picLocks noChangeAspect="1"/>
          </p:cNvPicPr>
          <p:nvPr/>
        </p:nvPicPr>
        <p:blipFill>
          <a:blip r:embed="rId7"/>
          <a:stretch>
            <a:fillRect/>
          </a:stretch>
        </p:blipFill>
        <p:spPr>
          <a:xfrm>
            <a:off x="897941" y="5049317"/>
            <a:ext cx="261518" cy="261518"/>
          </a:xfrm>
          <a:prstGeom prst="rect">
            <a:avLst/>
          </a:prstGeom>
        </p:spPr>
      </p:pic>
      <p:sp>
        <p:nvSpPr>
          <p:cNvPr id="31" name="Text 24"/>
          <p:cNvSpPr txBox="1"/>
          <p:nvPr/>
        </p:nvSpPr>
        <p:spPr>
          <a:xfrm>
            <a:off x="1463040" y="4882896"/>
            <a:ext cx="4251960" cy="365760"/>
          </a:xfrm>
          <a:prstGeom prst="rect">
            <a:avLst/>
          </a:prstGeom>
          <a:noFill/>
          <a:ln/>
        </p:spPr>
        <p:txBody>
          <a:bodyPr wrap="square" lIns="0" tIns="0" rIns="0" bIns="0" rtlCol="0" anchor="ctr"/>
          <a:lstStyle/>
          <a:p>
            <a:pPr marL="0" indent="0">
              <a:buNone/>
            </a:pPr>
            <a:r>
              <a:rPr lang="en-US" sz="1600" b="1" dirty="0">
                <a:solidFill>
                  <a:srgbClr val="2E7D4F"/>
                </a:solidFill>
                <a:latin typeface="Calibri" pitchFamily="34" charset="0"/>
                <a:ea typeface="Calibri" pitchFamily="34" charset="-122"/>
                <a:cs typeface="Calibri" pitchFamily="34" charset="-120"/>
              </a:rPr>
              <a:t>Overlapping results</a:t>
            </a:r>
            <a:endParaRPr lang="en-US" sz="1600" dirty="0"/>
          </a:p>
        </p:txBody>
      </p:sp>
      <p:sp>
        <p:nvSpPr>
          <p:cNvPr id="32" name="Text 25"/>
          <p:cNvSpPr txBox="1"/>
          <p:nvPr/>
        </p:nvSpPr>
        <p:spPr>
          <a:xfrm>
            <a:off x="1463040" y="5266944"/>
            <a:ext cx="4251960" cy="7315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Overlapping queries return the same job many times: Jooble 32,297 rows → 12,828 unique listings; JSearch 7,624 → 4,893.</a:t>
            </a:r>
            <a:endParaRPr lang="en-US" sz="1250" dirty="0"/>
          </a:p>
        </p:txBody>
      </p:sp>
      <p:sp>
        <p:nvSpPr>
          <p:cNvPr id="33" name="Shape 26"/>
          <p:cNvSpPr/>
          <p:nvPr/>
        </p:nvSpPr>
        <p:spPr>
          <a:xfrm>
            <a:off x="6217920" y="4700016"/>
            <a:ext cx="5349240" cy="1389888"/>
          </a:xfrm>
          <a:prstGeom prst="roundRect">
            <a:avLst>
              <a:gd name="adj" fmla="val 7895"/>
            </a:avLst>
          </a:prstGeom>
          <a:solidFill>
            <a:srgbClr val="EAF6EE"/>
          </a:solidFill>
          <a:ln w="12700">
            <a:solidFill>
              <a:srgbClr val="EAF6EE"/>
            </a:solidFill>
            <a:prstDash val="solid"/>
          </a:ln>
        </p:spPr>
        <p:txBody>
          <a:bodyPr/>
          <a:lstStyle/>
          <a:p>
            <a:endParaRPr/>
          </a:p>
        </p:txBody>
      </p:sp>
      <p:sp>
        <p:nvSpPr>
          <p:cNvPr id="34" name="Shape 27"/>
          <p:cNvSpPr/>
          <p:nvPr/>
        </p:nvSpPr>
        <p:spPr>
          <a:xfrm>
            <a:off x="6446520" y="4928616"/>
            <a:ext cx="502920" cy="502920"/>
          </a:xfrm>
          <a:prstGeom prst="ellipse">
            <a:avLst/>
          </a:prstGeom>
          <a:solidFill>
            <a:srgbClr val="2E7D4F"/>
          </a:solidFill>
          <a:ln w="12700">
            <a:solidFill>
              <a:srgbClr val="2E7D4F"/>
            </a:solidFill>
            <a:prstDash val="solid"/>
          </a:ln>
        </p:spPr>
        <p:txBody>
          <a:bodyPr/>
          <a:lstStyle/>
          <a:p>
            <a:endParaRPr/>
          </a:p>
        </p:txBody>
      </p:sp>
      <p:pic>
        <p:nvPicPr>
          <p:cNvPr id="35" name="Image 5" descr="preencoded.png"/>
          <p:cNvPicPr>
            <a:picLocks noChangeAspect="1"/>
          </p:cNvPicPr>
          <p:nvPr/>
        </p:nvPicPr>
        <p:blipFill>
          <a:blip r:embed="rId8"/>
          <a:stretch>
            <a:fillRect/>
          </a:stretch>
        </p:blipFill>
        <p:spPr>
          <a:xfrm>
            <a:off x="6567221" y="5049317"/>
            <a:ext cx="261518" cy="261518"/>
          </a:xfrm>
          <a:prstGeom prst="rect">
            <a:avLst/>
          </a:prstGeom>
        </p:spPr>
      </p:pic>
      <p:sp>
        <p:nvSpPr>
          <p:cNvPr id="36" name="Text 28"/>
          <p:cNvSpPr txBox="1"/>
          <p:nvPr/>
        </p:nvSpPr>
        <p:spPr>
          <a:xfrm>
            <a:off x="7132320" y="4882896"/>
            <a:ext cx="4251960" cy="365760"/>
          </a:xfrm>
          <a:prstGeom prst="rect">
            <a:avLst/>
          </a:prstGeom>
          <a:noFill/>
          <a:ln/>
        </p:spPr>
        <p:txBody>
          <a:bodyPr wrap="square" lIns="0" tIns="0" rIns="0" bIns="0" rtlCol="0" anchor="ctr"/>
          <a:lstStyle/>
          <a:p>
            <a:pPr marL="0" indent="0">
              <a:buNone/>
            </a:pPr>
            <a:r>
              <a:rPr lang="en-US" sz="1600" b="1" dirty="0">
                <a:solidFill>
                  <a:srgbClr val="2E7D4F"/>
                </a:solidFill>
                <a:latin typeface="Calibri" pitchFamily="34" charset="0"/>
                <a:ea typeface="Calibri" pitchFamily="34" charset="-122"/>
                <a:cs typeface="Calibri" pitchFamily="34" charset="-120"/>
              </a:rPr>
              <a:t>Finding employer boards</a:t>
            </a:r>
            <a:endParaRPr lang="en-US" sz="1600" dirty="0"/>
          </a:p>
        </p:txBody>
      </p:sp>
      <p:sp>
        <p:nvSpPr>
          <p:cNvPr id="37" name="Text 29"/>
          <p:cNvSpPr txBox="1"/>
          <p:nvPr/>
        </p:nvSpPr>
        <p:spPr>
          <a:xfrm>
            <a:off x="7132320" y="5266944"/>
            <a:ext cx="4251960" cy="73152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No ATS publishes its client list. We found 52 boards by web search and kept those with Saudi jobs; Saudi filtering in the script (SmartRecruiters: in the API).</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9</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Job status: only where there is evidence</a:t>
            </a:r>
            <a:endParaRPr lang="en-US" sz="3200" dirty="0"/>
          </a:p>
        </p:txBody>
      </p:sp>
      <p:sp>
        <p:nvSpPr>
          <p:cNvPr id="5" name="Shape 3"/>
          <p:cNvSpPr/>
          <p:nvPr/>
        </p:nvSpPr>
        <p:spPr>
          <a:xfrm>
            <a:off x="9265615" y="475488"/>
            <a:ext cx="2377440" cy="384048"/>
          </a:xfrm>
          <a:prstGeom prst="roundRect">
            <a:avLst>
              <a:gd name="adj" fmla="val 50000"/>
            </a:avLst>
          </a:prstGeom>
          <a:solidFill>
            <a:srgbClr val="EAF6EE"/>
          </a:solidFill>
          <a:ln w="12700">
            <a:solidFill>
              <a:srgbClr val="8CC9A1"/>
            </a:solidFill>
            <a:prstDash val="solid"/>
          </a:ln>
        </p:spPr>
        <p:txBody>
          <a:bodyPr/>
          <a:lstStyle/>
          <a:p>
            <a:endParaRPr/>
          </a:p>
        </p:txBody>
      </p:sp>
      <p:sp>
        <p:nvSpPr>
          <p:cNvPr id="6" name="Text 4"/>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2E7D4F"/>
                </a:solidFill>
                <a:latin typeface="Calibri" pitchFamily="34" charset="0"/>
                <a:ea typeface="Calibri" pitchFamily="34" charset="-122"/>
                <a:cs typeface="Calibri" pitchFamily="34" charset="-120"/>
              </a:rPr>
              <a:t>Data quality</a:t>
            </a:r>
            <a:endParaRPr lang="en-US" sz="1200" dirty="0"/>
          </a:p>
        </p:txBody>
      </p:sp>
      <p:sp>
        <p:nvSpPr>
          <p:cNvPr id="7" name="Shape 5"/>
          <p:cNvSpPr/>
          <p:nvPr/>
        </p:nvSpPr>
        <p:spPr>
          <a:xfrm>
            <a:off x="548640" y="1325880"/>
            <a:ext cx="5486400" cy="4800600"/>
          </a:xfrm>
          <a:prstGeom prst="roundRect">
            <a:avLst>
              <a:gd name="adj" fmla="val 2286"/>
            </a:avLst>
          </a:prstGeom>
          <a:solidFill>
            <a:srgbClr val="FDF1E7"/>
          </a:solidFill>
          <a:ln w="12700">
            <a:solidFill>
              <a:srgbClr val="FDF1E7"/>
            </a:solidFill>
            <a:prstDash val="solid"/>
          </a:ln>
        </p:spPr>
        <p:txBody>
          <a:bodyPr/>
          <a:lstStyle/>
          <a:p>
            <a:endParaRPr/>
          </a:p>
        </p:txBody>
      </p:sp>
      <p:sp>
        <p:nvSpPr>
          <p:cNvPr id="8" name="Shape 6"/>
          <p:cNvSpPr/>
          <p:nvPr/>
        </p:nvSpPr>
        <p:spPr>
          <a:xfrm>
            <a:off x="822960" y="1554480"/>
            <a:ext cx="548640" cy="548640"/>
          </a:xfrm>
          <a:prstGeom prst="ellipse">
            <a:avLst/>
          </a:prstGeom>
          <a:solidFill>
            <a:srgbClr val="B8621B"/>
          </a:solidFill>
          <a:ln w="12700">
            <a:solidFill>
              <a:srgbClr val="B8621B"/>
            </a:solidFill>
            <a:prstDash val="solid"/>
          </a:ln>
        </p:spPr>
        <p:txBody>
          <a:bodyPr/>
          <a:lstStyle/>
          <a:p>
            <a:endParaRPr/>
          </a:p>
        </p:txBody>
      </p:sp>
      <p:pic>
        <p:nvPicPr>
          <p:cNvPr id="9" name="Image 0" descr="preencoded.png"/>
          <p:cNvPicPr>
            <a:picLocks noChangeAspect="1"/>
          </p:cNvPicPr>
          <p:nvPr/>
        </p:nvPicPr>
        <p:blipFill>
          <a:blip r:embed="rId3"/>
          <a:stretch>
            <a:fillRect/>
          </a:stretch>
        </p:blipFill>
        <p:spPr>
          <a:xfrm>
            <a:off x="954634" y="1686154"/>
            <a:ext cx="285293" cy="285293"/>
          </a:xfrm>
          <a:prstGeom prst="rect">
            <a:avLst/>
          </a:prstGeom>
        </p:spPr>
      </p:pic>
      <p:sp>
        <p:nvSpPr>
          <p:cNvPr id="10" name="Text 7"/>
          <p:cNvSpPr txBox="1"/>
          <p:nvPr/>
        </p:nvSpPr>
        <p:spPr>
          <a:xfrm>
            <a:off x="1554480" y="1554480"/>
            <a:ext cx="4297680" cy="548640"/>
          </a:xfrm>
          <a:prstGeom prst="rect">
            <a:avLst/>
          </a:prstGeom>
          <a:noFill/>
          <a:ln/>
        </p:spPr>
        <p:txBody>
          <a:bodyPr wrap="square" lIns="0" tIns="0" rIns="0" bIns="0" rtlCol="0" anchor="ctr"/>
          <a:lstStyle/>
          <a:p>
            <a:pPr marL="0" indent="0">
              <a:buNone/>
            </a:pPr>
            <a:r>
              <a:rPr lang="en-US" sz="2000" b="1" dirty="0">
                <a:solidFill>
                  <a:srgbClr val="B8621B"/>
                </a:solidFill>
                <a:latin typeface="Calibri" pitchFamily="34" charset="0"/>
                <a:ea typeface="Calibri" pitchFamily="34" charset="-122"/>
                <a:cs typeface="Calibri" pitchFamily="34" charset="-120"/>
              </a:rPr>
              <a:t>Tested and rejected: a recency rule</a:t>
            </a:r>
            <a:endParaRPr lang="en-US" sz="2000" dirty="0"/>
          </a:p>
        </p:txBody>
      </p:sp>
      <p:sp>
        <p:nvSpPr>
          <p:cNvPr id="11" name="Text 8"/>
          <p:cNvSpPr txBox="1"/>
          <p:nvPr/>
        </p:nvSpPr>
        <p:spPr>
          <a:xfrm>
            <a:off x="868680" y="2286000"/>
            <a:ext cx="4846320" cy="91440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Rule: a listing not returned within 7 days = taken down. Measured on the aggregator listings, it would have marked</a:t>
            </a:r>
            <a:endParaRPr lang="en-US" sz="1400" dirty="0"/>
          </a:p>
        </p:txBody>
      </p:sp>
      <p:sp>
        <p:nvSpPr>
          <p:cNvPr id="12" name="Text 9"/>
          <p:cNvSpPr txBox="1"/>
          <p:nvPr/>
        </p:nvSpPr>
        <p:spPr>
          <a:xfrm>
            <a:off x="868680" y="3246120"/>
            <a:ext cx="4846320" cy="914400"/>
          </a:xfrm>
          <a:prstGeom prst="rect">
            <a:avLst/>
          </a:prstGeom>
          <a:noFill/>
          <a:ln/>
        </p:spPr>
        <p:txBody>
          <a:bodyPr wrap="square" lIns="0" tIns="0" rIns="0" bIns="0" rtlCol="0" anchor="ctr"/>
          <a:lstStyle/>
          <a:p>
            <a:pPr marL="0" indent="0">
              <a:buNone/>
            </a:pPr>
            <a:r>
              <a:rPr lang="en-US" sz="6000" b="1" dirty="0">
                <a:solidFill>
                  <a:srgbClr val="B8621B"/>
                </a:solidFill>
                <a:latin typeface="Calibri" pitchFamily="34" charset="0"/>
                <a:ea typeface="Calibri" pitchFamily="34" charset="-122"/>
                <a:cs typeface="Calibri" pitchFamily="34" charset="-120"/>
              </a:rPr>
              <a:t>89.3%</a:t>
            </a:r>
            <a:endParaRPr lang="en-US" sz="6000" dirty="0"/>
          </a:p>
        </p:txBody>
      </p:sp>
      <p:sp>
        <p:nvSpPr>
          <p:cNvPr id="13" name="Text 10"/>
          <p:cNvSpPr txBox="1"/>
          <p:nvPr/>
        </p:nvSpPr>
        <p:spPr>
          <a:xfrm>
            <a:off x="868680" y="4206240"/>
            <a:ext cx="4846320" cy="91440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of Jooble and JSearch listings as taken down (9,851 of 11,032), against 5.2% on employer boards. Every test would still have passed.</a:t>
            </a:r>
            <a:endParaRPr lang="en-US" sz="1400" dirty="0"/>
          </a:p>
        </p:txBody>
      </p:sp>
      <p:sp>
        <p:nvSpPr>
          <p:cNvPr id="14" name="Shape 11"/>
          <p:cNvSpPr/>
          <p:nvPr/>
        </p:nvSpPr>
        <p:spPr>
          <a:xfrm>
            <a:off x="6355080" y="1325880"/>
            <a:ext cx="5287975" cy="4800600"/>
          </a:xfrm>
          <a:prstGeom prst="roundRect">
            <a:avLst>
              <a:gd name="adj" fmla="val 2286"/>
            </a:avLst>
          </a:prstGeom>
          <a:solidFill>
            <a:srgbClr val="EAF6EE"/>
          </a:solidFill>
          <a:ln w="12700">
            <a:solidFill>
              <a:srgbClr val="EAF6EE"/>
            </a:solidFill>
            <a:prstDash val="solid"/>
          </a:ln>
        </p:spPr>
        <p:txBody>
          <a:bodyPr/>
          <a:lstStyle/>
          <a:p>
            <a:endParaRPr/>
          </a:p>
        </p:txBody>
      </p:sp>
      <p:sp>
        <p:nvSpPr>
          <p:cNvPr id="15" name="Shape 12"/>
          <p:cNvSpPr/>
          <p:nvPr/>
        </p:nvSpPr>
        <p:spPr>
          <a:xfrm>
            <a:off x="6629400" y="1554480"/>
            <a:ext cx="548640" cy="548640"/>
          </a:xfrm>
          <a:prstGeom prst="ellipse">
            <a:avLst/>
          </a:prstGeom>
          <a:solidFill>
            <a:srgbClr val="12825A"/>
          </a:solidFill>
          <a:ln w="12700">
            <a:solidFill>
              <a:srgbClr val="12825A"/>
            </a:solidFill>
            <a:prstDash val="solid"/>
          </a:ln>
        </p:spPr>
        <p:txBody>
          <a:bodyPr/>
          <a:lstStyle/>
          <a:p>
            <a:endParaRPr/>
          </a:p>
        </p:txBody>
      </p:sp>
      <p:pic>
        <p:nvPicPr>
          <p:cNvPr id="16" name="Image 1" descr="preencoded.png"/>
          <p:cNvPicPr>
            <a:picLocks noChangeAspect="1"/>
          </p:cNvPicPr>
          <p:nvPr/>
        </p:nvPicPr>
        <p:blipFill>
          <a:blip r:embed="rId4"/>
          <a:stretch>
            <a:fillRect/>
          </a:stretch>
        </p:blipFill>
        <p:spPr>
          <a:xfrm>
            <a:off x="6761074" y="1686154"/>
            <a:ext cx="285293" cy="285293"/>
          </a:xfrm>
          <a:prstGeom prst="rect">
            <a:avLst/>
          </a:prstGeom>
        </p:spPr>
      </p:pic>
      <p:sp>
        <p:nvSpPr>
          <p:cNvPr id="17" name="Text 13"/>
          <p:cNvSpPr txBox="1"/>
          <p:nvPr/>
        </p:nvSpPr>
        <p:spPr>
          <a:xfrm>
            <a:off x="7360920" y="1554480"/>
            <a:ext cx="4099255" cy="548640"/>
          </a:xfrm>
          <a:prstGeom prst="rect">
            <a:avLst/>
          </a:prstGeom>
          <a:noFill/>
          <a:ln/>
        </p:spPr>
        <p:txBody>
          <a:bodyPr wrap="square" lIns="0" tIns="0" rIns="0" bIns="0" rtlCol="0" anchor="ctr"/>
          <a:lstStyle/>
          <a:p>
            <a:pPr marL="0" indent="0">
              <a:buNone/>
            </a:pPr>
            <a:r>
              <a:rPr lang="en-US" sz="2000" b="1" dirty="0">
                <a:solidFill>
                  <a:srgbClr val="12825A"/>
                </a:solidFill>
                <a:latin typeface="Calibri" pitchFamily="34" charset="0"/>
                <a:ea typeface="Calibri" pitchFamily="34" charset="-122"/>
                <a:cs typeface="Calibri" pitchFamily="34" charset="-120"/>
              </a:rPr>
              <a:t>In the model: employer-board evidence</a:t>
            </a:r>
            <a:endParaRPr lang="en-US" sz="2000" dirty="0"/>
          </a:p>
        </p:txBody>
      </p:sp>
      <p:sp>
        <p:nvSpPr>
          <p:cNvPr id="18" name="Text 14"/>
          <p:cNvSpPr txBox="1"/>
          <p:nvPr/>
        </p:nvSpPr>
        <p:spPr>
          <a:xfrm>
            <a:off x="6675120" y="2286000"/>
            <a:ext cx="4647895"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An employer board lists every open job, so a job that leaves it has disappeared</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A search result is a ranked sample, so a missing aggregator job proves nothing</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lifecycle_status: open, disappeared, or unknown (aggregators only); status_basis says why</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Tests: unknown exactly for aggregator-only jobs; a collapsed ATS pull stops the build</a:t>
            </a:r>
            <a:endParaRPr lang="en-US" sz="1400" dirty="0"/>
          </a:p>
        </p:txBody>
      </p:sp>
      <p:sp>
        <p:nvSpPr>
          <p:cNvPr id="19" name="Text 15"/>
          <p:cNvSpPr txBox="1"/>
          <p:nvPr/>
        </p:nvSpPr>
        <p:spPr>
          <a:xfrm>
            <a:off x="6675120" y="4892040"/>
            <a:ext cx="1549298"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2,584</a:t>
            </a:r>
            <a:endParaRPr lang="en-US" sz="2600" dirty="0"/>
          </a:p>
        </p:txBody>
      </p:sp>
      <p:sp>
        <p:nvSpPr>
          <p:cNvPr id="20" name="Text 16"/>
          <p:cNvSpPr txBox="1"/>
          <p:nvPr/>
        </p:nvSpPr>
        <p:spPr>
          <a:xfrm>
            <a:off x="6675120" y="5440680"/>
            <a:ext cx="1549298" cy="320040"/>
          </a:xfrm>
          <a:prstGeom prst="rect">
            <a:avLst/>
          </a:prstGeom>
          <a:noFill/>
          <a:ln/>
        </p:spPr>
        <p:txBody>
          <a:bodyPr wrap="square" lIns="0" tIns="0" rIns="0" bIns="0" rtlCol="0" anchor="ctr"/>
          <a:lstStyle/>
          <a:p>
            <a:pPr marL="0" indent="0" algn="ctr">
              <a:buNone/>
            </a:pPr>
            <a:r>
              <a:rPr lang="en-US" sz="1200" dirty="0">
                <a:solidFill>
                  <a:srgbClr val="5B6475"/>
                </a:solidFill>
                <a:latin typeface="Calibri" pitchFamily="34" charset="0"/>
                <a:ea typeface="Calibri" pitchFamily="34" charset="-122"/>
                <a:cs typeface="Calibri" pitchFamily="34" charset="-120"/>
              </a:rPr>
              <a:t>open</a:t>
            </a:r>
            <a:endParaRPr lang="en-US" sz="1200" dirty="0"/>
          </a:p>
        </p:txBody>
      </p:sp>
      <p:sp>
        <p:nvSpPr>
          <p:cNvPr id="21" name="Text 17"/>
          <p:cNvSpPr txBox="1"/>
          <p:nvPr/>
        </p:nvSpPr>
        <p:spPr>
          <a:xfrm>
            <a:off x="8224418" y="4892040"/>
            <a:ext cx="1549298"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177</a:t>
            </a:r>
            <a:endParaRPr lang="en-US" sz="2600" dirty="0"/>
          </a:p>
        </p:txBody>
      </p:sp>
      <p:sp>
        <p:nvSpPr>
          <p:cNvPr id="22" name="Text 18"/>
          <p:cNvSpPr txBox="1"/>
          <p:nvPr/>
        </p:nvSpPr>
        <p:spPr>
          <a:xfrm>
            <a:off x="8224418" y="5440680"/>
            <a:ext cx="1549298" cy="320040"/>
          </a:xfrm>
          <a:prstGeom prst="rect">
            <a:avLst/>
          </a:prstGeom>
          <a:noFill/>
          <a:ln/>
        </p:spPr>
        <p:txBody>
          <a:bodyPr wrap="square" lIns="0" tIns="0" rIns="0" bIns="0" rtlCol="0" anchor="ctr"/>
          <a:lstStyle/>
          <a:p>
            <a:pPr marL="0" indent="0" algn="ctr">
              <a:buNone/>
            </a:pPr>
            <a:r>
              <a:rPr lang="en-US" sz="1200" dirty="0">
                <a:solidFill>
                  <a:srgbClr val="5B6475"/>
                </a:solidFill>
                <a:latin typeface="Calibri" pitchFamily="34" charset="0"/>
                <a:ea typeface="Calibri" pitchFamily="34" charset="-122"/>
                <a:cs typeface="Calibri" pitchFamily="34" charset="-120"/>
              </a:rPr>
              <a:t>disappeared</a:t>
            </a:r>
            <a:endParaRPr lang="en-US" sz="1200" dirty="0"/>
          </a:p>
        </p:txBody>
      </p:sp>
      <p:sp>
        <p:nvSpPr>
          <p:cNvPr id="23" name="Text 19"/>
          <p:cNvSpPr txBox="1"/>
          <p:nvPr/>
        </p:nvSpPr>
        <p:spPr>
          <a:xfrm>
            <a:off x="9773717" y="4892040"/>
            <a:ext cx="1549298"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2,761</a:t>
            </a:r>
            <a:endParaRPr lang="en-US" sz="2600" dirty="0"/>
          </a:p>
        </p:txBody>
      </p:sp>
      <p:sp>
        <p:nvSpPr>
          <p:cNvPr id="24" name="Text 20"/>
          <p:cNvSpPr txBox="1"/>
          <p:nvPr/>
        </p:nvSpPr>
        <p:spPr>
          <a:xfrm>
            <a:off x="9773717" y="5440680"/>
            <a:ext cx="1549298" cy="320040"/>
          </a:xfrm>
          <a:prstGeom prst="rect">
            <a:avLst/>
          </a:prstGeom>
          <a:noFill/>
          <a:ln/>
        </p:spPr>
        <p:txBody>
          <a:bodyPr wrap="square" lIns="0" tIns="0" rIns="0" bIns="0" rtlCol="0" anchor="ctr"/>
          <a:lstStyle/>
          <a:p>
            <a:pPr marL="0" indent="0" algn="ctr">
              <a:buNone/>
            </a:pPr>
            <a:r>
              <a:rPr lang="en-US" sz="1200" dirty="0">
                <a:solidFill>
                  <a:srgbClr val="5B6475"/>
                </a:solidFill>
                <a:latin typeface="Calibri" pitchFamily="34" charset="0"/>
                <a:ea typeface="Calibri" pitchFamily="34" charset="-122"/>
                <a:cs typeface="Calibri" pitchFamily="34" charset="-120"/>
              </a:rPr>
              <a:t>tracked jobs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10</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Landing zone: ADLS Gen2 raw container</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Storage account stjobdata26 · container raw/</a:t>
            </a:r>
            <a:endParaRPr lang="en-US" sz="1500" dirty="0"/>
          </a:p>
        </p:txBody>
      </p:sp>
      <p:sp>
        <p:nvSpPr>
          <p:cNvPr id="6" name="Shape 4"/>
          <p:cNvSpPr/>
          <p:nvPr/>
        </p:nvSpPr>
        <p:spPr>
          <a:xfrm>
            <a:off x="9265615" y="475488"/>
            <a:ext cx="2377440" cy="384048"/>
          </a:xfrm>
          <a:prstGeom prst="roundRect">
            <a:avLst>
              <a:gd name="adj" fmla="val 50000"/>
            </a:avLst>
          </a:prstGeom>
          <a:solidFill>
            <a:srgbClr val="FDF1E7"/>
          </a:solidFill>
          <a:ln w="12700">
            <a:solidFill>
              <a:srgbClr val="F0B887"/>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B8621B"/>
                </a:solidFill>
                <a:latin typeface="Calibri" pitchFamily="34" charset="0"/>
                <a:ea typeface="Calibri" pitchFamily="34" charset="-122"/>
                <a:cs typeface="Calibri" pitchFamily="34" charset="-120"/>
              </a:rPr>
              <a:t>Land</a:t>
            </a:r>
            <a:endParaRPr lang="en-US" sz="1200" dirty="0"/>
          </a:p>
        </p:txBody>
      </p:sp>
      <p:sp>
        <p:nvSpPr>
          <p:cNvPr id="8" name="Shape 6"/>
          <p:cNvSpPr/>
          <p:nvPr/>
        </p:nvSpPr>
        <p:spPr>
          <a:xfrm>
            <a:off x="548640" y="1554480"/>
            <a:ext cx="5577840" cy="4526280"/>
          </a:xfrm>
          <a:prstGeom prst="roundRect">
            <a:avLst>
              <a:gd name="adj" fmla="val 2424"/>
            </a:avLst>
          </a:prstGeom>
          <a:solidFill>
            <a:srgbClr val="1E2A3F"/>
          </a:solidFill>
          <a:ln w="12700">
            <a:solidFill>
              <a:srgbClr val="1E2A3F"/>
            </a:solidFill>
            <a:prstDash val="solid"/>
          </a:ln>
        </p:spPr>
        <p:txBody>
          <a:bodyPr/>
          <a:lstStyle/>
          <a:p>
            <a:endParaRPr/>
          </a:p>
        </p:txBody>
      </p:sp>
      <p:sp>
        <p:nvSpPr>
          <p:cNvPr id="9" name="Text 7"/>
          <p:cNvSpPr txBox="1"/>
          <p:nvPr/>
        </p:nvSpPr>
        <p:spPr>
          <a:xfrm>
            <a:off x="868680" y="1783080"/>
            <a:ext cx="5029200" cy="4114800"/>
          </a:xfrm>
          <a:prstGeom prst="rect">
            <a:avLst/>
          </a:prstGeom>
          <a:noFill/>
          <a:ln/>
        </p:spPr>
        <p:txBody>
          <a:bodyPr wrap="square" lIns="0" tIns="0" rIns="0" bIns="0" rtlCol="0" anchor="t"/>
          <a:lstStyle/>
          <a:p>
            <a:pPr marL="0" indent="0">
              <a:buNone/>
            </a:pPr>
            <a:r>
              <a:rPr lang="en-US" sz="1300" dirty="0">
                <a:solidFill>
                  <a:srgbClr val="E6EDF7"/>
                </a:solidFill>
                <a:latin typeface="Courier New" pitchFamily="34" charset="0"/>
                <a:ea typeface="Courier New" pitchFamily="34" charset="-122"/>
                <a:cs typeface="Courier New" pitchFamily="34" charset="-120"/>
              </a:rPr>
              <a:t>raw/</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ashby/</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 ingest_date=2026-09-28/</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 lilt-production.json</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 elevenlabs.json</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greenhouse/  smartrecruiters/  workable/</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jooble/</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 ingest_date=2026-09-27/</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 &lt;batch_id&gt;__page_001.json</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jsearch/</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 ingest_date=2026-09-28/</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 &lt;batch_id&gt;__page_001.json</a:t>
            </a:r>
            <a:endParaRPr lang="en-US" sz="1300" dirty="0"/>
          </a:p>
        </p:txBody>
      </p:sp>
      <p:sp>
        <p:nvSpPr>
          <p:cNvPr id="10" name="Shape 8"/>
          <p:cNvSpPr/>
          <p:nvPr/>
        </p:nvSpPr>
        <p:spPr>
          <a:xfrm>
            <a:off x="6492240" y="1600200"/>
            <a:ext cx="548640" cy="548640"/>
          </a:xfrm>
          <a:prstGeom prst="ellipse">
            <a:avLst/>
          </a:prstGeom>
          <a:solidFill>
            <a:srgbClr val="B8621B"/>
          </a:solidFill>
          <a:ln w="12700">
            <a:solidFill>
              <a:srgbClr val="B8621B"/>
            </a:solidFill>
            <a:prstDash val="solid"/>
          </a:ln>
        </p:spPr>
        <p:txBody>
          <a:bodyPr/>
          <a:lstStyle/>
          <a:p>
            <a:endParaRPr/>
          </a:p>
        </p:txBody>
      </p:sp>
      <p:pic>
        <p:nvPicPr>
          <p:cNvPr id="11" name="Image 0" descr="preencoded.png"/>
          <p:cNvPicPr>
            <a:picLocks noChangeAspect="1"/>
          </p:cNvPicPr>
          <p:nvPr/>
        </p:nvPicPr>
        <p:blipFill>
          <a:blip r:embed="rId3"/>
          <a:stretch>
            <a:fillRect/>
          </a:stretch>
        </p:blipFill>
        <p:spPr>
          <a:xfrm>
            <a:off x="6623914" y="1731874"/>
            <a:ext cx="285293" cy="285293"/>
          </a:xfrm>
          <a:prstGeom prst="rect">
            <a:avLst/>
          </a:prstGeom>
        </p:spPr>
      </p:pic>
      <p:sp>
        <p:nvSpPr>
          <p:cNvPr id="12" name="Text 9"/>
          <p:cNvSpPr txBox="1"/>
          <p:nvPr/>
        </p:nvSpPr>
        <p:spPr>
          <a:xfrm>
            <a:off x="7223760" y="1600200"/>
            <a:ext cx="4434840" cy="365760"/>
          </a:xfrm>
          <a:prstGeom prst="rect">
            <a:avLst/>
          </a:prstGeom>
          <a:noFill/>
          <a:ln/>
        </p:spPr>
        <p:txBody>
          <a:bodyPr wrap="square" lIns="0" tIns="0" rIns="0" bIns="0" rtlCol="0" anchor="ctr"/>
          <a:lstStyle/>
          <a:p>
            <a:pPr marL="0" indent="0">
              <a:buNone/>
            </a:pPr>
            <a:r>
              <a:rPr lang="en-US" sz="1700" b="1" dirty="0">
                <a:solidFill>
                  <a:srgbClr val="B8621B"/>
                </a:solidFill>
                <a:latin typeface="Calibri" pitchFamily="34" charset="0"/>
                <a:ea typeface="Calibri" pitchFamily="34" charset="-122"/>
                <a:cs typeface="Calibri" pitchFamily="34" charset="-120"/>
              </a:rPr>
              <a:t>One folder per source and collection date</a:t>
            </a:r>
            <a:endParaRPr lang="en-US" sz="1700" dirty="0"/>
          </a:p>
        </p:txBody>
      </p:sp>
      <p:sp>
        <p:nvSpPr>
          <p:cNvPr id="13" name="Text 10"/>
          <p:cNvSpPr txBox="1"/>
          <p:nvPr/>
        </p:nvSpPr>
        <p:spPr>
          <a:xfrm>
            <a:off x="7223760" y="2011680"/>
            <a:ext cx="4434840" cy="1005840"/>
          </a:xfrm>
          <a:prstGeom prst="rect">
            <a:avLst/>
          </a:prstGeom>
          <a:noFill/>
          <a:ln/>
        </p:spPr>
        <p:txBody>
          <a:bodyPr wrap="square" lIns="0" tIns="0" rIns="0" bIns="0" rtlCol="0" anchor="t"/>
          <a:lstStyle/>
          <a:p>
            <a:pPr marL="0" indent="0">
              <a:buNone/>
            </a:pPr>
            <a:r>
              <a:rPr lang="en-US" sz="1350" dirty="0">
                <a:solidFill>
                  <a:srgbClr val="1F2937"/>
                </a:solidFill>
                <a:latin typeface="Calibri" pitchFamily="34" charset="0"/>
                <a:ea typeface="Calibri" pitchFamily="34" charset="-122"/>
                <a:cs typeface="Calibri" pitchFamily="34" charset="-120"/>
              </a:rPr>
              <a:t>ATS: one JSON file per board per run. Aggregators: one envelope per page, with the request, HTTP status and raw response</a:t>
            </a:r>
            <a:endParaRPr lang="en-US" sz="1350" dirty="0"/>
          </a:p>
        </p:txBody>
      </p:sp>
      <p:sp>
        <p:nvSpPr>
          <p:cNvPr id="14" name="Shape 11"/>
          <p:cNvSpPr/>
          <p:nvPr/>
        </p:nvSpPr>
        <p:spPr>
          <a:xfrm>
            <a:off x="6492240" y="3108960"/>
            <a:ext cx="548640" cy="548640"/>
          </a:xfrm>
          <a:prstGeom prst="ellipse">
            <a:avLst/>
          </a:prstGeom>
          <a:solidFill>
            <a:srgbClr val="B8621B"/>
          </a:solidFill>
          <a:ln w="12700">
            <a:solidFill>
              <a:srgbClr val="B8621B"/>
            </a:solidFill>
            <a:prstDash val="solid"/>
          </a:ln>
        </p:spPr>
        <p:txBody>
          <a:bodyPr/>
          <a:lstStyle/>
          <a:p>
            <a:endParaRPr/>
          </a:p>
        </p:txBody>
      </p:sp>
      <p:pic>
        <p:nvPicPr>
          <p:cNvPr id="15" name="Image 1" descr="preencoded.png"/>
          <p:cNvPicPr>
            <a:picLocks noChangeAspect="1"/>
          </p:cNvPicPr>
          <p:nvPr/>
        </p:nvPicPr>
        <p:blipFill>
          <a:blip r:embed="rId4"/>
          <a:stretch>
            <a:fillRect/>
          </a:stretch>
        </p:blipFill>
        <p:spPr>
          <a:xfrm>
            <a:off x="6623914" y="3240634"/>
            <a:ext cx="285293" cy="285293"/>
          </a:xfrm>
          <a:prstGeom prst="rect">
            <a:avLst/>
          </a:prstGeom>
        </p:spPr>
      </p:pic>
      <p:sp>
        <p:nvSpPr>
          <p:cNvPr id="16" name="Text 12"/>
          <p:cNvSpPr txBox="1"/>
          <p:nvPr/>
        </p:nvSpPr>
        <p:spPr>
          <a:xfrm>
            <a:off x="7223760" y="3108960"/>
            <a:ext cx="4434840" cy="365760"/>
          </a:xfrm>
          <a:prstGeom prst="rect">
            <a:avLst/>
          </a:prstGeom>
          <a:noFill/>
          <a:ln/>
        </p:spPr>
        <p:txBody>
          <a:bodyPr wrap="square" lIns="0" tIns="0" rIns="0" bIns="0" rtlCol="0" anchor="ctr"/>
          <a:lstStyle/>
          <a:p>
            <a:pPr marL="0" indent="0">
              <a:buNone/>
            </a:pPr>
            <a:r>
              <a:rPr lang="en-US" sz="1700" b="1" dirty="0">
                <a:solidFill>
                  <a:srgbClr val="B8621B"/>
                </a:solidFill>
                <a:latin typeface="Calibri" pitchFamily="34" charset="0"/>
                <a:ea typeface="Calibri" pitchFamily="34" charset="-122"/>
                <a:cs typeface="Calibri" pitchFamily="34" charset="-120"/>
              </a:rPr>
              <a:t>Append-only</a:t>
            </a:r>
            <a:endParaRPr lang="en-US" sz="1700" dirty="0"/>
          </a:p>
        </p:txBody>
      </p:sp>
      <p:sp>
        <p:nvSpPr>
          <p:cNvPr id="17" name="Text 13"/>
          <p:cNvSpPr txBox="1"/>
          <p:nvPr/>
        </p:nvSpPr>
        <p:spPr>
          <a:xfrm>
            <a:off x="7223760" y="3520440"/>
            <a:ext cx="4434840" cy="1005840"/>
          </a:xfrm>
          <a:prstGeom prst="rect">
            <a:avLst/>
          </a:prstGeom>
          <a:noFill/>
          <a:ln/>
        </p:spPr>
        <p:txBody>
          <a:bodyPr wrap="square" lIns="0" tIns="0" rIns="0" bIns="0" rtlCol="0" anchor="t"/>
          <a:lstStyle/>
          <a:p>
            <a:pPr marL="0" indent="0">
              <a:buNone/>
            </a:pPr>
            <a:r>
              <a:rPr lang="en-US" sz="1350" dirty="0">
                <a:solidFill>
                  <a:srgbClr val="1F2937"/>
                </a:solidFill>
                <a:latin typeface="Calibri" pitchFamily="34" charset="0"/>
                <a:ea typeface="Calibri" pitchFamily="34" charset="-122"/>
                <a:cs typeface="Calibri" pitchFamily="34" charset="-120"/>
              </a:rPr>
              <a:t>upload_to_adls.py never overwrites a file; raw/ is never edited or deleted. 3,007 files landed</a:t>
            </a:r>
            <a:endParaRPr lang="en-US" sz="1350" dirty="0"/>
          </a:p>
        </p:txBody>
      </p:sp>
      <p:sp>
        <p:nvSpPr>
          <p:cNvPr id="18" name="Shape 14"/>
          <p:cNvSpPr/>
          <p:nvPr/>
        </p:nvSpPr>
        <p:spPr>
          <a:xfrm>
            <a:off x="6492240" y="4617720"/>
            <a:ext cx="548640" cy="548640"/>
          </a:xfrm>
          <a:prstGeom prst="ellipse">
            <a:avLst/>
          </a:prstGeom>
          <a:solidFill>
            <a:srgbClr val="B8621B"/>
          </a:solidFill>
          <a:ln w="12700">
            <a:solidFill>
              <a:srgbClr val="B8621B"/>
            </a:solidFill>
            <a:prstDash val="solid"/>
          </a:ln>
        </p:spPr>
        <p:txBody>
          <a:bodyPr/>
          <a:lstStyle/>
          <a:p>
            <a:endParaRPr/>
          </a:p>
        </p:txBody>
      </p:sp>
      <p:pic>
        <p:nvPicPr>
          <p:cNvPr id="19" name="Image 2" descr="preencoded.png"/>
          <p:cNvPicPr>
            <a:picLocks noChangeAspect="1"/>
          </p:cNvPicPr>
          <p:nvPr/>
        </p:nvPicPr>
        <p:blipFill>
          <a:blip r:embed="rId5"/>
          <a:stretch>
            <a:fillRect/>
          </a:stretch>
        </p:blipFill>
        <p:spPr>
          <a:xfrm>
            <a:off x="6623914" y="4749394"/>
            <a:ext cx="285293" cy="285293"/>
          </a:xfrm>
          <a:prstGeom prst="rect">
            <a:avLst/>
          </a:prstGeom>
        </p:spPr>
      </p:pic>
      <p:sp>
        <p:nvSpPr>
          <p:cNvPr id="20" name="Text 15"/>
          <p:cNvSpPr txBox="1"/>
          <p:nvPr/>
        </p:nvSpPr>
        <p:spPr>
          <a:xfrm>
            <a:off x="7223760" y="4617720"/>
            <a:ext cx="4434840" cy="365760"/>
          </a:xfrm>
          <a:prstGeom prst="rect">
            <a:avLst/>
          </a:prstGeom>
          <a:noFill/>
          <a:ln/>
        </p:spPr>
        <p:txBody>
          <a:bodyPr wrap="square" lIns="0" tIns="0" rIns="0" bIns="0" rtlCol="0" anchor="ctr"/>
          <a:lstStyle/>
          <a:p>
            <a:pPr marL="0" indent="0">
              <a:buNone/>
            </a:pPr>
            <a:r>
              <a:rPr lang="en-US" sz="1700" b="1" dirty="0">
                <a:solidFill>
                  <a:srgbClr val="B8621B"/>
                </a:solidFill>
                <a:latin typeface="Calibri" pitchFamily="34" charset="0"/>
                <a:ea typeface="Calibri" pitchFamily="34" charset="-122"/>
                <a:cs typeface="Calibri" pitchFamily="34" charset="-120"/>
              </a:rPr>
              <a:t>Traceable</a:t>
            </a:r>
            <a:endParaRPr lang="en-US" sz="1700" dirty="0"/>
          </a:p>
        </p:txBody>
      </p:sp>
      <p:sp>
        <p:nvSpPr>
          <p:cNvPr id="21" name="Text 16"/>
          <p:cNvSpPr txBox="1"/>
          <p:nvPr/>
        </p:nvSpPr>
        <p:spPr>
          <a:xfrm>
            <a:off x="7223760" y="5029200"/>
            <a:ext cx="4434840" cy="1005840"/>
          </a:xfrm>
          <a:prstGeom prst="rect">
            <a:avLst/>
          </a:prstGeom>
          <a:noFill/>
          <a:ln/>
        </p:spPr>
        <p:txBody>
          <a:bodyPr wrap="square" lIns="0" tIns="0" rIns="0" bIns="0" rtlCol="0" anchor="t"/>
          <a:lstStyle/>
          <a:p>
            <a:pPr marL="0" indent="0">
              <a:buNone/>
            </a:pPr>
            <a:r>
              <a:rPr lang="en-US" sz="1350" dirty="0">
                <a:solidFill>
                  <a:srgbClr val="1F2937"/>
                </a:solidFill>
                <a:latin typeface="Calibri" pitchFamily="34" charset="0"/>
                <a:ea typeface="Calibri" pitchFamily="34" charset="-122"/>
                <a:cs typeface="Calibri" pitchFamily="34" charset="-120"/>
              </a:rPr>
              <a:t>extract_log.csv and query_log.csv record every board and page, with row counts and a SHA-256 of each file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11</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Connecting ADLS to Snowflake</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An external stage points at the raw container; COPY INTO loads new files into RAW tables</a:t>
            </a:r>
            <a:endParaRPr lang="en-US" sz="1500" dirty="0"/>
          </a:p>
        </p:txBody>
      </p:sp>
      <p:sp>
        <p:nvSpPr>
          <p:cNvPr id="6" name="Shape 4"/>
          <p:cNvSpPr/>
          <p:nvPr/>
        </p:nvSpPr>
        <p:spPr>
          <a:xfrm>
            <a:off x="9265615" y="475488"/>
            <a:ext cx="2377440" cy="384048"/>
          </a:xfrm>
          <a:prstGeom prst="roundRect">
            <a:avLst>
              <a:gd name="adj" fmla="val 50000"/>
            </a:avLst>
          </a:prstGeom>
          <a:solidFill>
            <a:srgbClr val="E8F3FB"/>
          </a:solidFill>
          <a:ln w="12700">
            <a:solidFill>
              <a:srgbClr val="8CC4EA"/>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1F6FA8"/>
                </a:solidFill>
                <a:latin typeface="Calibri" pitchFamily="34" charset="0"/>
                <a:ea typeface="Calibri" pitchFamily="34" charset="-122"/>
                <a:cs typeface="Calibri" pitchFamily="34" charset="-120"/>
              </a:rPr>
              <a:t>Load</a:t>
            </a:r>
            <a:endParaRPr lang="en-US" sz="1200" dirty="0"/>
          </a:p>
        </p:txBody>
      </p:sp>
      <p:sp>
        <p:nvSpPr>
          <p:cNvPr id="8" name="Shape 6"/>
          <p:cNvSpPr/>
          <p:nvPr/>
        </p:nvSpPr>
        <p:spPr>
          <a:xfrm>
            <a:off x="548640" y="1783080"/>
            <a:ext cx="2468880" cy="1600200"/>
          </a:xfrm>
          <a:prstGeom prst="roundRect">
            <a:avLst>
              <a:gd name="adj" fmla="val 6857"/>
            </a:avLst>
          </a:prstGeom>
          <a:solidFill>
            <a:srgbClr val="FDF1E7"/>
          </a:solidFill>
          <a:ln w="12700">
            <a:solidFill>
              <a:srgbClr val="F0B887"/>
            </a:solidFill>
            <a:prstDash val="solid"/>
          </a:ln>
        </p:spPr>
        <p:txBody>
          <a:bodyPr/>
          <a:lstStyle/>
          <a:p>
            <a:endParaRPr/>
          </a:p>
        </p:txBody>
      </p:sp>
      <p:sp>
        <p:nvSpPr>
          <p:cNvPr id="9" name="Text 7"/>
          <p:cNvSpPr txBox="1"/>
          <p:nvPr/>
        </p:nvSpPr>
        <p:spPr>
          <a:xfrm>
            <a:off x="685800" y="1965960"/>
            <a:ext cx="2194560" cy="411480"/>
          </a:xfrm>
          <a:prstGeom prst="rect">
            <a:avLst/>
          </a:prstGeom>
          <a:noFill/>
          <a:ln/>
        </p:spPr>
        <p:txBody>
          <a:bodyPr wrap="square" lIns="0" tIns="0" rIns="0" bIns="0" rtlCol="0" anchor="ctr"/>
          <a:lstStyle/>
          <a:p>
            <a:pPr marL="0" indent="0" algn="ctr">
              <a:buNone/>
            </a:pPr>
            <a:r>
              <a:rPr lang="en-US" sz="1700" b="1" dirty="0">
                <a:solidFill>
                  <a:srgbClr val="B8621B"/>
                </a:solidFill>
                <a:latin typeface="Calibri" pitchFamily="34" charset="0"/>
                <a:ea typeface="Calibri" pitchFamily="34" charset="-122"/>
                <a:cs typeface="Calibri" pitchFamily="34" charset="-120"/>
              </a:rPr>
              <a:t>ADLS raw/</a:t>
            </a:r>
            <a:endParaRPr lang="en-US" sz="1700" dirty="0"/>
          </a:p>
        </p:txBody>
      </p:sp>
      <p:sp>
        <p:nvSpPr>
          <p:cNvPr id="10" name="Text 8"/>
          <p:cNvSpPr txBox="1"/>
          <p:nvPr/>
        </p:nvSpPr>
        <p:spPr>
          <a:xfrm>
            <a:off x="685800" y="2423160"/>
            <a:ext cx="2194560" cy="822960"/>
          </a:xfrm>
          <a:prstGeom prst="rect">
            <a:avLst/>
          </a:prstGeom>
          <a:noFill/>
          <a:ln/>
        </p:spPr>
        <p:txBody>
          <a:bodyPr wrap="square" lIns="0" tIns="0" rIns="0" bIns="0" rtlCol="0" anchor="ctr"/>
          <a:lstStyle/>
          <a:p>
            <a:pPr marL="0" indent="0" algn="ctr">
              <a:buNone/>
            </a:pPr>
            <a:r>
              <a:rPr lang="en-US" sz="1200" dirty="0">
                <a:solidFill>
                  <a:srgbClr val="1F2937"/>
                </a:solidFill>
                <a:latin typeface="Calibri" pitchFamily="34" charset="0"/>
                <a:ea typeface="Calibri" pitchFamily="34" charset="-122"/>
                <a:cs typeface="Calibri" pitchFamily="34" charset="-120"/>
              </a:rPr>
              <a:t>JSON files per source and date</a:t>
            </a:r>
            <a:endParaRPr lang="en-US" sz="1200" dirty="0"/>
          </a:p>
        </p:txBody>
      </p:sp>
      <p:sp>
        <p:nvSpPr>
          <p:cNvPr id="11" name="Shape 9"/>
          <p:cNvSpPr/>
          <p:nvPr/>
        </p:nvSpPr>
        <p:spPr>
          <a:xfrm>
            <a:off x="3054096" y="2583180"/>
            <a:ext cx="310896" cy="0"/>
          </a:xfrm>
          <a:prstGeom prst="line">
            <a:avLst/>
          </a:prstGeom>
          <a:noFill/>
          <a:ln w="22225">
            <a:solidFill>
              <a:srgbClr val="14213D"/>
            </a:solidFill>
            <a:prstDash val="solid"/>
            <a:tailEnd type="triangle"/>
          </a:ln>
        </p:spPr>
        <p:txBody>
          <a:bodyPr/>
          <a:lstStyle/>
          <a:p>
            <a:endParaRPr/>
          </a:p>
        </p:txBody>
      </p:sp>
      <p:sp>
        <p:nvSpPr>
          <p:cNvPr id="12" name="Shape 10"/>
          <p:cNvSpPr/>
          <p:nvPr/>
        </p:nvSpPr>
        <p:spPr>
          <a:xfrm>
            <a:off x="3401568" y="1783080"/>
            <a:ext cx="2468880" cy="1600200"/>
          </a:xfrm>
          <a:prstGeom prst="roundRect">
            <a:avLst>
              <a:gd name="adj" fmla="val 6857"/>
            </a:avLst>
          </a:prstGeom>
          <a:solidFill>
            <a:srgbClr val="E8F3FB"/>
          </a:solidFill>
          <a:ln w="12700">
            <a:solidFill>
              <a:srgbClr val="8CC4EA"/>
            </a:solidFill>
            <a:prstDash val="solid"/>
          </a:ln>
        </p:spPr>
        <p:txBody>
          <a:bodyPr/>
          <a:lstStyle/>
          <a:p>
            <a:endParaRPr/>
          </a:p>
        </p:txBody>
      </p:sp>
      <p:sp>
        <p:nvSpPr>
          <p:cNvPr id="13" name="Text 11"/>
          <p:cNvSpPr txBox="1"/>
          <p:nvPr/>
        </p:nvSpPr>
        <p:spPr>
          <a:xfrm>
            <a:off x="3538728" y="1965960"/>
            <a:ext cx="2194560" cy="411480"/>
          </a:xfrm>
          <a:prstGeom prst="rect">
            <a:avLst/>
          </a:prstGeom>
          <a:noFill/>
          <a:ln/>
        </p:spPr>
        <p:txBody>
          <a:bodyPr wrap="square" lIns="0" tIns="0" rIns="0" bIns="0" rtlCol="0" anchor="ctr"/>
          <a:lstStyle/>
          <a:p>
            <a:pPr marL="0" indent="0" algn="ctr">
              <a:buNone/>
            </a:pPr>
            <a:r>
              <a:rPr lang="en-US" sz="1700" b="1" dirty="0">
                <a:solidFill>
                  <a:srgbClr val="1F6FA8"/>
                </a:solidFill>
                <a:latin typeface="Calibri" pitchFamily="34" charset="0"/>
                <a:ea typeface="Calibri" pitchFamily="34" charset="-122"/>
                <a:cs typeface="Calibri" pitchFamily="34" charset="-120"/>
              </a:rPr>
              <a:t>External stage</a:t>
            </a:r>
            <a:endParaRPr lang="en-US" sz="1700" dirty="0"/>
          </a:p>
        </p:txBody>
      </p:sp>
      <p:sp>
        <p:nvSpPr>
          <p:cNvPr id="14" name="Text 12"/>
          <p:cNvSpPr txBox="1"/>
          <p:nvPr/>
        </p:nvSpPr>
        <p:spPr>
          <a:xfrm>
            <a:off x="3538728" y="2423160"/>
            <a:ext cx="2194560" cy="822960"/>
          </a:xfrm>
          <a:prstGeom prst="rect">
            <a:avLst/>
          </a:prstGeom>
          <a:noFill/>
          <a:ln/>
        </p:spPr>
        <p:txBody>
          <a:bodyPr wrap="square" lIns="0" tIns="0" rIns="0" bIns="0" rtlCol="0" anchor="ctr"/>
          <a:lstStyle/>
          <a:p>
            <a:pPr marL="0" indent="0" algn="ctr">
              <a:buNone/>
            </a:pPr>
            <a:r>
              <a:rPr lang="en-US" sz="1200" dirty="0">
                <a:solidFill>
                  <a:srgbClr val="1F2937"/>
                </a:solidFill>
                <a:latin typeface="Calibri" pitchFamily="34" charset="0"/>
                <a:ea typeface="Calibri" pitchFamily="34" charset="-122"/>
                <a:cs typeface="Calibri" pitchFamily="34" charset="-120"/>
              </a:rPr>
              <a:t>raw_stage: azure://stjobdata26 … /raw/ with a SAS token</a:t>
            </a:r>
            <a:endParaRPr lang="en-US" sz="1200" dirty="0"/>
          </a:p>
        </p:txBody>
      </p:sp>
      <p:sp>
        <p:nvSpPr>
          <p:cNvPr id="15" name="Shape 13"/>
          <p:cNvSpPr/>
          <p:nvPr/>
        </p:nvSpPr>
        <p:spPr>
          <a:xfrm>
            <a:off x="5907024" y="2583180"/>
            <a:ext cx="310896" cy="0"/>
          </a:xfrm>
          <a:prstGeom prst="line">
            <a:avLst/>
          </a:prstGeom>
          <a:noFill/>
          <a:ln w="22225">
            <a:solidFill>
              <a:srgbClr val="14213D"/>
            </a:solidFill>
            <a:prstDash val="solid"/>
            <a:tailEnd type="triangle"/>
          </a:ln>
        </p:spPr>
        <p:txBody>
          <a:bodyPr/>
          <a:lstStyle/>
          <a:p>
            <a:endParaRPr/>
          </a:p>
        </p:txBody>
      </p:sp>
      <p:sp>
        <p:nvSpPr>
          <p:cNvPr id="16" name="Shape 14"/>
          <p:cNvSpPr/>
          <p:nvPr/>
        </p:nvSpPr>
        <p:spPr>
          <a:xfrm>
            <a:off x="6254496" y="1783080"/>
            <a:ext cx="2468880" cy="1600200"/>
          </a:xfrm>
          <a:prstGeom prst="roundRect">
            <a:avLst>
              <a:gd name="adj" fmla="val 6857"/>
            </a:avLst>
          </a:prstGeom>
          <a:solidFill>
            <a:srgbClr val="E8F3FB"/>
          </a:solidFill>
          <a:ln w="12700">
            <a:solidFill>
              <a:srgbClr val="8CC4EA"/>
            </a:solidFill>
            <a:prstDash val="solid"/>
          </a:ln>
        </p:spPr>
        <p:txBody>
          <a:bodyPr/>
          <a:lstStyle/>
          <a:p>
            <a:endParaRPr/>
          </a:p>
        </p:txBody>
      </p:sp>
      <p:sp>
        <p:nvSpPr>
          <p:cNvPr id="17" name="Text 15"/>
          <p:cNvSpPr txBox="1"/>
          <p:nvPr/>
        </p:nvSpPr>
        <p:spPr>
          <a:xfrm>
            <a:off x="6391656" y="1965960"/>
            <a:ext cx="2194560" cy="411480"/>
          </a:xfrm>
          <a:prstGeom prst="rect">
            <a:avLst/>
          </a:prstGeom>
          <a:noFill/>
          <a:ln/>
        </p:spPr>
        <p:txBody>
          <a:bodyPr wrap="square" lIns="0" tIns="0" rIns="0" bIns="0" rtlCol="0" anchor="ctr"/>
          <a:lstStyle/>
          <a:p>
            <a:pPr marL="0" indent="0" algn="ctr">
              <a:buNone/>
            </a:pPr>
            <a:r>
              <a:rPr lang="en-US" sz="1700" b="1" dirty="0">
                <a:solidFill>
                  <a:srgbClr val="1F6FA8"/>
                </a:solidFill>
                <a:latin typeface="Calibri" pitchFamily="34" charset="0"/>
                <a:ea typeface="Calibri" pitchFamily="34" charset="-122"/>
                <a:cs typeface="Calibri" pitchFamily="34" charset="-120"/>
              </a:rPr>
              <a:t>COPY INTO</a:t>
            </a:r>
            <a:endParaRPr lang="en-US" sz="1700" dirty="0"/>
          </a:p>
        </p:txBody>
      </p:sp>
      <p:sp>
        <p:nvSpPr>
          <p:cNvPr id="18" name="Text 16"/>
          <p:cNvSpPr txBox="1"/>
          <p:nvPr/>
        </p:nvSpPr>
        <p:spPr>
          <a:xfrm>
            <a:off x="6391656" y="2423160"/>
            <a:ext cx="2194560" cy="822960"/>
          </a:xfrm>
          <a:prstGeom prst="rect">
            <a:avLst/>
          </a:prstGeom>
          <a:noFill/>
          <a:ln/>
        </p:spPr>
        <p:txBody>
          <a:bodyPr wrap="square" lIns="0" tIns="0" rIns="0" bIns="0" rtlCol="0" anchor="ctr"/>
          <a:lstStyle/>
          <a:p>
            <a:pPr marL="0" indent="0" algn="ctr">
              <a:buNone/>
            </a:pPr>
            <a:r>
              <a:rPr lang="en-US" sz="1200" dirty="0">
                <a:solidFill>
                  <a:srgbClr val="1F2937"/>
                </a:solidFill>
                <a:latin typeface="Calibri" pitchFamily="34" charset="0"/>
                <a:ea typeface="Calibri" pitchFamily="34" charset="-122"/>
                <a:cs typeface="Calibri" pitchFamily="34" charset="-120"/>
              </a:rPr>
              <a:t>dbt run-operation load_raw: $1 + metadata$filename</a:t>
            </a:r>
            <a:endParaRPr lang="en-US" sz="1200" dirty="0"/>
          </a:p>
        </p:txBody>
      </p:sp>
      <p:sp>
        <p:nvSpPr>
          <p:cNvPr id="19" name="Shape 17"/>
          <p:cNvSpPr/>
          <p:nvPr/>
        </p:nvSpPr>
        <p:spPr>
          <a:xfrm>
            <a:off x="8759952" y="2583180"/>
            <a:ext cx="310896" cy="0"/>
          </a:xfrm>
          <a:prstGeom prst="line">
            <a:avLst/>
          </a:prstGeom>
          <a:noFill/>
          <a:ln w="22225">
            <a:solidFill>
              <a:srgbClr val="14213D"/>
            </a:solidFill>
            <a:prstDash val="solid"/>
            <a:tailEnd type="triangle"/>
          </a:ln>
        </p:spPr>
        <p:txBody>
          <a:bodyPr/>
          <a:lstStyle/>
          <a:p>
            <a:endParaRPr/>
          </a:p>
        </p:txBody>
      </p:sp>
      <p:sp>
        <p:nvSpPr>
          <p:cNvPr id="20" name="Shape 18"/>
          <p:cNvSpPr/>
          <p:nvPr/>
        </p:nvSpPr>
        <p:spPr>
          <a:xfrm>
            <a:off x="9107424" y="1783080"/>
            <a:ext cx="2468880" cy="1600200"/>
          </a:xfrm>
          <a:prstGeom prst="roundRect">
            <a:avLst>
              <a:gd name="adj" fmla="val 6857"/>
            </a:avLst>
          </a:prstGeom>
          <a:solidFill>
            <a:srgbClr val="E8F3FB"/>
          </a:solidFill>
          <a:ln w="12700">
            <a:solidFill>
              <a:srgbClr val="8CC4EA"/>
            </a:solidFill>
            <a:prstDash val="solid"/>
          </a:ln>
        </p:spPr>
        <p:txBody>
          <a:bodyPr/>
          <a:lstStyle/>
          <a:p>
            <a:endParaRPr/>
          </a:p>
        </p:txBody>
      </p:sp>
      <p:sp>
        <p:nvSpPr>
          <p:cNvPr id="21" name="Text 19"/>
          <p:cNvSpPr txBox="1"/>
          <p:nvPr/>
        </p:nvSpPr>
        <p:spPr>
          <a:xfrm>
            <a:off x="9244584" y="1965960"/>
            <a:ext cx="2194560" cy="411480"/>
          </a:xfrm>
          <a:prstGeom prst="rect">
            <a:avLst/>
          </a:prstGeom>
          <a:noFill/>
          <a:ln/>
        </p:spPr>
        <p:txBody>
          <a:bodyPr wrap="square" lIns="0" tIns="0" rIns="0" bIns="0" rtlCol="0" anchor="ctr"/>
          <a:lstStyle/>
          <a:p>
            <a:pPr marL="0" indent="0" algn="ctr">
              <a:buNone/>
            </a:pPr>
            <a:r>
              <a:rPr lang="en-US" sz="1700" b="1" dirty="0">
                <a:solidFill>
                  <a:srgbClr val="1F6FA8"/>
                </a:solidFill>
                <a:latin typeface="Calibri" pitchFamily="34" charset="0"/>
                <a:ea typeface="Calibri" pitchFamily="34" charset="-122"/>
                <a:cs typeface="Calibri" pitchFamily="34" charset="-120"/>
              </a:rPr>
              <a:t>RAW tables</a:t>
            </a:r>
            <a:endParaRPr lang="en-US" sz="1700" dirty="0"/>
          </a:p>
        </p:txBody>
      </p:sp>
      <p:sp>
        <p:nvSpPr>
          <p:cNvPr id="22" name="Text 20"/>
          <p:cNvSpPr txBox="1"/>
          <p:nvPr/>
        </p:nvSpPr>
        <p:spPr>
          <a:xfrm>
            <a:off x="9244584" y="2423160"/>
            <a:ext cx="2194560" cy="822960"/>
          </a:xfrm>
          <a:prstGeom prst="rect">
            <a:avLst/>
          </a:prstGeom>
          <a:noFill/>
          <a:ln/>
        </p:spPr>
        <p:txBody>
          <a:bodyPr wrap="square" lIns="0" tIns="0" rIns="0" bIns="0" rtlCol="0" anchor="ctr"/>
          <a:lstStyle/>
          <a:p>
            <a:pPr marL="0" indent="0" algn="ctr">
              <a:buNone/>
            </a:pPr>
            <a:r>
              <a:rPr lang="en-US" sz="1200" dirty="0">
                <a:solidFill>
                  <a:srgbClr val="1F2937"/>
                </a:solidFill>
                <a:latin typeface="Calibri" pitchFamily="34" charset="0"/>
                <a:ea typeface="Calibri" pitchFamily="34" charset="-122"/>
                <a:cs typeface="Calibri" pitchFamily="34" charset="-120"/>
              </a:rPr>
              <a:t>raw_&lt;source&gt;(raw_data VARIANT, file_name)</a:t>
            </a:r>
            <a:endParaRPr lang="en-US" sz="1200" dirty="0"/>
          </a:p>
        </p:txBody>
      </p:sp>
      <p:sp>
        <p:nvSpPr>
          <p:cNvPr id="23" name="Shape 21"/>
          <p:cNvSpPr/>
          <p:nvPr/>
        </p:nvSpPr>
        <p:spPr>
          <a:xfrm>
            <a:off x="548640" y="3794760"/>
            <a:ext cx="6583680" cy="2286000"/>
          </a:xfrm>
          <a:prstGeom prst="roundRect">
            <a:avLst>
              <a:gd name="adj" fmla="val 4800"/>
            </a:avLst>
          </a:prstGeom>
          <a:solidFill>
            <a:srgbClr val="1E2A3F"/>
          </a:solidFill>
          <a:ln w="12700">
            <a:solidFill>
              <a:srgbClr val="1E2A3F"/>
            </a:solidFill>
            <a:prstDash val="solid"/>
          </a:ln>
        </p:spPr>
        <p:txBody>
          <a:bodyPr/>
          <a:lstStyle/>
          <a:p>
            <a:endParaRPr/>
          </a:p>
        </p:txBody>
      </p:sp>
      <p:sp>
        <p:nvSpPr>
          <p:cNvPr id="24" name="Text 22"/>
          <p:cNvSpPr txBox="1"/>
          <p:nvPr/>
        </p:nvSpPr>
        <p:spPr>
          <a:xfrm>
            <a:off x="822960" y="3977640"/>
            <a:ext cx="6126480" cy="1920240"/>
          </a:xfrm>
          <a:prstGeom prst="rect">
            <a:avLst/>
          </a:prstGeom>
          <a:noFill/>
          <a:ln/>
        </p:spPr>
        <p:txBody>
          <a:bodyPr wrap="square" lIns="0" tIns="0" rIns="0" bIns="0" rtlCol="0" anchor="t"/>
          <a:lstStyle/>
          <a:p>
            <a:pPr marL="0" indent="0">
              <a:buNone/>
            </a:pPr>
            <a:r>
              <a:rPr lang="en-US" sz="1300" dirty="0">
                <a:solidFill>
                  <a:srgbClr val="E6EDF7"/>
                </a:solidFill>
                <a:latin typeface="Courier New" pitchFamily="34" charset="0"/>
                <a:ea typeface="Courier New" pitchFamily="34" charset="-122"/>
                <a:cs typeface="Courier New" pitchFamily="34" charset="-120"/>
              </a:rPr>
              <a:t>copy into raw.raw_workable (raw_data, file_name)</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from (select $1, metadata$filename</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from @raw.raw_stage/workable/)</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file_format = (type = json)</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pattern = '.*[.]json';</a:t>
            </a:r>
            <a:endParaRPr lang="en-US" sz="1300" dirty="0"/>
          </a:p>
        </p:txBody>
      </p:sp>
      <p:sp>
        <p:nvSpPr>
          <p:cNvPr id="25" name="Text 23"/>
          <p:cNvSpPr txBox="1"/>
          <p:nvPr/>
        </p:nvSpPr>
        <p:spPr>
          <a:xfrm>
            <a:off x="7406640" y="3794760"/>
            <a:ext cx="4236415"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COPY INTO remembers loaded files, so re-running loads only new ones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file_name keeps the path, so the collection date comes from ingest_date=</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52,937 raw rows loaded; a bad file aborts the load and stops the run</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The SAS token lives in Snowflake and .env, never in the repo</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12</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Snowflake and dbt layers</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Each layer builds into its own schema; tests run at every layer</a:t>
            </a:r>
            <a:endParaRPr lang="en-US" sz="1500" dirty="0"/>
          </a:p>
        </p:txBody>
      </p:sp>
      <p:sp>
        <p:nvSpPr>
          <p:cNvPr id="6" name="Shape 4"/>
          <p:cNvSpPr/>
          <p:nvPr/>
        </p:nvSpPr>
        <p:spPr>
          <a:xfrm>
            <a:off x="9265615" y="475488"/>
            <a:ext cx="2377440" cy="384048"/>
          </a:xfrm>
          <a:prstGeom prst="roundRect">
            <a:avLst>
              <a:gd name="adj" fmla="val 50000"/>
            </a:avLst>
          </a:prstGeom>
          <a:solidFill>
            <a:srgbClr val="E6F6F4"/>
          </a:solidFill>
          <a:ln w="12700">
            <a:solidFill>
              <a:srgbClr val="7FCBBF"/>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1C7F74"/>
                </a:solidFill>
                <a:latin typeface="Calibri" pitchFamily="34" charset="0"/>
                <a:ea typeface="Calibri" pitchFamily="34" charset="-122"/>
                <a:cs typeface="Calibri" pitchFamily="34" charset="-120"/>
              </a:rPr>
              <a:t>Transform</a:t>
            </a:r>
            <a:endParaRPr lang="en-US" sz="1200" dirty="0"/>
          </a:p>
        </p:txBody>
      </p:sp>
      <p:sp>
        <p:nvSpPr>
          <p:cNvPr id="8" name="Shape 6"/>
          <p:cNvSpPr/>
          <p:nvPr/>
        </p:nvSpPr>
        <p:spPr>
          <a:xfrm>
            <a:off x="548640" y="1600200"/>
            <a:ext cx="2542032" cy="3246120"/>
          </a:xfrm>
          <a:prstGeom prst="roundRect">
            <a:avLst>
              <a:gd name="adj" fmla="val 4317"/>
            </a:avLst>
          </a:prstGeom>
          <a:solidFill>
            <a:srgbClr val="E8F3FB"/>
          </a:solidFill>
          <a:ln w="12700">
            <a:solidFill>
              <a:srgbClr val="8CC4EA"/>
            </a:solidFill>
            <a:prstDash val="solid"/>
          </a:ln>
        </p:spPr>
        <p:txBody>
          <a:bodyPr/>
          <a:lstStyle/>
          <a:p>
            <a:endParaRPr/>
          </a:p>
        </p:txBody>
      </p:sp>
      <p:sp>
        <p:nvSpPr>
          <p:cNvPr id="9" name="Text 7"/>
          <p:cNvSpPr txBox="1"/>
          <p:nvPr/>
        </p:nvSpPr>
        <p:spPr>
          <a:xfrm>
            <a:off x="731520" y="1783080"/>
            <a:ext cx="2176272" cy="411480"/>
          </a:xfrm>
          <a:prstGeom prst="rect">
            <a:avLst/>
          </a:prstGeom>
          <a:noFill/>
          <a:ln/>
        </p:spPr>
        <p:txBody>
          <a:bodyPr wrap="square" lIns="0" tIns="0" rIns="0" bIns="0" rtlCol="0" anchor="ctr"/>
          <a:lstStyle/>
          <a:p>
            <a:pPr marL="0" indent="0">
              <a:buNone/>
            </a:pPr>
            <a:r>
              <a:rPr lang="en-US" sz="1800" b="1" dirty="0">
                <a:solidFill>
                  <a:srgbClr val="1F6FA8"/>
                </a:solidFill>
                <a:latin typeface="Calibri" pitchFamily="34" charset="0"/>
                <a:ea typeface="Calibri" pitchFamily="34" charset="-122"/>
                <a:cs typeface="Calibri" pitchFamily="34" charset="-120"/>
              </a:rPr>
              <a:t>RAW</a:t>
            </a:r>
            <a:endParaRPr lang="en-US" sz="1800" dirty="0"/>
          </a:p>
        </p:txBody>
      </p:sp>
      <p:sp>
        <p:nvSpPr>
          <p:cNvPr id="10" name="Text 8"/>
          <p:cNvSpPr txBox="1"/>
          <p:nvPr/>
        </p:nvSpPr>
        <p:spPr>
          <a:xfrm>
            <a:off x="731520" y="2167128"/>
            <a:ext cx="2176272" cy="274320"/>
          </a:xfrm>
          <a:prstGeom prst="rect">
            <a:avLst/>
          </a:prstGeom>
          <a:noFill/>
          <a:ln/>
        </p:spPr>
        <p:txBody>
          <a:bodyPr wrap="square" lIns="0" tIns="0" rIns="0" bIns="0" rtlCol="0" anchor="ctr"/>
          <a:lstStyle/>
          <a:p>
            <a:pPr marL="0" indent="0">
              <a:buNone/>
            </a:pPr>
            <a:r>
              <a:rPr lang="en-US" sz="1200" dirty="0">
                <a:solidFill>
                  <a:srgbClr val="5B6475"/>
                </a:solidFill>
                <a:latin typeface="Calibri" pitchFamily="34" charset="0"/>
                <a:ea typeface="Calibri" pitchFamily="34" charset="-122"/>
                <a:cs typeface="Calibri" pitchFamily="34" charset="-120"/>
              </a:rPr>
              <a:t>6 tables</a:t>
            </a:r>
            <a:endParaRPr lang="en-US" sz="1200" dirty="0"/>
          </a:p>
        </p:txBody>
      </p:sp>
      <p:sp>
        <p:nvSpPr>
          <p:cNvPr id="11" name="Text 9"/>
          <p:cNvSpPr txBox="1"/>
          <p:nvPr/>
        </p:nvSpPr>
        <p:spPr>
          <a:xfrm>
            <a:off x="731520" y="2496312"/>
            <a:ext cx="2176272" cy="502920"/>
          </a:xfrm>
          <a:prstGeom prst="rect">
            <a:avLst/>
          </a:prstGeom>
          <a:noFill/>
          <a:ln/>
        </p:spPr>
        <p:txBody>
          <a:bodyPr wrap="square" lIns="0" tIns="0" rIns="0" bIns="0" rtlCol="0" anchor="ctr"/>
          <a:lstStyle/>
          <a:p>
            <a:pPr marL="0" indent="0">
              <a:buNone/>
            </a:pPr>
            <a:r>
              <a:rPr lang="en-US" sz="2200" b="1" dirty="0">
                <a:solidFill>
                  <a:srgbClr val="14213D"/>
                </a:solidFill>
                <a:latin typeface="Calibri" pitchFamily="34" charset="0"/>
                <a:ea typeface="Calibri" pitchFamily="34" charset="-122"/>
                <a:cs typeface="Calibri" pitchFamily="34" charset="-120"/>
              </a:rPr>
              <a:t>52,937 rows</a:t>
            </a:r>
            <a:endParaRPr lang="en-US" sz="2200" dirty="0"/>
          </a:p>
        </p:txBody>
      </p:sp>
      <p:sp>
        <p:nvSpPr>
          <p:cNvPr id="12" name="Text 10"/>
          <p:cNvSpPr txBox="1"/>
          <p:nvPr/>
        </p:nvSpPr>
        <p:spPr>
          <a:xfrm>
            <a:off x="731520" y="3108960"/>
            <a:ext cx="2221992"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JSON as returned by the APIs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Loaded by COPY INTO</a:t>
            </a:r>
            <a:endParaRPr lang="en-US" sz="1250" dirty="0"/>
          </a:p>
        </p:txBody>
      </p:sp>
      <p:sp>
        <p:nvSpPr>
          <p:cNvPr id="13" name="Shape 11"/>
          <p:cNvSpPr/>
          <p:nvPr/>
        </p:nvSpPr>
        <p:spPr>
          <a:xfrm>
            <a:off x="3127248" y="3223260"/>
            <a:ext cx="246888" cy="0"/>
          </a:xfrm>
          <a:prstGeom prst="line">
            <a:avLst/>
          </a:prstGeom>
          <a:noFill/>
          <a:ln w="22225">
            <a:solidFill>
              <a:srgbClr val="14213D"/>
            </a:solidFill>
            <a:prstDash val="solid"/>
            <a:tailEnd type="triangle"/>
          </a:ln>
        </p:spPr>
        <p:txBody>
          <a:bodyPr/>
          <a:lstStyle/>
          <a:p>
            <a:endParaRPr/>
          </a:p>
        </p:txBody>
      </p:sp>
      <p:sp>
        <p:nvSpPr>
          <p:cNvPr id="14" name="Shape 12"/>
          <p:cNvSpPr/>
          <p:nvPr/>
        </p:nvSpPr>
        <p:spPr>
          <a:xfrm>
            <a:off x="3410712" y="1600200"/>
            <a:ext cx="2542032" cy="3246120"/>
          </a:xfrm>
          <a:prstGeom prst="roundRect">
            <a:avLst>
              <a:gd name="adj" fmla="val 4317"/>
            </a:avLst>
          </a:prstGeom>
          <a:solidFill>
            <a:srgbClr val="E6F6F4"/>
          </a:solidFill>
          <a:ln w="12700">
            <a:solidFill>
              <a:srgbClr val="7FCBBF"/>
            </a:solidFill>
            <a:prstDash val="solid"/>
          </a:ln>
        </p:spPr>
        <p:txBody>
          <a:bodyPr/>
          <a:lstStyle/>
          <a:p>
            <a:endParaRPr/>
          </a:p>
        </p:txBody>
      </p:sp>
      <p:sp>
        <p:nvSpPr>
          <p:cNvPr id="15" name="Text 13"/>
          <p:cNvSpPr txBox="1"/>
          <p:nvPr/>
        </p:nvSpPr>
        <p:spPr>
          <a:xfrm>
            <a:off x="3593592" y="1783080"/>
            <a:ext cx="2176272" cy="411480"/>
          </a:xfrm>
          <a:prstGeom prst="rect">
            <a:avLst/>
          </a:prstGeom>
          <a:noFill/>
          <a:ln/>
        </p:spPr>
        <p:txBody>
          <a:bodyPr wrap="square" lIns="0" tIns="0" rIns="0" bIns="0" rtlCol="0" anchor="ctr"/>
          <a:lstStyle/>
          <a:p>
            <a:pPr marL="0" indent="0">
              <a:buNone/>
            </a:pPr>
            <a:r>
              <a:rPr lang="en-US" sz="1800" b="1" dirty="0">
                <a:solidFill>
                  <a:srgbClr val="1C7F74"/>
                </a:solidFill>
                <a:latin typeface="Calibri" pitchFamily="34" charset="0"/>
                <a:ea typeface="Calibri" pitchFamily="34" charset="-122"/>
                <a:cs typeface="Calibri" pitchFamily="34" charset="-120"/>
              </a:rPr>
              <a:t>STAGING</a:t>
            </a:r>
            <a:endParaRPr lang="en-US" sz="1800" dirty="0"/>
          </a:p>
        </p:txBody>
      </p:sp>
      <p:sp>
        <p:nvSpPr>
          <p:cNvPr id="16" name="Text 14"/>
          <p:cNvSpPr txBox="1"/>
          <p:nvPr/>
        </p:nvSpPr>
        <p:spPr>
          <a:xfrm>
            <a:off x="3593592" y="2167128"/>
            <a:ext cx="2176272" cy="274320"/>
          </a:xfrm>
          <a:prstGeom prst="rect">
            <a:avLst/>
          </a:prstGeom>
          <a:noFill/>
          <a:ln/>
        </p:spPr>
        <p:txBody>
          <a:bodyPr wrap="square" lIns="0" tIns="0" rIns="0" bIns="0" rtlCol="0" anchor="ctr"/>
          <a:lstStyle/>
          <a:p>
            <a:pPr marL="0" indent="0">
              <a:buNone/>
            </a:pPr>
            <a:r>
              <a:rPr lang="en-US" sz="1200" dirty="0">
                <a:solidFill>
                  <a:srgbClr val="5B6475"/>
                </a:solidFill>
                <a:latin typeface="Calibri" pitchFamily="34" charset="0"/>
                <a:ea typeface="Calibri" pitchFamily="34" charset="-122"/>
                <a:cs typeface="Calibri" pitchFamily="34" charset="-120"/>
              </a:rPr>
              <a:t>6 views</a:t>
            </a:r>
            <a:endParaRPr lang="en-US" sz="1200" dirty="0"/>
          </a:p>
        </p:txBody>
      </p:sp>
      <p:sp>
        <p:nvSpPr>
          <p:cNvPr id="17" name="Text 15"/>
          <p:cNvSpPr txBox="1"/>
          <p:nvPr/>
        </p:nvSpPr>
        <p:spPr>
          <a:xfrm>
            <a:off x="3593592" y="2496312"/>
            <a:ext cx="2176272" cy="502920"/>
          </a:xfrm>
          <a:prstGeom prst="rect">
            <a:avLst/>
          </a:prstGeom>
          <a:noFill/>
          <a:ln/>
        </p:spPr>
        <p:txBody>
          <a:bodyPr wrap="square" lIns="0" tIns="0" rIns="0" bIns="0" rtlCol="0" anchor="ctr"/>
          <a:lstStyle/>
          <a:p>
            <a:pPr marL="0" indent="0">
              <a:buNone/>
            </a:pPr>
            <a:r>
              <a:rPr lang="en-US" sz="2200" b="1" dirty="0">
                <a:solidFill>
                  <a:srgbClr val="14213D"/>
                </a:solidFill>
                <a:latin typeface="Calibri" pitchFamily="34" charset="0"/>
                <a:ea typeface="Calibri" pitchFamily="34" charset="-122"/>
                <a:cs typeface="Calibri" pitchFamily="34" charset="-120"/>
              </a:rPr>
              <a:t>20,490 listings</a:t>
            </a:r>
            <a:endParaRPr lang="en-US" sz="2200" dirty="0"/>
          </a:p>
        </p:txBody>
      </p:sp>
      <p:sp>
        <p:nvSpPr>
          <p:cNvPr id="18" name="Text 16"/>
          <p:cNvSpPr txBox="1"/>
          <p:nvPr/>
        </p:nvSpPr>
        <p:spPr>
          <a:xfrm>
            <a:off x="3593592" y="3108960"/>
            <a:ext cx="2221992"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One model per source: flatten, rename, cast</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Saudi scope; duplicates within a source removed</a:t>
            </a:r>
            <a:endParaRPr lang="en-US" sz="1250" dirty="0"/>
          </a:p>
        </p:txBody>
      </p:sp>
      <p:sp>
        <p:nvSpPr>
          <p:cNvPr id="19" name="Shape 17"/>
          <p:cNvSpPr/>
          <p:nvPr/>
        </p:nvSpPr>
        <p:spPr>
          <a:xfrm>
            <a:off x="5989320" y="3223260"/>
            <a:ext cx="246888" cy="0"/>
          </a:xfrm>
          <a:prstGeom prst="line">
            <a:avLst/>
          </a:prstGeom>
          <a:noFill/>
          <a:ln w="22225">
            <a:solidFill>
              <a:srgbClr val="14213D"/>
            </a:solidFill>
            <a:prstDash val="solid"/>
            <a:tailEnd type="triangle"/>
          </a:ln>
        </p:spPr>
        <p:txBody>
          <a:bodyPr/>
          <a:lstStyle/>
          <a:p>
            <a:endParaRPr/>
          </a:p>
        </p:txBody>
      </p:sp>
      <p:sp>
        <p:nvSpPr>
          <p:cNvPr id="20" name="Shape 18"/>
          <p:cNvSpPr/>
          <p:nvPr/>
        </p:nvSpPr>
        <p:spPr>
          <a:xfrm>
            <a:off x="6272784" y="1600200"/>
            <a:ext cx="2542032" cy="3246120"/>
          </a:xfrm>
          <a:prstGeom prst="roundRect">
            <a:avLst>
              <a:gd name="adj" fmla="val 4317"/>
            </a:avLst>
          </a:prstGeom>
          <a:solidFill>
            <a:srgbClr val="E6F6F4"/>
          </a:solidFill>
          <a:ln w="12700">
            <a:solidFill>
              <a:srgbClr val="7FCBBF"/>
            </a:solidFill>
            <a:prstDash val="solid"/>
          </a:ln>
        </p:spPr>
        <p:txBody>
          <a:bodyPr/>
          <a:lstStyle/>
          <a:p>
            <a:endParaRPr/>
          </a:p>
        </p:txBody>
      </p:sp>
      <p:sp>
        <p:nvSpPr>
          <p:cNvPr id="21" name="Text 19"/>
          <p:cNvSpPr txBox="1"/>
          <p:nvPr/>
        </p:nvSpPr>
        <p:spPr>
          <a:xfrm>
            <a:off x="6455664" y="1783080"/>
            <a:ext cx="2176272" cy="411480"/>
          </a:xfrm>
          <a:prstGeom prst="rect">
            <a:avLst/>
          </a:prstGeom>
          <a:noFill/>
          <a:ln/>
        </p:spPr>
        <p:txBody>
          <a:bodyPr wrap="square" lIns="0" tIns="0" rIns="0" bIns="0" rtlCol="0" anchor="ctr"/>
          <a:lstStyle/>
          <a:p>
            <a:pPr marL="0" indent="0">
              <a:buNone/>
            </a:pPr>
            <a:r>
              <a:rPr lang="en-US" sz="1800" b="1" dirty="0">
                <a:solidFill>
                  <a:srgbClr val="1C7F74"/>
                </a:solidFill>
                <a:latin typeface="Calibri" pitchFamily="34" charset="0"/>
                <a:ea typeface="Calibri" pitchFamily="34" charset="-122"/>
                <a:cs typeface="Calibri" pitchFamily="34" charset="-120"/>
              </a:rPr>
              <a:t>INTERMEDIATE</a:t>
            </a:r>
            <a:endParaRPr lang="en-US" sz="1800" dirty="0"/>
          </a:p>
        </p:txBody>
      </p:sp>
      <p:sp>
        <p:nvSpPr>
          <p:cNvPr id="22" name="Text 20"/>
          <p:cNvSpPr txBox="1"/>
          <p:nvPr/>
        </p:nvSpPr>
        <p:spPr>
          <a:xfrm>
            <a:off x="6455664" y="2167128"/>
            <a:ext cx="2176272" cy="274320"/>
          </a:xfrm>
          <a:prstGeom prst="rect">
            <a:avLst/>
          </a:prstGeom>
          <a:noFill/>
          <a:ln/>
        </p:spPr>
        <p:txBody>
          <a:bodyPr wrap="square" lIns="0" tIns="0" rIns="0" bIns="0" rtlCol="0" anchor="ctr"/>
          <a:lstStyle/>
          <a:p>
            <a:pPr marL="0" indent="0">
              <a:buNone/>
            </a:pPr>
            <a:r>
              <a:rPr lang="en-US" sz="1200" dirty="0">
                <a:solidFill>
                  <a:srgbClr val="5B6475"/>
                </a:solidFill>
                <a:latin typeface="Calibri" pitchFamily="34" charset="0"/>
                <a:ea typeface="Calibri" pitchFamily="34" charset="-122"/>
                <a:cs typeface="Calibri" pitchFamily="34" charset="-120"/>
              </a:rPr>
              <a:t>9 tables</a:t>
            </a:r>
            <a:endParaRPr lang="en-US" sz="1200" dirty="0"/>
          </a:p>
        </p:txBody>
      </p:sp>
      <p:sp>
        <p:nvSpPr>
          <p:cNvPr id="23" name="Text 21"/>
          <p:cNvSpPr txBox="1"/>
          <p:nvPr/>
        </p:nvSpPr>
        <p:spPr>
          <a:xfrm>
            <a:off x="6455664" y="2496312"/>
            <a:ext cx="2176272" cy="502920"/>
          </a:xfrm>
          <a:prstGeom prst="rect">
            <a:avLst/>
          </a:prstGeom>
          <a:noFill/>
          <a:ln/>
        </p:spPr>
        <p:txBody>
          <a:bodyPr wrap="square" lIns="0" tIns="0" rIns="0" bIns="0" rtlCol="0" anchor="ctr"/>
          <a:lstStyle/>
          <a:p>
            <a:pPr marL="0" indent="0">
              <a:buNone/>
            </a:pPr>
            <a:r>
              <a:rPr lang="en-US" sz="2200" b="1" dirty="0">
                <a:solidFill>
                  <a:srgbClr val="14213D"/>
                </a:solidFill>
                <a:latin typeface="Calibri" pitchFamily="34" charset="0"/>
                <a:ea typeface="Calibri" pitchFamily="34" charset="-122"/>
                <a:cs typeface="Calibri" pitchFamily="34" charset="-120"/>
              </a:rPr>
              <a:t>19,148 jobs</a:t>
            </a:r>
            <a:endParaRPr lang="en-US" sz="2200" dirty="0"/>
          </a:p>
        </p:txBody>
      </p:sp>
      <p:sp>
        <p:nvSpPr>
          <p:cNvPr id="24" name="Text 22"/>
          <p:cNvSpPr txBox="1"/>
          <p:nvPr/>
        </p:nvSpPr>
        <p:spPr>
          <a:xfrm>
            <a:off x="6455664" y="3108960"/>
            <a:ext cx="2221992"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Union of sources; cities, companies, categories via seeds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Matching, survivorship, job lifecycle, skills</a:t>
            </a:r>
            <a:endParaRPr lang="en-US" sz="1250" dirty="0"/>
          </a:p>
        </p:txBody>
      </p:sp>
      <p:sp>
        <p:nvSpPr>
          <p:cNvPr id="25" name="Shape 23"/>
          <p:cNvSpPr/>
          <p:nvPr/>
        </p:nvSpPr>
        <p:spPr>
          <a:xfrm>
            <a:off x="8851392" y="3223260"/>
            <a:ext cx="246888" cy="0"/>
          </a:xfrm>
          <a:prstGeom prst="line">
            <a:avLst/>
          </a:prstGeom>
          <a:noFill/>
          <a:ln w="22225">
            <a:solidFill>
              <a:srgbClr val="14213D"/>
            </a:solidFill>
            <a:prstDash val="solid"/>
            <a:tailEnd type="triangle"/>
          </a:ln>
        </p:spPr>
        <p:txBody>
          <a:bodyPr/>
          <a:lstStyle/>
          <a:p>
            <a:endParaRPr/>
          </a:p>
        </p:txBody>
      </p:sp>
      <p:sp>
        <p:nvSpPr>
          <p:cNvPr id="26" name="Shape 24"/>
          <p:cNvSpPr/>
          <p:nvPr/>
        </p:nvSpPr>
        <p:spPr>
          <a:xfrm>
            <a:off x="9134856" y="1600200"/>
            <a:ext cx="2542032" cy="3246120"/>
          </a:xfrm>
          <a:prstGeom prst="roundRect">
            <a:avLst>
              <a:gd name="adj" fmla="val 4317"/>
            </a:avLst>
          </a:prstGeom>
          <a:solidFill>
            <a:srgbClr val="FBEFF3"/>
          </a:solidFill>
          <a:ln w="12700">
            <a:solidFill>
              <a:srgbClr val="E3A3B8"/>
            </a:solidFill>
            <a:prstDash val="solid"/>
          </a:ln>
        </p:spPr>
        <p:txBody>
          <a:bodyPr/>
          <a:lstStyle/>
          <a:p>
            <a:endParaRPr/>
          </a:p>
        </p:txBody>
      </p:sp>
      <p:sp>
        <p:nvSpPr>
          <p:cNvPr id="27" name="Text 25"/>
          <p:cNvSpPr txBox="1"/>
          <p:nvPr/>
        </p:nvSpPr>
        <p:spPr>
          <a:xfrm>
            <a:off x="9317736" y="1783080"/>
            <a:ext cx="2176272" cy="411480"/>
          </a:xfrm>
          <a:prstGeom prst="rect">
            <a:avLst/>
          </a:prstGeom>
          <a:noFill/>
          <a:ln/>
        </p:spPr>
        <p:txBody>
          <a:bodyPr wrap="square" lIns="0" tIns="0" rIns="0" bIns="0" rtlCol="0" anchor="ctr"/>
          <a:lstStyle/>
          <a:p>
            <a:pPr marL="0" indent="0">
              <a:buNone/>
            </a:pPr>
            <a:r>
              <a:rPr lang="en-US" sz="1800" b="1" dirty="0">
                <a:solidFill>
                  <a:srgbClr val="A33A62"/>
                </a:solidFill>
                <a:latin typeface="Calibri" pitchFamily="34" charset="0"/>
                <a:ea typeface="Calibri" pitchFamily="34" charset="-122"/>
                <a:cs typeface="Calibri" pitchFamily="34" charset="-120"/>
              </a:rPr>
              <a:t>MARTS</a:t>
            </a:r>
            <a:endParaRPr lang="en-US" sz="1800" dirty="0"/>
          </a:p>
        </p:txBody>
      </p:sp>
      <p:sp>
        <p:nvSpPr>
          <p:cNvPr id="28" name="Text 26"/>
          <p:cNvSpPr txBox="1"/>
          <p:nvPr/>
        </p:nvSpPr>
        <p:spPr>
          <a:xfrm>
            <a:off x="9317736" y="2167128"/>
            <a:ext cx="2176272" cy="274320"/>
          </a:xfrm>
          <a:prstGeom prst="rect">
            <a:avLst/>
          </a:prstGeom>
          <a:noFill/>
          <a:ln/>
        </p:spPr>
        <p:txBody>
          <a:bodyPr wrap="square" lIns="0" tIns="0" rIns="0" bIns="0" rtlCol="0" anchor="ctr"/>
          <a:lstStyle/>
          <a:p>
            <a:pPr marL="0" indent="0">
              <a:buNone/>
            </a:pPr>
            <a:r>
              <a:rPr lang="en-US" sz="1200" dirty="0">
                <a:solidFill>
                  <a:srgbClr val="5B6475"/>
                </a:solidFill>
                <a:latin typeface="Calibri" pitchFamily="34" charset="0"/>
                <a:ea typeface="Calibri" pitchFamily="34" charset="-122"/>
                <a:cs typeface="Calibri" pitchFamily="34" charset="-120"/>
              </a:rPr>
              <a:t>10 tables</a:t>
            </a:r>
            <a:endParaRPr lang="en-US" sz="1200" dirty="0"/>
          </a:p>
        </p:txBody>
      </p:sp>
      <p:sp>
        <p:nvSpPr>
          <p:cNvPr id="29" name="Text 27"/>
          <p:cNvSpPr txBox="1"/>
          <p:nvPr/>
        </p:nvSpPr>
        <p:spPr>
          <a:xfrm>
            <a:off x="9317736" y="2496312"/>
            <a:ext cx="2176272" cy="502920"/>
          </a:xfrm>
          <a:prstGeom prst="rect">
            <a:avLst/>
          </a:prstGeom>
          <a:noFill/>
          <a:ln/>
        </p:spPr>
        <p:txBody>
          <a:bodyPr wrap="square" lIns="0" tIns="0" rIns="0" bIns="0" rtlCol="0" anchor="ctr"/>
          <a:lstStyle/>
          <a:p>
            <a:pPr marL="0" indent="0">
              <a:buNone/>
            </a:pPr>
            <a:r>
              <a:rPr lang="en-US" sz="2200" b="1" dirty="0">
                <a:solidFill>
                  <a:srgbClr val="14213D"/>
                </a:solidFill>
                <a:latin typeface="Calibri" pitchFamily="34" charset="0"/>
                <a:ea typeface="Calibri" pitchFamily="34" charset="-122"/>
                <a:cs typeface="Calibri" pitchFamily="34" charset="-120"/>
              </a:rPr>
              <a:t>Star schema</a:t>
            </a:r>
            <a:endParaRPr lang="en-US" sz="2200" dirty="0"/>
          </a:p>
        </p:txBody>
      </p:sp>
      <p:sp>
        <p:nvSpPr>
          <p:cNvPr id="30" name="Text 28"/>
          <p:cNvSpPr txBox="1"/>
          <p:nvPr/>
        </p:nvSpPr>
        <p:spPr>
          <a:xfrm>
            <a:off x="9317736" y="3108960"/>
            <a:ext cx="2221992"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fct_jobs + 8 dimensions + bridge_job_skill</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Read by Power BI; exported to curated/</a:t>
            </a:r>
            <a:endParaRPr lang="en-US" sz="1250" dirty="0"/>
          </a:p>
        </p:txBody>
      </p:sp>
      <p:sp>
        <p:nvSpPr>
          <p:cNvPr id="31" name="Shape 29"/>
          <p:cNvSpPr/>
          <p:nvPr/>
        </p:nvSpPr>
        <p:spPr>
          <a:xfrm>
            <a:off x="548640" y="5074920"/>
            <a:ext cx="5349240" cy="1051560"/>
          </a:xfrm>
          <a:prstGeom prst="roundRect">
            <a:avLst>
              <a:gd name="adj" fmla="val 10435"/>
            </a:avLst>
          </a:prstGeom>
          <a:solidFill>
            <a:srgbClr val="F4F6F9"/>
          </a:solidFill>
          <a:ln w="12700">
            <a:solidFill>
              <a:srgbClr val="F4F6F9"/>
            </a:solidFill>
            <a:prstDash val="solid"/>
          </a:ln>
        </p:spPr>
        <p:txBody>
          <a:bodyPr/>
          <a:lstStyle/>
          <a:p>
            <a:endParaRPr/>
          </a:p>
        </p:txBody>
      </p:sp>
      <p:sp>
        <p:nvSpPr>
          <p:cNvPr id="32" name="Shape 30"/>
          <p:cNvSpPr/>
          <p:nvPr/>
        </p:nvSpPr>
        <p:spPr>
          <a:xfrm>
            <a:off x="777240" y="5330952"/>
            <a:ext cx="548640" cy="548640"/>
          </a:xfrm>
          <a:prstGeom prst="ellipse">
            <a:avLst/>
          </a:prstGeom>
          <a:solidFill>
            <a:srgbClr val="1C7F74"/>
          </a:solidFill>
          <a:ln w="12700">
            <a:solidFill>
              <a:srgbClr val="1C7F74"/>
            </a:solidFill>
            <a:prstDash val="solid"/>
          </a:ln>
        </p:spPr>
        <p:txBody>
          <a:bodyPr/>
          <a:lstStyle/>
          <a:p>
            <a:endParaRPr/>
          </a:p>
        </p:txBody>
      </p:sp>
      <p:pic>
        <p:nvPicPr>
          <p:cNvPr id="33" name="Image 0" descr="preencoded.png"/>
          <p:cNvPicPr>
            <a:picLocks noChangeAspect="1"/>
          </p:cNvPicPr>
          <p:nvPr/>
        </p:nvPicPr>
        <p:blipFill>
          <a:blip r:embed="rId3"/>
          <a:stretch>
            <a:fillRect/>
          </a:stretch>
        </p:blipFill>
        <p:spPr>
          <a:xfrm>
            <a:off x="908914" y="5462626"/>
            <a:ext cx="285293" cy="285293"/>
          </a:xfrm>
          <a:prstGeom prst="rect">
            <a:avLst/>
          </a:prstGeom>
        </p:spPr>
      </p:pic>
      <p:sp>
        <p:nvSpPr>
          <p:cNvPr id="34" name="Text 31"/>
          <p:cNvSpPr txBox="1"/>
          <p:nvPr/>
        </p:nvSpPr>
        <p:spPr>
          <a:xfrm>
            <a:off x="1508760" y="5184648"/>
            <a:ext cx="420624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10 seeds</a:t>
            </a:r>
            <a:endParaRPr lang="en-US" sz="1500" dirty="0"/>
          </a:p>
        </p:txBody>
      </p:sp>
      <p:sp>
        <p:nvSpPr>
          <p:cNvPr id="35" name="Text 32"/>
          <p:cNvSpPr txBox="1"/>
          <p:nvPr/>
        </p:nvSpPr>
        <p:spPr>
          <a:xfrm>
            <a:off x="1508760" y="5550408"/>
            <a:ext cx="420624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cities (224 spellings), companies (742 aliases), job categories, role families, skills (133 keywords), sources…</a:t>
            </a:r>
            <a:endParaRPr lang="en-US" sz="1200" dirty="0"/>
          </a:p>
        </p:txBody>
      </p:sp>
      <p:sp>
        <p:nvSpPr>
          <p:cNvPr id="36" name="Shape 33"/>
          <p:cNvSpPr/>
          <p:nvPr/>
        </p:nvSpPr>
        <p:spPr>
          <a:xfrm>
            <a:off x="6217920" y="5074920"/>
            <a:ext cx="5349240" cy="1051560"/>
          </a:xfrm>
          <a:prstGeom prst="roundRect">
            <a:avLst>
              <a:gd name="adj" fmla="val 10435"/>
            </a:avLst>
          </a:prstGeom>
          <a:solidFill>
            <a:srgbClr val="F4F6F9"/>
          </a:solidFill>
          <a:ln w="12700">
            <a:solidFill>
              <a:srgbClr val="F4F6F9"/>
            </a:solidFill>
            <a:prstDash val="solid"/>
          </a:ln>
        </p:spPr>
        <p:txBody>
          <a:bodyPr/>
          <a:lstStyle/>
          <a:p>
            <a:endParaRPr/>
          </a:p>
        </p:txBody>
      </p:sp>
      <p:sp>
        <p:nvSpPr>
          <p:cNvPr id="37" name="Shape 34"/>
          <p:cNvSpPr/>
          <p:nvPr/>
        </p:nvSpPr>
        <p:spPr>
          <a:xfrm>
            <a:off x="6446520" y="5330952"/>
            <a:ext cx="548640" cy="548640"/>
          </a:xfrm>
          <a:prstGeom prst="ellipse">
            <a:avLst/>
          </a:prstGeom>
          <a:solidFill>
            <a:srgbClr val="1C7F74"/>
          </a:solidFill>
          <a:ln w="12700">
            <a:solidFill>
              <a:srgbClr val="1C7F74"/>
            </a:solidFill>
            <a:prstDash val="solid"/>
          </a:ln>
        </p:spPr>
        <p:txBody>
          <a:bodyPr/>
          <a:lstStyle/>
          <a:p>
            <a:endParaRPr/>
          </a:p>
        </p:txBody>
      </p:sp>
      <p:pic>
        <p:nvPicPr>
          <p:cNvPr id="38" name="Image 1" descr="preencoded.png"/>
          <p:cNvPicPr>
            <a:picLocks noChangeAspect="1"/>
          </p:cNvPicPr>
          <p:nvPr/>
        </p:nvPicPr>
        <p:blipFill>
          <a:blip r:embed="rId4"/>
          <a:stretch>
            <a:fillRect/>
          </a:stretch>
        </p:blipFill>
        <p:spPr>
          <a:xfrm>
            <a:off x="6578194" y="5462626"/>
            <a:ext cx="285293" cy="285293"/>
          </a:xfrm>
          <a:prstGeom prst="rect">
            <a:avLst/>
          </a:prstGeom>
        </p:spPr>
      </p:pic>
      <p:sp>
        <p:nvSpPr>
          <p:cNvPr id="39" name="Text 35"/>
          <p:cNvSpPr txBox="1"/>
          <p:nvPr/>
        </p:nvSpPr>
        <p:spPr>
          <a:xfrm>
            <a:off x="7178040" y="5184648"/>
            <a:ext cx="420624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288 tests · 19/19 checks</a:t>
            </a:r>
            <a:endParaRPr lang="en-US" sz="1500" dirty="0"/>
          </a:p>
        </p:txBody>
      </p:sp>
      <p:sp>
        <p:nvSpPr>
          <p:cNvPr id="40" name="Text 36"/>
          <p:cNvSpPr txBox="1"/>
          <p:nvPr/>
        </p:nvSpPr>
        <p:spPr>
          <a:xfrm>
            <a:off x="7178040" y="5550408"/>
            <a:ext cx="420624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keys, grain, accepted values, relationships, lifecycle rules, RAW→fact reconciliation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13</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Data cleaning and transformation</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From 52,937 raw rows to 19,148 jobs</a:t>
            </a:r>
            <a:endParaRPr lang="en-US" sz="1500" dirty="0"/>
          </a:p>
        </p:txBody>
      </p:sp>
      <p:sp>
        <p:nvSpPr>
          <p:cNvPr id="6" name="Shape 4"/>
          <p:cNvSpPr/>
          <p:nvPr/>
        </p:nvSpPr>
        <p:spPr>
          <a:xfrm>
            <a:off x="9265615" y="475488"/>
            <a:ext cx="2377440" cy="384048"/>
          </a:xfrm>
          <a:prstGeom prst="roundRect">
            <a:avLst>
              <a:gd name="adj" fmla="val 50000"/>
            </a:avLst>
          </a:prstGeom>
          <a:solidFill>
            <a:srgbClr val="E6F6F4"/>
          </a:solidFill>
          <a:ln w="12700">
            <a:solidFill>
              <a:srgbClr val="7FCBBF"/>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1C7F74"/>
                </a:solidFill>
                <a:latin typeface="Calibri" pitchFamily="34" charset="0"/>
                <a:ea typeface="Calibri" pitchFamily="34" charset="-122"/>
                <a:cs typeface="Calibri" pitchFamily="34" charset="-120"/>
              </a:rPr>
              <a:t>Clean</a:t>
            </a:r>
            <a:endParaRPr lang="en-US" sz="1200" dirty="0"/>
          </a:p>
        </p:txBody>
      </p:sp>
      <p:graphicFrame>
        <p:nvGraphicFramePr>
          <p:cNvPr id="8" name="Chart 0"/>
          <p:cNvGraphicFramePr/>
          <p:nvPr/>
        </p:nvGraphicFramePr>
        <p:xfrm>
          <a:off x="548640" y="1417320"/>
          <a:ext cx="51206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548640" y="4709160"/>
            <a:ext cx="1600200" cy="1371600"/>
          </a:xfrm>
          <a:prstGeom prst="roundRect">
            <a:avLst>
              <a:gd name="adj" fmla="val 8000"/>
            </a:avLst>
          </a:prstGeom>
          <a:solidFill>
            <a:srgbClr val="E6F6F4"/>
          </a:solidFill>
          <a:ln w="12700">
            <a:solidFill>
              <a:srgbClr val="E6F6F4"/>
            </a:solidFill>
            <a:prstDash val="solid"/>
          </a:ln>
        </p:spPr>
        <p:txBody>
          <a:bodyPr/>
          <a:lstStyle/>
          <a:p>
            <a:endParaRPr/>
          </a:p>
        </p:txBody>
      </p:sp>
      <p:sp>
        <p:nvSpPr>
          <p:cNvPr id="10" name="Text 7"/>
          <p:cNvSpPr txBox="1"/>
          <p:nvPr/>
        </p:nvSpPr>
        <p:spPr>
          <a:xfrm>
            <a:off x="640080" y="4846320"/>
            <a:ext cx="1417320" cy="502920"/>
          </a:xfrm>
          <a:prstGeom prst="rect">
            <a:avLst/>
          </a:prstGeom>
          <a:noFill/>
          <a:ln/>
        </p:spPr>
        <p:txBody>
          <a:bodyPr wrap="square" lIns="0" tIns="0" rIns="0" bIns="0" rtlCol="0" anchor="ctr"/>
          <a:lstStyle/>
          <a:p>
            <a:pPr marL="0" indent="0" algn="ctr">
              <a:buNone/>
            </a:pPr>
            <a:r>
              <a:rPr lang="en-US" sz="2200" b="1" dirty="0">
                <a:solidFill>
                  <a:srgbClr val="1C7F74"/>
                </a:solidFill>
                <a:latin typeface="Calibri" pitchFamily="34" charset="0"/>
                <a:ea typeface="Calibri" pitchFamily="34" charset="-122"/>
                <a:cs typeface="Calibri" pitchFamily="34" charset="-120"/>
              </a:rPr>
              <a:t>−29</a:t>
            </a:r>
            <a:endParaRPr lang="en-US" sz="2200" dirty="0"/>
          </a:p>
        </p:txBody>
      </p:sp>
      <p:sp>
        <p:nvSpPr>
          <p:cNvPr id="11" name="Text 8"/>
          <p:cNvSpPr txBox="1"/>
          <p:nvPr/>
        </p:nvSpPr>
        <p:spPr>
          <a:xfrm>
            <a:off x="658368" y="5367528"/>
            <a:ext cx="1380744" cy="640080"/>
          </a:xfrm>
          <a:prstGeom prst="rect">
            <a:avLst/>
          </a:prstGeom>
          <a:noFill/>
          <a:ln/>
        </p:spPr>
        <p:txBody>
          <a:bodyPr wrap="square" lIns="0" tIns="0" rIns="0" bIns="0" rtlCol="0" anchor="t"/>
          <a:lstStyle/>
          <a:p>
            <a:pPr marL="0" indent="0" algn="ctr">
              <a:buNone/>
            </a:pPr>
            <a:r>
              <a:rPr lang="en-US" sz="1100" dirty="0">
                <a:solidFill>
                  <a:srgbClr val="1F2937"/>
                </a:solidFill>
                <a:latin typeface="Calibri" pitchFamily="34" charset="0"/>
                <a:ea typeface="Calibri" pitchFamily="34" charset="-122"/>
                <a:cs typeface="Calibri" pitchFamily="34" charset="-120"/>
              </a:rPr>
              <a:t>outside Saudi Arabia</a:t>
            </a:r>
            <a:endParaRPr lang="en-US" sz="1100" dirty="0"/>
          </a:p>
        </p:txBody>
      </p:sp>
      <p:sp>
        <p:nvSpPr>
          <p:cNvPr id="12" name="Shape 9"/>
          <p:cNvSpPr/>
          <p:nvPr/>
        </p:nvSpPr>
        <p:spPr>
          <a:xfrm>
            <a:off x="2286000" y="4709160"/>
            <a:ext cx="1600200" cy="1371600"/>
          </a:xfrm>
          <a:prstGeom prst="roundRect">
            <a:avLst>
              <a:gd name="adj" fmla="val 8000"/>
            </a:avLst>
          </a:prstGeom>
          <a:solidFill>
            <a:srgbClr val="E6F6F4"/>
          </a:solidFill>
          <a:ln w="12700">
            <a:solidFill>
              <a:srgbClr val="E6F6F4"/>
            </a:solidFill>
            <a:prstDash val="solid"/>
          </a:ln>
        </p:spPr>
        <p:txBody>
          <a:bodyPr/>
          <a:lstStyle/>
          <a:p>
            <a:endParaRPr/>
          </a:p>
        </p:txBody>
      </p:sp>
      <p:sp>
        <p:nvSpPr>
          <p:cNvPr id="13" name="Text 10"/>
          <p:cNvSpPr txBox="1"/>
          <p:nvPr/>
        </p:nvSpPr>
        <p:spPr>
          <a:xfrm>
            <a:off x="2377440" y="4846320"/>
            <a:ext cx="1417320" cy="502920"/>
          </a:xfrm>
          <a:prstGeom prst="rect">
            <a:avLst/>
          </a:prstGeom>
          <a:noFill/>
          <a:ln/>
        </p:spPr>
        <p:txBody>
          <a:bodyPr wrap="square" lIns="0" tIns="0" rIns="0" bIns="0" rtlCol="0" anchor="ctr"/>
          <a:lstStyle/>
          <a:p>
            <a:pPr marL="0" indent="0" algn="ctr">
              <a:buNone/>
            </a:pPr>
            <a:r>
              <a:rPr lang="en-US" sz="2200" b="1" dirty="0">
                <a:solidFill>
                  <a:srgbClr val="1C7F74"/>
                </a:solidFill>
                <a:latin typeface="Calibri" pitchFamily="34" charset="0"/>
                <a:ea typeface="Calibri" pitchFamily="34" charset="-122"/>
                <a:cs typeface="Calibri" pitchFamily="34" charset="-120"/>
              </a:rPr>
              <a:t>−32,418</a:t>
            </a:r>
            <a:endParaRPr lang="en-US" sz="2200" dirty="0"/>
          </a:p>
        </p:txBody>
      </p:sp>
      <p:sp>
        <p:nvSpPr>
          <p:cNvPr id="14" name="Text 11"/>
          <p:cNvSpPr txBox="1"/>
          <p:nvPr/>
        </p:nvSpPr>
        <p:spPr>
          <a:xfrm>
            <a:off x="2395728" y="5367528"/>
            <a:ext cx="1380744" cy="640080"/>
          </a:xfrm>
          <a:prstGeom prst="rect">
            <a:avLst/>
          </a:prstGeom>
          <a:noFill/>
          <a:ln/>
        </p:spPr>
        <p:txBody>
          <a:bodyPr wrap="square" lIns="0" tIns="0" rIns="0" bIns="0" rtlCol="0" anchor="t"/>
          <a:lstStyle/>
          <a:p>
            <a:pPr marL="0" indent="0" algn="ctr">
              <a:buNone/>
            </a:pPr>
            <a:r>
              <a:rPr lang="en-US" sz="1100" dirty="0">
                <a:solidFill>
                  <a:srgbClr val="1F2937"/>
                </a:solidFill>
                <a:latin typeface="Calibri" pitchFamily="34" charset="0"/>
                <a:ea typeface="Calibri" pitchFamily="34" charset="-122"/>
                <a:cs typeface="Calibri" pitchFamily="34" charset="-120"/>
              </a:rPr>
              <a:t>duplicate copies (repeat pulls, overlapping queries)</a:t>
            </a:r>
            <a:endParaRPr lang="en-US" sz="1100" dirty="0"/>
          </a:p>
        </p:txBody>
      </p:sp>
      <p:sp>
        <p:nvSpPr>
          <p:cNvPr id="15" name="Shape 12"/>
          <p:cNvSpPr/>
          <p:nvPr/>
        </p:nvSpPr>
        <p:spPr>
          <a:xfrm>
            <a:off x="4023360" y="4709160"/>
            <a:ext cx="1600200" cy="1371600"/>
          </a:xfrm>
          <a:prstGeom prst="roundRect">
            <a:avLst>
              <a:gd name="adj" fmla="val 8000"/>
            </a:avLst>
          </a:prstGeom>
          <a:solidFill>
            <a:srgbClr val="E6F6F4"/>
          </a:solidFill>
          <a:ln w="12700">
            <a:solidFill>
              <a:srgbClr val="E6F6F4"/>
            </a:solidFill>
            <a:prstDash val="solid"/>
          </a:ln>
        </p:spPr>
        <p:txBody>
          <a:bodyPr/>
          <a:lstStyle/>
          <a:p>
            <a:endParaRPr/>
          </a:p>
        </p:txBody>
      </p:sp>
      <p:sp>
        <p:nvSpPr>
          <p:cNvPr id="16" name="Text 13"/>
          <p:cNvSpPr txBox="1"/>
          <p:nvPr/>
        </p:nvSpPr>
        <p:spPr>
          <a:xfrm>
            <a:off x="4114800" y="4846320"/>
            <a:ext cx="1417320" cy="502920"/>
          </a:xfrm>
          <a:prstGeom prst="rect">
            <a:avLst/>
          </a:prstGeom>
          <a:noFill/>
          <a:ln/>
        </p:spPr>
        <p:txBody>
          <a:bodyPr wrap="square" lIns="0" tIns="0" rIns="0" bIns="0" rtlCol="0" anchor="ctr"/>
          <a:lstStyle/>
          <a:p>
            <a:pPr marL="0" indent="0" algn="ctr">
              <a:buNone/>
            </a:pPr>
            <a:r>
              <a:rPr lang="en-US" sz="2200" b="1" dirty="0">
                <a:solidFill>
                  <a:srgbClr val="1C7F74"/>
                </a:solidFill>
                <a:latin typeface="Calibri" pitchFamily="34" charset="0"/>
                <a:ea typeface="Calibri" pitchFamily="34" charset="-122"/>
                <a:cs typeface="Calibri" pitchFamily="34" charset="-120"/>
              </a:rPr>
              <a:t>−1,342</a:t>
            </a:r>
            <a:endParaRPr lang="en-US" sz="2200" dirty="0"/>
          </a:p>
        </p:txBody>
      </p:sp>
      <p:sp>
        <p:nvSpPr>
          <p:cNvPr id="17" name="Text 14"/>
          <p:cNvSpPr txBox="1"/>
          <p:nvPr/>
        </p:nvSpPr>
        <p:spPr>
          <a:xfrm>
            <a:off x="4133088" y="5367528"/>
            <a:ext cx="1380744" cy="640080"/>
          </a:xfrm>
          <a:prstGeom prst="rect">
            <a:avLst/>
          </a:prstGeom>
          <a:noFill/>
          <a:ln/>
        </p:spPr>
        <p:txBody>
          <a:bodyPr wrap="square" lIns="0" tIns="0" rIns="0" bIns="0" rtlCol="0" anchor="t"/>
          <a:lstStyle/>
          <a:p>
            <a:pPr marL="0" indent="0" algn="ctr">
              <a:buNone/>
            </a:pPr>
            <a:r>
              <a:rPr lang="en-US" sz="1100" dirty="0">
                <a:solidFill>
                  <a:srgbClr val="1F2937"/>
                </a:solidFill>
                <a:latin typeface="Calibri" pitchFamily="34" charset="0"/>
                <a:ea typeface="Calibri" pitchFamily="34" charset="-122"/>
                <a:cs typeface="Calibri" pitchFamily="34" charset="-120"/>
              </a:rPr>
              <a:t>same job on several sources, merged</a:t>
            </a:r>
            <a:endParaRPr lang="en-US" sz="1100" dirty="0"/>
          </a:p>
        </p:txBody>
      </p:sp>
      <p:sp>
        <p:nvSpPr>
          <p:cNvPr id="18" name="Text 15"/>
          <p:cNvSpPr txBox="1"/>
          <p:nvPr/>
        </p:nvSpPr>
        <p:spPr>
          <a:xfrm>
            <a:off x="6035040" y="1463040"/>
            <a:ext cx="5608015" cy="32004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Text</a:t>
            </a:r>
            <a:endParaRPr lang="en-US" sz="1500" dirty="0"/>
          </a:p>
        </p:txBody>
      </p:sp>
      <p:sp>
        <p:nvSpPr>
          <p:cNvPr id="19" name="Text 16"/>
          <p:cNvSpPr txBox="1"/>
          <p:nvPr/>
        </p:nvSpPr>
        <p:spPr>
          <a:xfrm>
            <a:off x="6035040" y="1792224"/>
            <a:ext cx="5608015" cy="566928"/>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HTML entities decoded and tags stripped; titles and company names normalized (case, punctuation, legal suffixes such as Ltd, Co., شركة)</a:t>
            </a:r>
            <a:endParaRPr lang="en-US" sz="1250" dirty="0"/>
          </a:p>
        </p:txBody>
      </p:sp>
      <p:sp>
        <p:nvSpPr>
          <p:cNvPr id="20" name="Text 17"/>
          <p:cNvSpPr txBox="1"/>
          <p:nvPr/>
        </p:nvSpPr>
        <p:spPr>
          <a:xfrm>
            <a:off x="6035040" y="2395728"/>
            <a:ext cx="5608015" cy="32004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Cities</a:t>
            </a:r>
            <a:endParaRPr lang="en-US" sz="1500" dirty="0"/>
          </a:p>
        </p:txBody>
      </p:sp>
      <p:sp>
        <p:nvSpPr>
          <p:cNvPr id="21" name="Text 18"/>
          <p:cNvSpPr txBox="1"/>
          <p:nvPr/>
        </p:nvSpPr>
        <p:spPr>
          <a:xfrm>
            <a:off x="6035040" y="2724912"/>
            <a:ext cx="5608015" cy="566928"/>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seed_city_mapping: 224 English and Arabic spellings → one city and region (جدة → Jeddah)</a:t>
            </a:r>
            <a:endParaRPr lang="en-US" sz="1250" dirty="0"/>
          </a:p>
        </p:txBody>
      </p:sp>
      <p:sp>
        <p:nvSpPr>
          <p:cNvPr id="22" name="Text 19"/>
          <p:cNvSpPr txBox="1"/>
          <p:nvPr/>
        </p:nvSpPr>
        <p:spPr>
          <a:xfrm>
            <a:off x="6035040" y="3328416"/>
            <a:ext cx="5608015" cy="32004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Companies</a:t>
            </a:r>
            <a:endParaRPr lang="en-US" sz="1500" dirty="0"/>
          </a:p>
        </p:txBody>
      </p:sp>
      <p:sp>
        <p:nvSpPr>
          <p:cNvPr id="23" name="Text 20"/>
          <p:cNvSpPr txBox="1"/>
          <p:nvPr/>
        </p:nvSpPr>
        <p:spPr>
          <a:xfrm>
            <a:off x="6035040" y="3657600"/>
            <a:ext cx="5608015" cy="566928"/>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seed_company_aliases: 742 spellings → one name; agencies and job boards flagged; placeholders → Employer not disclosed</a:t>
            </a:r>
            <a:endParaRPr lang="en-US" sz="1250" dirty="0"/>
          </a:p>
        </p:txBody>
      </p:sp>
      <p:sp>
        <p:nvSpPr>
          <p:cNvPr id="24" name="Text 21"/>
          <p:cNvSpPr txBox="1"/>
          <p:nvPr/>
        </p:nvSpPr>
        <p:spPr>
          <a:xfrm>
            <a:off x="6035040" y="4261104"/>
            <a:ext cx="5608015" cy="32004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Categories and types</a:t>
            </a:r>
            <a:endParaRPr lang="en-US" sz="1500" dirty="0"/>
          </a:p>
        </p:txBody>
      </p:sp>
      <p:sp>
        <p:nvSpPr>
          <p:cNvPr id="25" name="Text 22"/>
          <p:cNvSpPr txBox="1"/>
          <p:nvPr/>
        </p:nvSpPr>
        <p:spPr>
          <a:xfrm>
            <a:off x="6035040" y="4590288"/>
            <a:ext cx="5608015" cy="566928"/>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Job category from 171 title keywords; employment type and experience level mapped to closed lists</a:t>
            </a:r>
            <a:endParaRPr lang="en-US" sz="1250" dirty="0"/>
          </a:p>
        </p:txBody>
      </p:sp>
      <p:sp>
        <p:nvSpPr>
          <p:cNvPr id="26" name="Text 23"/>
          <p:cNvSpPr txBox="1"/>
          <p:nvPr/>
        </p:nvSpPr>
        <p:spPr>
          <a:xfrm>
            <a:off x="6035040" y="5193792"/>
            <a:ext cx="5608015" cy="32004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Matching</a:t>
            </a:r>
            <a:endParaRPr lang="en-US" sz="1500" dirty="0"/>
          </a:p>
        </p:txBody>
      </p:sp>
      <p:sp>
        <p:nvSpPr>
          <p:cNvPr id="27" name="Text 24"/>
          <p:cNvSpPr txBox="1"/>
          <p:nvPr/>
        </p:nvSpPr>
        <p:spPr>
          <a:xfrm>
            <a:off x="6035040" y="5522976"/>
            <a:ext cx="5608015" cy="566928"/>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Same normalized title + company + city = one job; close titles merged at Jaccard ≥ 80, chosen from 88 labelled pairs; the best source fills each field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14</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Data quality approach</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Rule: if a failure would publish a wrong number, it blocks the run; if it only lowers completeness, it warns</a:t>
            </a:r>
            <a:endParaRPr lang="en-US" sz="1500" dirty="0"/>
          </a:p>
        </p:txBody>
      </p:sp>
      <p:sp>
        <p:nvSpPr>
          <p:cNvPr id="6" name="Shape 4"/>
          <p:cNvSpPr/>
          <p:nvPr/>
        </p:nvSpPr>
        <p:spPr>
          <a:xfrm>
            <a:off x="9265615" y="475488"/>
            <a:ext cx="2377440" cy="384048"/>
          </a:xfrm>
          <a:prstGeom prst="roundRect">
            <a:avLst>
              <a:gd name="adj" fmla="val 50000"/>
            </a:avLst>
          </a:prstGeom>
          <a:solidFill>
            <a:srgbClr val="E6F6F4"/>
          </a:solidFill>
          <a:ln w="12700">
            <a:solidFill>
              <a:srgbClr val="7FCBBF"/>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1C7F74"/>
                </a:solidFill>
                <a:latin typeface="Calibri" pitchFamily="34" charset="0"/>
                <a:ea typeface="Calibri" pitchFamily="34" charset="-122"/>
                <a:cs typeface="Calibri" pitchFamily="34" charset="-120"/>
              </a:rPr>
              <a:t>Quality</a:t>
            </a:r>
            <a:endParaRPr lang="en-US" sz="1200" dirty="0"/>
          </a:p>
        </p:txBody>
      </p:sp>
      <p:sp>
        <p:nvSpPr>
          <p:cNvPr id="8" name="Shape 6"/>
          <p:cNvSpPr/>
          <p:nvPr/>
        </p:nvSpPr>
        <p:spPr>
          <a:xfrm>
            <a:off x="548640" y="1600200"/>
            <a:ext cx="4846320" cy="3429000"/>
          </a:xfrm>
          <a:prstGeom prst="roundRect">
            <a:avLst>
              <a:gd name="adj" fmla="val 3200"/>
            </a:avLst>
          </a:prstGeom>
          <a:solidFill>
            <a:srgbClr val="FDF1E7"/>
          </a:solidFill>
          <a:ln w="12700">
            <a:solidFill>
              <a:srgbClr val="FDF1E7"/>
            </a:solidFill>
            <a:prstDash val="solid"/>
          </a:ln>
        </p:spPr>
        <p:txBody>
          <a:bodyPr/>
          <a:lstStyle/>
          <a:p>
            <a:endParaRPr/>
          </a:p>
        </p:txBody>
      </p:sp>
      <p:sp>
        <p:nvSpPr>
          <p:cNvPr id="9" name="Text 7"/>
          <p:cNvSpPr txBox="1"/>
          <p:nvPr/>
        </p:nvSpPr>
        <p:spPr>
          <a:xfrm>
            <a:off x="822960" y="1828800"/>
            <a:ext cx="4297680" cy="411480"/>
          </a:xfrm>
          <a:prstGeom prst="rect">
            <a:avLst/>
          </a:prstGeom>
          <a:noFill/>
          <a:ln/>
        </p:spPr>
        <p:txBody>
          <a:bodyPr wrap="square" lIns="0" tIns="0" rIns="0" bIns="0" rtlCol="0" anchor="ctr"/>
          <a:lstStyle/>
          <a:p>
            <a:pPr marL="0" indent="0">
              <a:buNone/>
            </a:pPr>
            <a:r>
              <a:rPr lang="en-US" sz="1800" b="1" dirty="0">
                <a:solidFill>
                  <a:srgbClr val="B8621B"/>
                </a:solidFill>
                <a:latin typeface="Calibri" pitchFamily="34" charset="0"/>
                <a:ea typeface="Calibri" pitchFamily="34" charset="-122"/>
                <a:cs typeface="Calibri" pitchFamily="34" charset="-120"/>
              </a:rPr>
              <a:t>Blocks the run</a:t>
            </a:r>
            <a:endParaRPr lang="en-US" sz="1800" dirty="0"/>
          </a:p>
        </p:txBody>
      </p:sp>
      <p:sp>
        <p:nvSpPr>
          <p:cNvPr id="10" name="Text 8"/>
          <p:cNvSpPr txBox="1"/>
          <p:nvPr/>
        </p:nvSpPr>
        <p:spPr>
          <a:xfrm>
            <a:off x="822960" y="2377440"/>
            <a:ext cx="4343400" cy="2514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Every board of a source failed, an upload failed, or a file is not valid JSON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Employer boards older than 15 days (source freshness)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An ATS pull collapses to less than half of the pull before</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Keys unique and not null; closed vocabularies (accepted values)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Relationships on every fact and bridge key, incl. 6 date roles; one Unknown member per dimension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Reconciliation RAW → staging → listings → jobs → fact; lifecycle rules</a:t>
            </a:r>
            <a:endParaRPr lang="en-US" sz="1250" dirty="0"/>
          </a:p>
        </p:txBody>
      </p:sp>
      <p:sp>
        <p:nvSpPr>
          <p:cNvPr id="11" name="Shape 9"/>
          <p:cNvSpPr/>
          <p:nvPr/>
        </p:nvSpPr>
        <p:spPr>
          <a:xfrm>
            <a:off x="5641848" y="1600200"/>
            <a:ext cx="2926080" cy="3429000"/>
          </a:xfrm>
          <a:prstGeom prst="roundRect">
            <a:avLst>
              <a:gd name="adj" fmla="val 3750"/>
            </a:avLst>
          </a:prstGeom>
          <a:solidFill>
            <a:srgbClr val="E8F3FB"/>
          </a:solidFill>
          <a:ln w="12700">
            <a:solidFill>
              <a:srgbClr val="E8F3FB"/>
            </a:solidFill>
            <a:prstDash val="solid"/>
          </a:ln>
        </p:spPr>
        <p:txBody>
          <a:bodyPr/>
          <a:lstStyle/>
          <a:p>
            <a:endParaRPr/>
          </a:p>
        </p:txBody>
      </p:sp>
      <p:sp>
        <p:nvSpPr>
          <p:cNvPr id="12" name="Text 10"/>
          <p:cNvSpPr txBox="1"/>
          <p:nvPr/>
        </p:nvSpPr>
        <p:spPr>
          <a:xfrm>
            <a:off x="5916168" y="1828800"/>
            <a:ext cx="2377440" cy="411480"/>
          </a:xfrm>
          <a:prstGeom prst="rect">
            <a:avLst/>
          </a:prstGeom>
          <a:noFill/>
          <a:ln/>
        </p:spPr>
        <p:txBody>
          <a:bodyPr wrap="square" lIns="0" tIns="0" rIns="0" bIns="0" rtlCol="0" anchor="ctr"/>
          <a:lstStyle/>
          <a:p>
            <a:pPr marL="0" indent="0">
              <a:buNone/>
            </a:pPr>
            <a:r>
              <a:rPr lang="en-US" sz="1800" b="1" dirty="0">
                <a:solidFill>
                  <a:srgbClr val="1F6FA8"/>
                </a:solidFill>
                <a:latin typeface="Calibri" pitchFamily="34" charset="0"/>
                <a:ea typeface="Calibri" pitchFamily="34" charset="-122"/>
                <a:cs typeface="Calibri" pitchFamily="34" charset="-120"/>
              </a:rPr>
              <a:t>Warns only</a:t>
            </a:r>
            <a:endParaRPr lang="en-US" sz="1800" dirty="0"/>
          </a:p>
        </p:txBody>
      </p:sp>
      <p:sp>
        <p:nvSpPr>
          <p:cNvPr id="13" name="Text 11"/>
          <p:cNvSpPr txBox="1"/>
          <p:nvPr/>
        </p:nvSpPr>
        <p:spPr>
          <a:xfrm>
            <a:off x="5916168" y="2377440"/>
            <a:ext cx="2423160" cy="2514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Aggregators older than 8 days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Empty or unusable titles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HTML left in a description</a:t>
            </a:r>
            <a:endParaRPr lang="en-US" sz="1250" dirty="0"/>
          </a:p>
        </p:txBody>
      </p:sp>
      <p:sp>
        <p:nvSpPr>
          <p:cNvPr id="14" name="Shape 12"/>
          <p:cNvSpPr/>
          <p:nvPr/>
        </p:nvSpPr>
        <p:spPr>
          <a:xfrm>
            <a:off x="8814816" y="1600200"/>
            <a:ext cx="2926080" cy="3429000"/>
          </a:xfrm>
          <a:prstGeom prst="roundRect">
            <a:avLst>
              <a:gd name="adj" fmla="val 3750"/>
            </a:avLst>
          </a:prstGeom>
          <a:solidFill>
            <a:srgbClr val="EAF6EE"/>
          </a:solidFill>
          <a:ln w="12700">
            <a:solidFill>
              <a:srgbClr val="EAF6EE"/>
            </a:solidFill>
            <a:prstDash val="solid"/>
          </a:ln>
        </p:spPr>
        <p:txBody>
          <a:bodyPr/>
          <a:lstStyle/>
          <a:p>
            <a:endParaRPr/>
          </a:p>
        </p:txBody>
      </p:sp>
      <p:sp>
        <p:nvSpPr>
          <p:cNvPr id="15" name="Text 13"/>
          <p:cNvSpPr txBox="1"/>
          <p:nvPr/>
        </p:nvSpPr>
        <p:spPr>
          <a:xfrm>
            <a:off x="9089136" y="1828800"/>
            <a:ext cx="2377440" cy="411480"/>
          </a:xfrm>
          <a:prstGeom prst="rect">
            <a:avLst/>
          </a:prstGeom>
          <a:noFill/>
          <a:ln/>
        </p:spPr>
        <p:txBody>
          <a:bodyPr wrap="square" lIns="0" tIns="0" rIns="0" bIns="0" rtlCol="0" anchor="ctr"/>
          <a:lstStyle/>
          <a:p>
            <a:pPr marL="0" indent="0">
              <a:buNone/>
            </a:pPr>
            <a:r>
              <a:rPr lang="en-US" sz="1800" b="1" dirty="0">
                <a:solidFill>
                  <a:srgbClr val="12825A"/>
                </a:solidFill>
                <a:latin typeface="Calibri" pitchFamily="34" charset="0"/>
                <a:ea typeface="Calibri" pitchFamily="34" charset="-122"/>
                <a:cs typeface="Calibri" pitchFamily="34" charset="-120"/>
              </a:rPr>
              <a:t>Measured and reported</a:t>
            </a:r>
            <a:endParaRPr lang="en-US" sz="1800" dirty="0"/>
          </a:p>
        </p:txBody>
      </p:sp>
      <p:sp>
        <p:nvSpPr>
          <p:cNvPr id="16" name="Text 14"/>
          <p:cNvSpPr txBox="1"/>
          <p:nvPr/>
        </p:nvSpPr>
        <p:spPr>
          <a:xfrm>
            <a:off x="9089136" y="2377440"/>
            <a:ext cx="2423160" cy="2514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Share of Unknown values per field and source</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Landed files, failed pages, duplicates removed</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Jobs by lifecycle; sources fully pulled per week</a:t>
            </a:r>
            <a:endParaRPr lang="en-US" sz="1250" dirty="0"/>
          </a:p>
        </p:txBody>
      </p:sp>
      <p:sp>
        <p:nvSpPr>
          <p:cNvPr id="17" name="Text 15"/>
          <p:cNvSpPr txBox="1"/>
          <p:nvPr/>
        </p:nvSpPr>
        <p:spPr>
          <a:xfrm>
            <a:off x="548640" y="5257800"/>
            <a:ext cx="2651760" cy="548640"/>
          </a:xfrm>
          <a:prstGeom prst="rect">
            <a:avLst/>
          </a:prstGeom>
          <a:noFill/>
          <a:ln/>
        </p:spPr>
        <p:txBody>
          <a:bodyPr wrap="square" lIns="0" tIns="0" rIns="0" bIns="0" rtlCol="0" anchor="ctr"/>
          <a:lstStyle/>
          <a:p>
            <a:pPr marL="0" indent="0">
              <a:buNone/>
            </a:pPr>
            <a:r>
              <a:rPr lang="en-US" sz="3000" b="1" dirty="0">
                <a:solidFill>
                  <a:srgbClr val="14213D"/>
                </a:solidFill>
                <a:latin typeface="Calibri" pitchFamily="34" charset="0"/>
                <a:ea typeface="Calibri" pitchFamily="34" charset="-122"/>
                <a:cs typeface="Calibri" pitchFamily="34" charset="-120"/>
              </a:rPr>
              <a:t>288</a:t>
            </a:r>
            <a:endParaRPr lang="en-US" sz="3000" dirty="0"/>
          </a:p>
        </p:txBody>
      </p:sp>
      <p:sp>
        <p:nvSpPr>
          <p:cNvPr id="18" name="Text 16"/>
          <p:cNvSpPr txBox="1"/>
          <p:nvPr/>
        </p:nvSpPr>
        <p:spPr>
          <a:xfrm>
            <a:off x="548640" y="5788152"/>
            <a:ext cx="2651760" cy="320040"/>
          </a:xfrm>
          <a:prstGeom prst="rect">
            <a:avLst/>
          </a:prstGeom>
          <a:noFill/>
          <a:ln/>
        </p:spPr>
        <p:txBody>
          <a:bodyPr wrap="square" lIns="0" tIns="0" rIns="0" bIns="0" rtlCol="0" anchor="ctr"/>
          <a:lstStyle/>
          <a:p>
            <a:pPr marL="0" indent="0">
              <a:buNone/>
            </a:pPr>
            <a:r>
              <a:rPr lang="en-US" sz="1300" dirty="0">
                <a:solidFill>
                  <a:srgbClr val="5B6475"/>
                </a:solidFill>
                <a:latin typeface="Calibri" pitchFamily="34" charset="0"/>
                <a:ea typeface="Calibri" pitchFamily="34" charset="-122"/>
                <a:cs typeface="Calibri" pitchFamily="34" charset="-120"/>
              </a:rPr>
              <a:t>data tests</a:t>
            </a:r>
            <a:endParaRPr lang="en-US" sz="1300" dirty="0"/>
          </a:p>
        </p:txBody>
      </p:sp>
      <p:sp>
        <p:nvSpPr>
          <p:cNvPr id="19" name="Text 17"/>
          <p:cNvSpPr txBox="1"/>
          <p:nvPr/>
        </p:nvSpPr>
        <p:spPr>
          <a:xfrm>
            <a:off x="3383280" y="5257800"/>
            <a:ext cx="2651760" cy="548640"/>
          </a:xfrm>
          <a:prstGeom prst="rect">
            <a:avLst/>
          </a:prstGeom>
          <a:noFill/>
          <a:ln/>
        </p:spPr>
        <p:txBody>
          <a:bodyPr wrap="square" lIns="0" tIns="0" rIns="0" bIns="0" rtlCol="0" anchor="ctr"/>
          <a:lstStyle/>
          <a:p>
            <a:pPr marL="0" indent="0">
              <a:buNone/>
            </a:pPr>
            <a:r>
              <a:rPr lang="en-US" sz="3000" b="1" dirty="0">
                <a:solidFill>
                  <a:srgbClr val="14213D"/>
                </a:solidFill>
                <a:latin typeface="Calibri" pitchFamily="34" charset="0"/>
                <a:ea typeface="Calibri" pitchFamily="34" charset="-122"/>
                <a:cs typeface="Calibri" pitchFamily="34" charset="-120"/>
              </a:rPr>
              <a:t>19 / 19</a:t>
            </a:r>
            <a:endParaRPr lang="en-US" sz="3000" dirty="0"/>
          </a:p>
        </p:txBody>
      </p:sp>
      <p:sp>
        <p:nvSpPr>
          <p:cNvPr id="20" name="Text 18"/>
          <p:cNvSpPr txBox="1"/>
          <p:nvPr/>
        </p:nvSpPr>
        <p:spPr>
          <a:xfrm>
            <a:off x="3383280" y="5788152"/>
            <a:ext cx="2651760" cy="320040"/>
          </a:xfrm>
          <a:prstGeom prst="rect">
            <a:avLst/>
          </a:prstGeom>
          <a:noFill/>
          <a:ln/>
        </p:spPr>
        <p:txBody>
          <a:bodyPr wrap="square" lIns="0" tIns="0" rIns="0" bIns="0" rtlCol="0" anchor="ctr"/>
          <a:lstStyle/>
          <a:p>
            <a:pPr marL="0" indent="0">
              <a:buNone/>
            </a:pPr>
            <a:r>
              <a:rPr lang="en-US" sz="1300" dirty="0">
                <a:solidFill>
                  <a:srgbClr val="5B6475"/>
                </a:solidFill>
                <a:latin typeface="Calibri" pitchFamily="34" charset="0"/>
                <a:ea typeface="Calibri" pitchFamily="34" charset="-122"/>
                <a:cs typeface="Calibri" pitchFamily="34" charset="-120"/>
              </a:rPr>
              <a:t>reconciliation checks</a:t>
            </a:r>
            <a:endParaRPr lang="en-US" sz="1300" dirty="0"/>
          </a:p>
        </p:txBody>
      </p:sp>
      <p:sp>
        <p:nvSpPr>
          <p:cNvPr id="21" name="Text 19"/>
          <p:cNvSpPr txBox="1"/>
          <p:nvPr/>
        </p:nvSpPr>
        <p:spPr>
          <a:xfrm>
            <a:off x="6217920" y="5257800"/>
            <a:ext cx="2651760" cy="548640"/>
          </a:xfrm>
          <a:prstGeom prst="rect">
            <a:avLst/>
          </a:prstGeom>
          <a:noFill/>
          <a:ln/>
        </p:spPr>
        <p:txBody>
          <a:bodyPr wrap="square" lIns="0" tIns="0" rIns="0" bIns="0" rtlCol="0" anchor="ctr"/>
          <a:lstStyle/>
          <a:p>
            <a:pPr marL="0" indent="0">
              <a:buNone/>
            </a:pPr>
            <a:r>
              <a:rPr lang="en-US" sz="3000" b="1" dirty="0">
                <a:solidFill>
                  <a:srgbClr val="14213D"/>
                </a:solidFill>
                <a:latin typeface="Calibri" pitchFamily="34" charset="0"/>
                <a:ea typeface="Calibri" pitchFamily="34" charset="-122"/>
                <a:cs typeface="Calibri" pitchFamily="34" charset="-120"/>
              </a:rPr>
              <a:t>0</a:t>
            </a:r>
            <a:endParaRPr lang="en-US" sz="3000" dirty="0"/>
          </a:p>
        </p:txBody>
      </p:sp>
      <p:sp>
        <p:nvSpPr>
          <p:cNvPr id="22" name="Text 20"/>
          <p:cNvSpPr txBox="1"/>
          <p:nvPr/>
        </p:nvSpPr>
        <p:spPr>
          <a:xfrm>
            <a:off x="6217920" y="5788152"/>
            <a:ext cx="2651760" cy="320040"/>
          </a:xfrm>
          <a:prstGeom prst="rect">
            <a:avLst/>
          </a:prstGeom>
          <a:noFill/>
          <a:ln/>
        </p:spPr>
        <p:txBody>
          <a:bodyPr wrap="square" lIns="0" tIns="0" rIns="0" bIns="0" rtlCol="0" anchor="ctr"/>
          <a:lstStyle/>
          <a:p>
            <a:pPr marL="0" indent="0">
              <a:buNone/>
            </a:pPr>
            <a:r>
              <a:rPr lang="en-US" sz="1300" dirty="0">
                <a:solidFill>
                  <a:srgbClr val="5B6475"/>
                </a:solidFill>
                <a:latin typeface="Calibri" pitchFamily="34" charset="0"/>
                <a:ea typeface="Calibri" pitchFamily="34" charset="-122"/>
                <a:cs typeface="Calibri" pitchFamily="34" charset="-120"/>
              </a:rPr>
              <a:t>failed tests in the final build</a:t>
            </a:r>
            <a:endParaRPr lang="en-US" sz="1300" dirty="0"/>
          </a:p>
        </p:txBody>
      </p:sp>
      <p:sp>
        <p:nvSpPr>
          <p:cNvPr id="23" name="Text 21"/>
          <p:cNvSpPr txBox="1"/>
          <p:nvPr/>
        </p:nvSpPr>
        <p:spPr>
          <a:xfrm>
            <a:off x="9052560" y="5257800"/>
            <a:ext cx="2651760" cy="548640"/>
          </a:xfrm>
          <a:prstGeom prst="rect">
            <a:avLst/>
          </a:prstGeom>
          <a:noFill/>
          <a:ln/>
        </p:spPr>
        <p:txBody>
          <a:bodyPr wrap="square" lIns="0" tIns="0" rIns="0" bIns="0" rtlCol="0" anchor="ctr"/>
          <a:lstStyle/>
          <a:p>
            <a:pPr marL="0" indent="0">
              <a:buNone/>
            </a:pPr>
            <a:r>
              <a:rPr lang="en-US" sz="3000" b="1" dirty="0">
                <a:solidFill>
                  <a:srgbClr val="14213D"/>
                </a:solidFill>
                <a:latin typeface="Calibri" pitchFamily="34" charset="0"/>
                <a:ea typeface="Calibri" pitchFamily="34" charset="-122"/>
                <a:cs typeface="Calibri" pitchFamily="34" charset="-120"/>
              </a:rPr>
              <a:t>0</a:t>
            </a:r>
            <a:endParaRPr lang="en-US" sz="3000" dirty="0"/>
          </a:p>
        </p:txBody>
      </p:sp>
      <p:sp>
        <p:nvSpPr>
          <p:cNvPr id="24" name="Text 22"/>
          <p:cNvSpPr txBox="1"/>
          <p:nvPr/>
        </p:nvSpPr>
        <p:spPr>
          <a:xfrm>
            <a:off x="9052560" y="5788152"/>
            <a:ext cx="2651760" cy="320040"/>
          </a:xfrm>
          <a:prstGeom prst="rect">
            <a:avLst/>
          </a:prstGeom>
          <a:noFill/>
          <a:ln/>
        </p:spPr>
        <p:txBody>
          <a:bodyPr wrap="square" lIns="0" tIns="0" rIns="0" bIns="0" rtlCol="0" anchor="ctr"/>
          <a:lstStyle/>
          <a:p>
            <a:pPr marL="0" indent="0">
              <a:buNone/>
            </a:pPr>
            <a:r>
              <a:rPr lang="en-US" sz="1300" dirty="0">
                <a:solidFill>
                  <a:srgbClr val="5B6475"/>
                </a:solidFill>
                <a:latin typeface="Calibri" pitchFamily="34" charset="0"/>
                <a:ea typeface="Calibri" pitchFamily="34" charset="-122"/>
                <a:cs typeface="Calibri" pitchFamily="34" charset="-120"/>
              </a:rPr>
              <a:t>warnings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15</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The marts: one fact table, eight dimensions</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Grain: one job = one job advertisement in one Saudi location, after cross-source matching</a:t>
            </a:r>
            <a:endParaRPr lang="en-US" sz="1500" dirty="0"/>
          </a:p>
        </p:txBody>
      </p:sp>
      <p:sp>
        <p:nvSpPr>
          <p:cNvPr id="6" name="Shape 4"/>
          <p:cNvSpPr/>
          <p:nvPr/>
        </p:nvSpPr>
        <p:spPr>
          <a:xfrm>
            <a:off x="9265615" y="475488"/>
            <a:ext cx="2377440" cy="384048"/>
          </a:xfrm>
          <a:prstGeom prst="roundRect">
            <a:avLst>
              <a:gd name="adj" fmla="val 50000"/>
            </a:avLst>
          </a:prstGeom>
          <a:solidFill>
            <a:srgbClr val="E6F6F4"/>
          </a:solidFill>
          <a:ln w="12700">
            <a:solidFill>
              <a:srgbClr val="7FCBBF"/>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1C7F74"/>
                </a:solidFill>
                <a:latin typeface="Calibri" pitchFamily="34" charset="0"/>
                <a:ea typeface="Calibri" pitchFamily="34" charset="-122"/>
                <a:cs typeface="Calibri" pitchFamily="34" charset="-120"/>
              </a:rPr>
              <a:t>Model</a:t>
            </a:r>
            <a:endParaRPr lang="en-US" sz="1200" dirty="0"/>
          </a:p>
        </p:txBody>
      </p:sp>
      <p:pic>
        <p:nvPicPr>
          <p:cNvPr id="8" name="Image 0" descr="/tmp/claude-0/-home-claude/1b360440-86fa-54fd-887e-dca90a726550/scratchpad/v4/job-data-pipeline-main/dbt/data_modeling/schema_diagram.png"/>
          <p:cNvPicPr>
            <a:picLocks noChangeAspect="1"/>
          </p:cNvPicPr>
          <p:nvPr/>
        </p:nvPicPr>
        <p:blipFill>
          <a:blip r:embed="rId3"/>
          <a:stretch>
            <a:fillRect/>
          </a:stretch>
        </p:blipFill>
        <p:spPr>
          <a:xfrm>
            <a:off x="548640" y="1417320"/>
            <a:ext cx="6492240" cy="4910700"/>
          </a:xfrm>
          <a:prstGeom prst="rect">
            <a:avLst/>
          </a:prstGeom>
        </p:spPr>
      </p:pic>
      <p:sp>
        <p:nvSpPr>
          <p:cNvPr id="9" name="Text 6"/>
          <p:cNvSpPr txBox="1"/>
          <p:nvPr/>
        </p:nvSpPr>
        <p:spPr>
          <a:xfrm>
            <a:off x="7315200" y="1508760"/>
            <a:ext cx="4327855" cy="320040"/>
          </a:xfrm>
          <a:prstGeom prst="rect">
            <a:avLst/>
          </a:prstGeom>
          <a:noFill/>
          <a:ln/>
        </p:spPr>
        <p:txBody>
          <a:bodyPr wrap="square" lIns="0" tIns="0" rIns="0" bIns="0" rtlCol="0" anchor="t"/>
          <a:lstStyle/>
          <a:p>
            <a:pPr marL="0" indent="0">
              <a:buNone/>
            </a:pPr>
            <a:r>
              <a:rPr lang="en-US" sz="1400" b="1" dirty="0">
                <a:solidFill>
                  <a:srgbClr val="1C7F74"/>
                </a:solidFill>
                <a:latin typeface="Calibri" pitchFamily="34" charset="0"/>
                <a:ea typeface="Calibri" pitchFamily="34" charset="-122"/>
                <a:cs typeface="Calibri" pitchFamily="34" charset="-120"/>
              </a:rPr>
              <a:t>fct_jobs</a:t>
            </a:r>
            <a:endParaRPr lang="en-US" sz="1400" dirty="0"/>
          </a:p>
        </p:txBody>
      </p:sp>
      <p:sp>
        <p:nvSpPr>
          <p:cNvPr id="10" name="Text 7"/>
          <p:cNvSpPr txBox="1"/>
          <p:nvPr/>
        </p:nvSpPr>
        <p:spPr>
          <a:xfrm>
            <a:off x="7315200" y="1837944"/>
            <a:ext cx="4327855" cy="566928"/>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19,148 jobs; listing counts per source, days listed, salary, lifecycle status</a:t>
            </a:r>
            <a:endParaRPr lang="en-US" sz="1200" dirty="0"/>
          </a:p>
        </p:txBody>
      </p:sp>
      <p:sp>
        <p:nvSpPr>
          <p:cNvPr id="11" name="Text 8"/>
          <p:cNvSpPr txBox="1"/>
          <p:nvPr/>
        </p:nvSpPr>
        <p:spPr>
          <a:xfrm>
            <a:off x="7315200" y="2441448"/>
            <a:ext cx="4327855" cy="320040"/>
          </a:xfrm>
          <a:prstGeom prst="rect">
            <a:avLst/>
          </a:prstGeom>
          <a:noFill/>
          <a:ln/>
        </p:spPr>
        <p:txBody>
          <a:bodyPr wrap="square" lIns="0" tIns="0" rIns="0" bIns="0" rtlCol="0" anchor="t"/>
          <a:lstStyle/>
          <a:p>
            <a:pPr marL="0" indent="0">
              <a:buNone/>
            </a:pPr>
            <a:r>
              <a:rPr lang="en-US" sz="1400" b="1" dirty="0">
                <a:solidFill>
                  <a:srgbClr val="1C7F74"/>
                </a:solidFill>
                <a:latin typeface="Calibri" pitchFamily="34" charset="0"/>
                <a:ea typeface="Calibri" pitchFamily="34" charset="-122"/>
                <a:cs typeface="Calibri" pitchFamily="34" charset="-120"/>
              </a:rPr>
              <a:t>Six date roles</a:t>
            </a:r>
            <a:endParaRPr lang="en-US" sz="1400" dirty="0"/>
          </a:p>
        </p:txBody>
      </p:sp>
      <p:sp>
        <p:nvSpPr>
          <p:cNvPr id="12" name="Text 9"/>
          <p:cNvSpPr txBox="1"/>
          <p:nvPr/>
        </p:nvSpPr>
        <p:spPr>
          <a:xfrm>
            <a:off x="7315200" y="2770632"/>
            <a:ext cx="4327855" cy="566928"/>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posted, first seen, last seen, opening, open until, disappeared: one dim_date</a:t>
            </a:r>
            <a:endParaRPr lang="en-US" sz="1200" dirty="0"/>
          </a:p>
        </p:txBody>
      </p:sp>
      <p:sp>
        <p:nvSpPr>
          <p:cNvPr id="13" name="Text 10"/>
          <p:cNvSpPr txBox="1"/>
          <p:nvPr/>
        </p:nvSpPr>
        <p:spPr>
          <a:xfrm>
            <a:off x="7315200" y="3374136"/>
            <a:ext cx="4327855" cy="320040"/>
          </a:xfrm>
          <a:prstGeom prst="rect">
            <a:avLst/>
          </a:prstGeom>
          <a:noFill/>
          <a:ln/>
        </p:spPr>
        <p:txBody>
          <a:bodyPr wrap="square" lIns="0" tIns="0" rIns="0" bIns="0" rtlCol="0" anchor="t"/>
          <a:lstStyle/>
          <a:p>
            <a:pPr marL="0" indent="0">
              <a:buNone/>
            </a:pPr>
            <a:r>
              <a:rPr lang="en-US" sz="1400" b="1" dirty="0">
                <a:solidFill>
                  <a:srgbClr val="1C7F74"/>
                </a:solidFill>
                <a:latin typeface="Calibri" pitchFamily="34" charset="0"/>
                <a:ea typeface="Calibri" pitchFamily="34" charset="-122"/>
                <a:cs typeface="Calibri" pitchFamily="34" charset="-120"/>
              </a:rPr>
              <a:t>dim_role</a:t>
            </a:r>
            <a:endParaRPr lang="en-US" sz="1400" dirty="0"/>
          </a:p>
        </p:txBody>
      </p:sp>
      <p:sp>
        <p:nvSpPr>
          <p:cNvPr id="14" name="Text 11"/>
          <p:cNvSpPr txBox="1"/>
          <p:nvPr/>
        </p:nvSpPr>
        <p:spPr>
          <a:xfrm>
            <a:off x="7315200" y="3703320"/>
            <a:ext cx="4327855" cy="566928"/>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Job category rolls up to 7 role families</a:t>
            </a:r>
            <a:endParaRPr lang="en-US" sz="1200" dirty="0"/>
          </a:p>
        </p:txBody>
      </p:sp>
      <p:sp>
        <p:nvSpPr>
          <p:cNvPr id="15" name="Text 12"/>
          <p:cNvSpPr txBox="1"/>
          <p:nvPr/>
        </p:nvSpPr>
        <p:spPr>
          <a:xfrm>
            <a:off x="7315200" y="4306824"/>
            <a:ext cx="4327855" cy="320040"/>
          </a:xfrm>
          <a:prstGeom prst="rect">
            <a:avLst/>
          </a:prstGeom>
          <a:noFill/>
          <a:ln/>
        </p:spPr>
        <p:txBody>
          <a:bodyPr wrap="square" lIns="0" tIns="0" rIns="0" bIns="0" rtlCol="0" anchor="t"/>
          <a:lstStyle/>
          <a:p>
            <a:pPr marL="0" indent="0">
              <a:buNone/>
            </a:pPr>
            <a:r>
              <a:rPr lang="en-US" sz="1400" b="1" dirty="0">
                <a:solidFill>
                  <a:srgbClr val="1C7F74"/>
                </a:solidFill>
                <a:latin typeface="Calibri" pitchFamily="34" charset="0"/>
                <a:ea typeface="Calibri" pitchFamily="34" charset="-122"/>
                <a:cs typeface="Calibri" pitchFamily="34" charset="-120"/>
              </a:rPr>
              <a:t>bridge_job_skill</a:t>
            </a:r>
            <a:endParaRPr lang="en-US" sz="1400" dirty="0"/>
          </a:p>
        </p:txBody>
      </p:sp>
      <p:sp>
        <p:nvSpPr>
          <p:cNvPr id="16" name="Text 13"/>
          <p:cNvSpPr txBox="1"/>
          <p:nvPr/>
        </p:nvSpPr>
        <p:spPr>
          <a:xfrm>
            <a:off x="7315200" y="4636008"/>
            <a:ext cx="4327855" cy="566928"/>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22,822 job–skill rows; count jobs with DISTINCTCOUNT(job_sk)</a:t>
            </a:r>
            <a:endParaRPr lang="en-US" sz="1200" dirty="0"/>
          </a:p>
        </p:txBody>
      </p:sp>
      <p:sp>
        <p:nvSpPr>
          <p:cNvPr id="17" name="Text 14"/>
          <p:cNvSpPr txBox="1"/>
          <p:nvPr/>
        </p:nvSpPr>
        <p:spPr>
          <a:xfrm>
            <a:off x="7315200" y="5239512"/>
            <a:ext cx="4327855" cy="320040"/>
          </a:xfrm>
          <a:prstGeom prst="rect">
            <a:avLst/>
          </a:prstGeom>
          <a:noFill/>
          <a:ln/>
        </p:spPr>
        <p:txBody>
          <a:bodyPr wrap="square" lIns="0" tIns="0" rIns="0" bIns="0" rtlCol="0" anchor="t"/>
          <a:lstStyle/>
          <a:p>
            <a:pPr marL="0" indent="0">
              <a:buNone/>
            </a:pPr>
            <a:r>
              <a:rPr lang="en-US" sz="1400" b="1" dirty="0">
                <a:solidFill>
                  <a:srgbClr val="1C7F74"/>
                </a:solidFill>
                <a:latin typeface="Calibri" pitchFamily="34" charset="0"/>
                <a:ea typeface="Calibri" pitchFamily="34" charset="-122"/>
                <a:cs typeface="Calibri" pitchFamily="34" charset="-120"/>
              </a:rPr>
              <a:t>Unknown member</a:t>
            </a:r>
            <a:endParaRPr lang="en-US" sz="1400" dirty="0"/>
          </a:p>
        </p:txBody>
      </p:sp>
      <p:sp>
        <p:nvSpPr>
          <p:cNvPr id="18" name="Text 15"/>
          <p:cNvSpPr txBox="1"/>
          <p:nvPr/>
        </p:nvSpPr>
        <p:spPr>
          <a:xfrm>
            <a:off x="7315200" y="5568696"/>
            <a:ext cx="4327855" cy="566928"/>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A '-1' row where a value can be missing, so no null keys; every job has a known source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16</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Design decisions</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Each choice and the reason behind it</a:t>
            </a:r>
            <a:endParaRPr lang="en-US" sz="1500" dirty="0"/>
          </a:p>
        </p:txBody>
      </p:sp>
      <p:sp>
        <p:nvSpPr>
          <p:cNvPr id="6" name="Shape 4"/>
          <p:cNvSpPr/>
          <p:nvPr/>
        </p:nvSpPr>
        <p:spPr>
          <a:xfrm>
            <a:off x="9265615" y="475488"/>
            <a:ext cx="2377440" cy="384048"/>
          </a:xfrm>
          <a:prstGeom prst="roundRect">
            <a:avLst>
              <a:gd name="adj" fmla="val 50000"/>
            </a:avLst>
          </a:prstGeom>
          <a:solidFill>
            <a:srgbClr val="E6F6F4"/>
          </a:solidFill>
          <a:ln w="12700">
            <a:solidFill>
              <a:srgbClr val="7FCBBF"/>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1C7F74"/>
                </a:solidFill>
                <a:latin typeface="Calibri" pitchFamily="34" charset="0"/>
                <a:ea typeface="Calibri" pitchFamily="34" charset="-122"/>
                <a:cs typeface="Calibri" pitchFamily="34" charset="-120"/>
              </a:rPr>
              <a:t>Model</a:t>
            </a:r>
            <a:endParaRPr lang="en-US" sz="1200" dirty="0"/>
          </a:p>
        </p:txBody>
      </p:sp>
      <p:sp>
        <p:nvSpPr>
          <p:cNvPr id="8" name="Shape 6"/>
          <p:cNvSpPr/>
          <p:nvPr/>
        </p:nvSpPr>
        <p:spPr>
          <a:xfrm>
            <a:off x="548640" y="1554480"/>
            <a:ext cx="5349240" cy="1078992"/>
          </a:xfrm>
          <a:prstGeom prst="roundRect">
            <a:avLst>
              <a:gd name="adj" fmla="val 10169"/>
            </a:avLst>
          </a:prstGeom>
          <a:solidFill>
            <a:srgbClr val="E6F6F4"/>
          </a:solidFill>
          <a:ln w="12700">
            <a:solidFill>
              <a:srgbClr val="E6F6F4"/>
            </a:solidFill>
            <a:prstDash val="solid"/>
          </a:ln>
        </p:spPr>
        <p:txBody>
          <a:bodyPr/>
          <a:lstStyle/>
          <a:p>
            <a:endParaRPr/>
          </a:p>
        </p:txBody>
      </p:sp>
      <p:sp>
        <p:nvSpPr>
          <p:cNvPr id="9" name="Text 7"/>
          <p:cNvSpPr txBox="1"/>
          <p:nvPr/>
        </p:nvSpPr>
        <p:spPr>
          <a:xfrm>
            <a:off x="822960" y="1664208"/>
            <a:ext cx="480060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One fact table, fct_jobs</a:t>
            </a:r>
            <a:endParaRPr lang="en-US" sz="1500" dirty="0"/>
          </a:p>
        </p:txBody>
      </p:sp>
      <p:sp>
        <p:nvSpPr>
          <p:cNvPr id="10" name="Text 8"/>
          <p:cNvSpPr txBox="1"/>
          <p:nvPr/>
        </p:nvSpPr>
        <p:spPr>
          <a:xfrm>
            <a:off x="822960" y="2029968"/>
            <a:ext cx="4800600" cy="530352"/>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One grain answers all 9 questions; every question is a join from the fact to one dimension</a:t>
            </a:r>
            <a:endParaRPr lang="en-US" sz="1250" dirty="0"/>
          </a:p>
        </p:txBody>
      </p:sp>
      <p:sp>
        <p:nvSpPr>
          <p:cNvPr id="11" name="Shape 9"/>
          <p:cNvSpPr/>
          <p:nvPr/>
        </p:nvSpPr>
        <p:spPr>
          <a:xfrm>
            <a:off x="6291072" y="1554480"/>
            <a:ext cx="5349240" cy="1078992"/>
          </a:xfrm>
          <a:prstGeom prst="roundRect">
            <a:avLst>
              <a:gd name="adj" fmla="val 10169"/>
            </a:avLst>
          </a:prstGeom>
          <a:solidFill>
            <a:srgbClr val="F4F6F9"/>
          </a:solidFill>
          <a:ln w="12700">
            <a:solidFill>
              <a:srgbClr val="F4F6F9"/>
            </a:solidFill>
            <a:prstDash val="solid"/>
          </a:ln>
        </p:spPr>
        <p:txBody>
          <a:bodyPr/>
          <a:lstStyle/>
          <a:p>
            <a:endParaRPr/>
          </a:p>
        </p:txBody>
      </p:sp>
      <p:sp>
        <p:nvSpPr>
          <p:cNvPr id="12" name="Text 10"/>
          <p:cNvSpPr txBox="1"/>
          <p:nvPr/>
        </p:nvSpPr>
        <p:spPr>
          <a:xfrm>
            <a:off x="6565392" y="1664208"/>
            <a:ext cx="480060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Grain: a posting in one city</a:t>
            </a:r>
            <a:endParaRPr lang="en-US" sz="1500" dirty="0"/>
          </a:p>
        </p:txBody>
      </p:sp>
      <p:sp>
        <p:nvSpPr>
          <p:cNvPr id="13" name="Text 11"/>
          <p:cNvSpPr txBox="1"/>
          <p:nvPr/>
        </p:nvSpPr>
        <p:spPr>
          <a:xfrm>
            <a:off x="6565392" y="2029968"/>
            <a:ext cx="4800600" cy="530352"/>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Multi-city postings count in every city; COUNT(DISTINCT posting_sk) still counts each posting once</a:t>
            </a:r>
            <a:endParaRPr lang="en-US" sz="1250" dirty="0"/>
          </a:p>
        </p:txBody>
      </p:sp>
      <p:sp>
        <p:nvSpPr>
          <p:cNvPr id="14" name="Shape 12"/>
          <p:cNvSpPr/>
          <p:nvPr/>
        </p:nvSpPr>
        <p:spPr>
          <a:xfrm>
            <a:off x="548640" y="2743200"/>
            <a:ext cx="5349240" cy="1078992"/>
          </a:xfrm>
          <a:prstGeom prst="roundRect">
            <a:avLst>
              <a:gd name="adj" fmla="val 10169"/>
            </a:avLst>
          </a:prstGeom>
          <a:solidFill>
            <a:srgbClr val="F4F6F9"/>
          </a:solidFill>
          <a:ln w="12700">
            <a:solidFill>
              <a:srgbClr val="F4F6F9"/>
            </a:solidFill>
            <a:prstDash val="solid"/>
          </a:ln>
        </p:spPr>
        <p:txBody>
          <a:bodyPr/>
          <a:lstStyle/>
          <a:p>
            <a:endParaRPr/>
          </a:p>
        </p:txBody>
      </p:sp>
      <p:sp>
        <p:nvSpPr>
          <p:cNvPr id="15" name="Text 13"/>
          <p:cNvSpPr txBox="1"/>
          <p:nvPr/>
        </p:nvSpPr>
        <p:spPr>
          <a:xfrm>
            <a:off x="822960" y="2852928"/>
            <a:ext cx="480060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Accumulating snapshot</a:t>
            </a:r>
            <a:endParaRPr lang="en-US" sz="1500" dirty="0"/>
          </a:p>
        </p:txBody>
      </p:sp>
      <p:sp>
        <p:nvSpPr>
          <p:cNvPr id="16" name="Text 14"/>
          <p:cNvSpPr txBox="1"/>
          <p:nvPr/>
        </p:nvSpPr>
        <p:spPr>
          <a:xfrm>
            <a:off x="822960" y="3218688"/>
            <a:ext cx="4800600" cy="530352"/>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One row per job for its whole life, with six date roles; weekly questions group an event date by week</a:t>
            </a:r>
            <a:endParaRPr lang="en-US" sz="1250" dirty="0"/>
          </a:p>
        </p:txBody>
      </p:sp>
      <p:sp>
        <p:nvSpPr>
          <p:cNvPr id="17" name="Shape 15"/>
          <p:cNvSpPr/>
          <p:nvPr/>
        </p:nvSpPr>
        <p:spPr>
          <a:xfrm>
            <a:off x="6291072" y="2743200"/>
            <a:ext cx="5349240" cy="1078992"/>
          </a:xfrm>
          <a:prstGeom prst="roundRect">
            <a:avLst>
              <a:gd name="adj" fmla="val 10169"/>
            </a:avLst>
          </a:prstGeom>
          <a:solidFill>
            <a:srgbClr val="E6F6F4"/>
          </a:solidFill>
          <a:ln w="12700">
            <a:solidFill>
              <a:srgbClr val="E6F6F4"/>
            </a:solidFill>
            <a:prstDash val="solid"/>
          </a:ln>
        </p:spPr>
        <p:txBody>
          <a:bodyPr/>
          <a:lstStyle/>
          <a:p>
            <a:endParaRPr/>
          </a:p>
        </p:txBody>
      </p:sp>
      <p:sp>
        <p:nvSpPr>
          <p:cNvPr id="18" name="Text 16"/>
          <p:cNvSpPr txBox="1"/>
          <p:nvPr/>
        </p:nvSpPr>
        <p:spPr>
          <a:xfrm>
            <a:off x="6565392" y="2852928"/>
            <a:ext cx="480060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Exact + labelled fuzzy matching</a:t>
            </a:r>
            <a:endParaRPr lang="en-US" sz="1500" dirty="0"/>
          </a:p>
        </p:txBody>
      </p:sp>
      <p:sp>
        <p:nvSpPr>
          <p:cNvPr id="19" name="Text 17"/>
          <p:cNvSpPr txBox="1"/>
          <p:nvPr/>
        </p:nvSpPr>
        <p:spPr>
          <a:xfrm>
            <a:off x="6565392" y="3218688"/>
            <a:ext cx="4800600" cy="530352"/>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Jaccard ≥ 80 on titles, chosen from 88 labelled pairs (precision 0.83–0.92); every fuzzy merge audited</a:t>
            </a:r>
            <a:endParaRPr lang="en-US" sz="1250" dirty="0"/>
          </a:p>
        </p:txBody>
      </p:sp>
      <p:sp>
        <p:nvSpPr>
          <p:cNvPr id="20" name="Shape 18"/>
          <p:cNvSpPr/>
          <p:nvPr/>
        </p:nvSpPr>
        <p:spPr>
          <a:xfrm>
            <a:off x="548640" y="3931920"/>
            <a:ext cx="5349240" cy="1078992"/>
          </a:xfrm>
          <a:prstGeom prst="roundRect">
            <a:avLst>
              <a:gd name="adj" fmla="val 10169"/>
            </a:avLst>
          </a:prstGeom>
          <a:solidFill>
            <a:srgbClr val="E6F6F4"/>
          </a:solidFill>
          <a:ln w="12700">
            <a:solidFill>
              <a:srgbClr val="E6F6F4"/>
            </a:solidFill>
            <a:prstDash val="solid"/>
          </a:ln>
        </p:spPr>
        <p:txBody>
          <a:bodyPr/>
          <a:lstStyle/>
          <a:p>
            <a:endParaRPr/>
          </a:p>
        </p:txBody>
      </p:sp>
      <p:sp>
        <p:nvSpPr>
          <p:cNvPr id="21" name="Text 19"/>
          <p:cNvSpPr txBox="1"/>
          <p:nvPr/>
        </p:nvSpPr>
        <p:spPr>
          <a:xfrm>
            <a:off x="822960" y="4041648"/>
            <a:ext cx="480060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Never merge two postings of one publisher</a:t>
            </a:r>
            <a:endParaRPr lang="en-US" sz="1500" dirty="0"/>
          </a:p>
        </p:txBody>
      </p:sp>
      <p:sp>
        <p:nvSpPr>
          <p:cNvPr id="22" name="Text 20"/>
          <p:cNvSpPr txBox="1"/>
          <p:nvPr/>
        </p:nvSpPr>
        <p:spPr>
          <a:xfrm>
            <a:off x="822960" y="4407408"/>
            <a:ext cx="4800600" cy="530352"/>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An employer's own similar postings stay separate</a:t>
            </a:r>
            <a:endParaRPr lang="en-US" sz="1250" dirty="0"/>
          </a:p>
        </p:txBody>
      </p:sp>
      <p:sp>
        <p:nvSpPr>
          <p:cNvPr id="23" name="Shape 21"/>
          <p:cNvSpPr/>
          <p:nvPr/>
        </p:nvSpPr>
        <p:spPr>
          <a:xfrm>
            <a:off x="6291072" y="3931920"/>
            <a:ext cx="5349240" cy="1078992"/>
          </a:xfrm>
          <a:prstGeom prst="roundRect">
            <a:avLst>
              <a:gd name="adj" fmla="val 10169"/>
            </a:avLst>
          </a:prstGeom>
          <a:solidFill>
            <a:srgbClr val="F4F6F9"/>
          </a:solidFill>
          <a:ln w="12700">
            <a:solidFill>
              <a:srgbClr val="F4F6F9"/>
            </a:solidFill>
            <a:prstDash val="solid"/>
          </a:ln>
        </p:spPr>
        <p:txBody>
          <a:bodyPr/>
          <a:lstStyle/>
          <a:p>
            <a:endParaRPr/>
          </a:p>
        </p:txBody>
      </p:sp>
      <p:sp>
        <p:nvSpPr>
          <p:cNvPr id="24" name="Text 22"/>
          <p:cNvSpPr txBox="1"/>
          <p:nvPr/>
        </p:nvSpPr>
        <p:spPr>
          <a:xfrm>
            <a:off x="6565392" y="4041648"/>
            <a:ext cx="480060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Lifecycle from employer boards only</a:t>
            </a:r>
            <a:endParaRPr lang="en-US" sz="1500" dirty="0"/>
          </a:p>
        </p:txBody>
      </p:sp>
      <p:sp>
        <p:nvSpPr>
          <p:cNvPr id="25" name="Text 23"/>
          <p:cNvSpPr txBox="1"/>
          <p:nvPr/>
        </p:nvSpPr>
        <p:spPr>
          <a:xfrm>
            <a:off x="6565392" y="4407408"/>
            <a:ext cx="4800600" cy="530352"/>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A search result is a sample; a missing aggregator job proves nothing</a:t>
            </a:r>
            <a:endParaRPr lang="en-US" sz="1250" dirty="0"/>
          </a:p>
        </p:txBody>
      </p:sp>
      <p:sp>
        <p:nvSpPr>
          <p:cNvPr id="26" name="Shape 24"/>
          <p:cNvSpPr/>
          <p:nvPr/>
        </p:nvSpPr>
        <p:spPr>
          <a:xfrm>
            <a:off x="548640" y="5120640"/>
            <a:ext cx="5349240" cy="1078992"/>
          </a:xfrm>
          <a:prstGeom prst="roundRect">
            <a:avLst>
              <a:gd name="adj" fmla="val 10169"/>
            </a:avLst>
          </a:prstGeom>
          <a:solidFill>
            <a:srgbClr val="F4F6F9"/>
          </a:solidFill>
          <a:ln w="12700">
            <a:solidFill>
              <a:srgbClr val="F4F6F9"/>
            </a:solidFill>
            <a:prstDash val="solid"/>
          </a:ln>
        </p:spPr>
        <p:txBody>
          <a:bodyPr/>
          <a:lstStyle/>
          <a:p>
            <a:endParaRPr/>
          </a:p>
        </p:txBody>
      </p:sp>
      <p:sp>
        <p:nvSpPr>
          <p:cNvPr id="27" name="Text 25"/>
          <p:cNvSpPr txBox="1"/>
          <p:nvPr/>
        </p:nvSpPr>
        <p:spPr>
          <a:xfrm>
            <a:off x="822960" y="5230368"/>
            <a:ext cx="480060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Unknown member where values can be missing</a:t>
            </a:r>
            <a:endParaRPr lang="en-US" sz="1500" dirty="0"/>
          </a:p>
        </p:txBody>
      </p:sp>
      <p:sp>
        <p:nvSpPr>
          <p:cNvPr id="28" name="Text 26"/>
          <p:cNvSpPr txBox="1"/>
          <p:nvPr/>
        </p:nvSpPr>
        <p:spPr>
          <a:xfrm>
            <a:off x="822960" y="5596128"/>
            <a:ext cx="4800600" cy="530352"/>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No null keys; missing values are visible and countable in reports</a:t>
            </a:r>
            <a:endParaRPr lang="en-US" sz="1250" dirty="0"/>
          </a:p>
        </p:txBody>
      </p:sp>
      <p:sp>
        <p:nvSpPr>
          <p:cNvPr id="29" name="Shape 27"/>
          <p:cNvSpPr/>
          <p:nvPr/>
        </p:nvSpPr>
        <p:spPr>
          <a:xfrm>
            <a:off x="6291072" y="5120640"/>
            <a:ext cx="5349240" cy="1078992"/>
          </a:xfrm>
          <a:prstGeom prst="roundRect">
            <a:avLst>
              <a:gd name="adj" fmla="val 10169"/>
            </a:avLst>
          </a:prstGeom>
          <a:solidFill>
            <a:srgbClr val="E6F6F4"/>
          </a:solidFill>
          <a:ln w="12700">
            <a:solidFill>
              <a:srgbClr val="E6F6F4"/>
            </a:solidFill>
            <a:prstDash val="solid"/>
          </a:ln>
        </p:spPr>
        <p:txBody>
          <a:bodyPr/>
          <a:lstStyle/>
          <a:p>
            <a:endParaRPr/>
          </a:p>
        </p:txBody>
      </p:sp>
      <p:sp>
        <p:nvSpPr>
          <p:cNvPr id="30" name="Text 28"/>
          <p:cNvSpPr txBox="1"/>
          <p:nvPr/>
        </p:nvSpPr>
        <p:spPr>
          <a:xfrm>
            <a:off x="6565392" y="5230368"/>
            <a:ext cx="4800600" cy="365760"/>
          </a:xfrm>
          <a:prstGeom prst="rect">
            <a:avLst/>
          </a:prstGeom>
          <a:noFill/>
          <a:ln/>
        </p:spPr>
        <p:txBody>
          <a:bodyPr wrap="square" lIns="0" tIns="0" rIns="0" bIns="0" rtlCol="0" anchor="ctr"/>
          <a:lstStyle/>
          <a:p>
            <a:pPr marL="0" indent="0">
              <a:buNone/>
            </a:pPr>
            <a:r>
              <a:rPr lang="en-US" sz="1500" b="1" dirty="0">
                <a:solidFill>
                  <a:srgbClr val="1C7F74"/>
                </a:solidFill>
                <a:latin typeface="Calibri" pitchFamily="34" charset="0"/>
                <a:ea typeface="Calibri" pitchFamily="34" charset="-122"/>
                <a:cs typeface="Calibri" pitchFamily="34" charset="-120"/>
              </a:rPr>
              <a:t>Seeds for every vocabulary</a:t>
            </a:r>
            <a:endParaRPr lang="en-US" sz="1500" dirty="0"/>
          </a:p>
        </p:txBody>
      </p:sp>
      <p:sp>
        <p:nvSpPr>
          <p:cNvPr id="31" name="Text 29"/>
          <p:cNvSpPr txBox="1"/>
          <p:nvPr/>
        </p:nvSpPr>
        <p:spPr>
          <a:xfrm>
            <a:off x="6565392" y="5596128"/>
            <a:ext cx="4800600" cy="530352"/>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Cities, companies, categories, role families and skills reviewable in Git; a new value fails a test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17</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Export to ADLS: the curated container</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dbt run-operation export_marts unloads the ten mart tables as Parquet</a:t>
            </a:r>
            <a:endParaRPr lang="en-US" sz="1500" dirty="0"/>
          </a:p>
        </p:txBody>
      </p:sp>
      <p:sp>
        <p:nvSpPr>
          <p:cNvPr id="6" name="Shape 4"/>
          <p:cNvSpPr/>
          <p:nvPr/>
        </p:nvSpPr>
        <p:spPr>
          <a:xfrm>
            <a:off x="9265615" y="475488"/>
            <a:ext cx="2377440" cy="384048"/>
          </a:xfrm>
          <a:prstGeom prst="roundRect">
            <a:avLst>
              <a:gd name="adj" fmla="val 50000"/>
            </a:avLst>
          </a:prstGeom>
          <a:solidFill>
            <a:srgbClr val="FBEFF3"/>
          </a:solidFill>
          <a:ln w="12700">
            <a:solidFill>
              <a:srgbClr val="E3A3B8"/>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A33A62"/>
                </a:solidFill>
                <a:latin typeface="Calibri" pitchFamily="34" charset="0"/>
                <a:ea typeface="Calibri" pitchFamily="34" charset="-122"/>
                <a:cs typeface="Calibri" pitchFamily="34" charset="-120"/>
              </a:rPr>
              <a:t>Export</a:t>
            </a:r>
            <a:endParaRPr lang="en-US" sz="1200" dirty="0"/>
          </a:p>
        </p:txBody>
      </p:sp>
      <p:sp>
        <p:nvSpPr>
          <p:cNvPr id="8" name="Shape 6"/>
          <p:cNvSpPr/>
          <p:nvPr/>
        </p:nvSpPr>
        <p:spPr>
          <a:xfrm>
            <a:off x="548640" y="1554480"/>
            <a:ext cx="5760720" cy="2148840"/>
          </a:xfrm>
          <a:prstGeom prst="roundRect">
            <a:avLst>
              <a:gd name="adj" fmla="val 5106"/>
            </a:avLst>
          </a:prstGeom>
          <a:solidFill>
            <a:srgbClr val="1E2A3F"/>
          </a:solidFill>
          <a:ln w="12700">
            <a:solidFill>
              <a:srgbClr val="1E2A3F"/>
            </a:solidFill>
            <a:prstDash val="solid"/>
          </a:ln>
        </p:spPr>
        <p:txBody>
          <a:bodyPr/>
          <a:lstStyle/>
          <a:p>
            <a:endParaRPr/>
          </a:p>
        </p:txBody>
      </p:sp>
      <p:sp>
        <p:nvSpPr>
          <p:cNvPr id="9" name="Text 7"/>
          <p:cNvSpPr txBox="1"/>
          <p:nvPr/>
        </p:nvSpPr>
        <p:spPr>
          <a:xfrm>
            <a:off x="822960" y="1737360"/>
            <a:ext cx="5303520" cy="1828800"/>
          </a:xfrm>
          <a:prstGeom prst="rect">
            <a:avLst/>
          </a:prstGeom>
          <a:noFill/>
          <a:ln/>
        </p:spPr>
        <p:txBody>
          <a:bodyPr wrap="square" lIns="0" tIns="0" rIns="0" bIns="0" rtlCol="0" anchor="t"/>
          <a:lstStyle/>
          <a:p>
            <a:pPr marL="0" indent="0">
              <a:buNone/>
            </a:pPr>
            <a:r>
              <a:rPr lang="en-US" sz="1300" dirty="0">
                <a:solidFill>
                  <a:srgbClr val="E6EDF7"/>
                </a:solidFill>
                <a:latin typeface="Courier New" pitchFamily="34" charset="0"/>
                <a:ea typeface="Courier New" pitchFamily="34" charset="-122"/>
                <a:cs typeface="Courier New" pitchFamily="34" charset="-120"/>
              </a:rPr>
              <a:t>copy into @marts.curated_stage/</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fct_jobs/export_date=2026-09-29/</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  fct_jobs_20260929T115551Z.parquet</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from marts.fct_jobs</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file_format = (type = parquet)</a:t>
            </a:r>
            <a:endParaRPr lang="en-US" sz="1300" dirty="0"/>
          </a:p>
          <a:p>
            <a:pPr marL="0" indent="0">
              <a:buNone/>
            </a:pPr>
            <a:r>
              <a:rPr lang="en-US" sz="1300" dirty="0">
                <a:solidFill>
                  <a:srgbClr val="E6EDF7"/>
                </a:solidFill>
                <a:latin typeface="Courier New" pitchFamily="34" charset="0"/>
                <a:ea typeface="Courier New" pitchFamily="34" charset="-122"/>
                <a:cs typeface="Courier New" pitchFamily="34" charset="-120"/>
              </a:rPr>
              <a:t>header = true  single = true;</a:t>
            </a:r>
            <a:endParaRPr lang="en-US" sz="1300" dirty="0"/>
          </a:p>
        </p:txBody>
      </p:sp>
      <p:sp>
        <p:nvSpPr>
          <p:cNvPr id="10" name="Text 8"/>
          <p:cNvSpPr txBox="1"/>
          <p:nvPr/>
        </p:nvSpPr>
        <p:spPr>
          <a:xfrm>
            <a:off x="6675120" y="1554480"/>
            <a:ext cx="4967935" cy="365760"/>
          </a:xfrm>
          <a:prstGeom prst="rect">
            <a:avLst/>
          </a:prstGeom>
          <a:noFill/>
          <a:ln/>
        </p:spPr>
        <p:txBody>
          <a:bodyPr wrap="square" lIns="0" tIns="0" rIns="0" bIns="0" rtlCol="0" anchor="ctr"/>
          <a:lstStyle/>
          <a:p>
            <a:pPr marL="0" indent="0">
              <a:buNone/>
            </a:pPr>
            <a:r>
              <a:rPr lang="en-US" sz="1600" b="1" dirty="0">
                <a:solidFill>
                  <a:srgbClr val="A33A62"/>
                </a:solidFill>
                <a:latin typeface="Calibri" pitchFamily="34" charset="0"/>
                <a:ea typeface="Calibri" pitchFamily="34" charset="-122"/>
                <a:cs typeface="Calibri" pitchFamily="34" charset="-120"/>
              </a:rPr>
              <a:t>curated/ after the final run</a:t>
            </a:r>
            <a:endParaRPr lang="en-US" sz="1600" dirty="0"/>
          </a:p>
        </p:txBody>
      </p:sp>
      <p:sp>
        <p:nvSpPr>
          <p:cNvPr id="11" name="Shape 9"/>
          <p:cNvSpPr/>
          <p:nvPr/>
        </p:nvSpPr>
        <p:spPr>
          <a:xfrm>
            <a:off x="6675120" y="1965960"/>
            <a:ext cx="4967935" cy="347472"/>
          </a:xfrm>
          <a:prstGeom prst="rect">
            <a:avLst/>
          </a:prstGeom>
          <a:solidFill>
            <a:srgbClr val="FBEFF3"/>
          </a:solidFill>
          <a:ln w="12700">
            <a:solidFill>
              <a:srgbClr val="FBEFF3"/>
            </a:solidFill>
            <a:prstDash val="solid"/>
          </a:ln>
        </p:spPr>
        <p:txBody>
          <a:bodyPr/>
          <a:lstStyle/>
          <a:p>
            <a:endParaRPr/>
          </a:p>
        </p:txBody>
      </p:sp>
      <p:sp>
        <p:nvSpPr>
          <p:cNvPr id="12" name="Text 10"/>
          <p:cNvSpPr txBox="1"/>
          <p:nvPr/>
        </p:nvSpPr>
        <p:spPr>
          <a:xfrm>
            <a:off x="6812280" y="1965960"/>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fct_jobs.parquet</a:t>
            </a:r>
            <a:endParaRPr lang="en-US" sz="1250" dirty="0"/>
          </a:p>
        </p:txBody>
      </p:sp>
      <p:sp>
        <p:nvSpPr>
          <p:cNvPr id="13" name="Text 11"/>
          <p:cNvSpPr txBox="1"/>
          <p:nvPr/>
        </p:nvSpPr>
        <p:spPr>
          <a:xfrm>
            <a:off x="9905695" y="1965960"/>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19,148 rows</a:t>
            </a:r>
            <a:endParaRPr lang="en-US" sz="1250" dirty="0"/>
          </a:p>
        </p:txBody>
      </p:sp>
      <p:sp>
        <p:nvSpPr>
          <p:cNvPr id="14" name="Shape 12"/>
          <p:cNvSpPr/>
          <p:nvPr/>
        </p:nvSpPr>
        <p:spPr>
          <a:xfrm>
            <a:off x="6675120" y="2368296"/>
            <a:ext cx="4967935" cy="347472"/>
          </a:xfrm>
          <a:prstGeom prst="rect">
            <a:avLst/>
          </a:prstGeom>
          <a:solidFill>
            <a:srgbClr val="FFFFFF"/>
          </a:solidFill>
          <a:ln w="12700">
            <a:solidFill>
              <a:srgbClr val="FBEFF3"/>
            </a:solidFill>
            <a:prstDash val="solid"/>
          </a:ln>
        </p:spPr>
        <p:txBody>
          <a:bodyPr/>
          <a:lstStyle/>
          <a:p>
            <a:endParaRPr/>
          </a:p>
        </p:txBody>
      </p:sp>
      <p:sp>
        <p:nvSpPr>
          <p:cNvPr id="15" name="Text 13"/>
          <p:cNvSpPr txBox="1"/>
          <p:nvPr/>
        </p:nvSpPr>
        <p:spPr>
          <a:xfrm>
            <a:off x="6812280" y="2368296"/>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bridge_job_skill.parquet</a:t>
            </a:r>
            <a:endParaRPr lang="en-US" sz="1250" dirty="0"/>
          </a:p>
        </p:txBody>
      </p:sp>
      <p:sp>
        <p:nvSpPr>
          <p:cNvPr id="16" name="Text 14"/>
          <p:cNvSpPr txBox="1"/>
          <p:nvPr/>
        </p:nvSpPr>
        <p:spPr>
          <a:xfrm>
            <a:off x="9905695" y="2368296"/>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22,822 rows</a:t>
            </a:r>
            <a:endParaRPr lang="en-US" sz="1250" dirty="0"/>
          </a:p>
        </p:txBody>
      </p:sp>
      <p:sp>
        <p:nvSpPr>
          <p:cNvPr id="17" name="Shape 15"/>
          <p:cNvSpPr/>
          <p:nvPr/>
        </p:nvSpPr>
        <p:spPr>
          <a:xfrm>
            <a:off x="6675120" y="2770632"/>
            <a:ext cx="4967935" cy="347472"/>
          </a:xfrm>
          <a:prstGeom prst="rect">
            <a:avLst/>
          </a:prstGeom>
          <a:solidFill>
            <a:srgbClr val="FBEFF3"/>
          </a:solidFill>
          <a:ln w="12700">
            <a:solidFill>
              <a:srgbClr val="FBEFF3"/>
            </a:solidFill>
            <a:prstDash val="solid"/>
          </a:ln>
        </p:spPr>
        <p:txBody>
          <a:bodyPr/>
          <a:lstStyle/>
          <a:p>
            <a:endParaRPr/>
          </a:p>
        </p:txBody>
      </p:sp>
      <p:sp>
        <p:nvSpPr>
          <p:cNvPr id="18" name="Text 16"/>
          <p:cNvSpPr txBox="1"/>
          <p:nvPr/>
        </p:nvSpPr>
        <p:spPr>
          <a:xfrm>
            <a:off x="6812280" y="2770632"/>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dim_job_posting.parquet</a:t>
            </a:r>
            <a:endParaRPr lang="en-US" sz="1250" dirty="0"/>
          </a:p>
        </p:txBody>
      </p:sp>
      <p:sp>
        <p:nvSpPr>
          <p:cNvPr id="19" name="Text 17"/>
          <p:cNvSpPr txBox="1"/>
          <p:nvPr/>
        </p:nvSpPr>
        <p:spPr>
          <a:xfrm>
            <a:off x="9905695" y="2770632"/>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18,694 rows</a:t>
            </a:r>
            <a:endParaRPr lang="en-US" sz="1250" dirty="0"/>
          </a:p>
        </p:txBody>
      </p:sp>
      <p:sp>
        <p:nvSpPr>
          <p:cNvPr id="20" name="Shape 18"/>
          <p:cNvSpPr/>
          <p:nvPr/>
        </p:nvSpPr>
        <p:spPr>
          <a:xfrm>
            <a:off x="6675120" y="3172968"/>
            <a:ext cx="4967935" cy="347472"/>
          </a:xfrm>
          <a:prstGeom prst="rect">
            <a:avLst/>
          </a:prstGeom>
          <a:solidFill>
            <a:srgbClr val="FFFFFF"/>
          </a:solidFill>
          <a:ln w="12700">
            <a:solidFill>
              <a:srgbClr val="FBEFF3"/>
            </a:solidFill>
            <a:prstDash val="solid"/>
          </a:ln>
        </p:spPr>
        <p:txBody>
          <a:bodyPr/>
          <a:lstStyle/>
          <a:p>
            <a:endParaRPr/>
          </a:p>
        </p:txBody>
      </p:sp>
      <p:sp>
        <p:nvSpPr>
          <p:cNvPr id="21" name="Text 19"/>
          <p:cNvSpPr txBox="1"/>
          <p:nvPr/>
        </p:nvSpPr>
        <p:spPr>
          <a:xfrm>
            <a:off x="6812280" y="3172968"/>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dim_company.parquet</a:t>
            </a:r>
            <a:endParaRPr lang="en-US" sz="1250" dirty="0"/>
          </a:p>
        </p:txBody>
      </p:sp>
      <p:sp>
        <p:nvSpPr>
          <p:cNvPr id="22" name="Text 20"/>
          <p:cNvSpPr txBox="1"/>
          <p:nvPr/>
        </p:nvSpPr>
        <p:spPr>
          <a:xfrm>
            <a:off x="9905695" y="3172968"/>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3,005 rows</a:t>
            </a:r>
            <a:endParaRPr lang="en-US" sz="1250" dirty="0"/>
          </a:p>
        </p:txBody>
      </p:sp>
      <p:sp>
        <p:nvSpPr>
          <p:cNvPr id="23" name="Shape 21"/>
          <p:cNvSpPr/>
          <p:nvPr/>
        </p:nvSpPr>
        <p:spPr>
          <a:xfrm>
            <a:off x="6675120" y="3575304"/>
            <a:ext cx="4967935" cy="347472"/>
          </a:xfrm>
          <a:prstGeom prst="rect">
            <a:avLst/>
          </a:prstGeom>
          <a:solidFill>
            <a:srgbClr val="FBEFF3"/>
          </a:solidFill>
          <a:ln w="12700">
            <a:solidFill>
              <a:srgbClr val="FBEFF3"/>
            </a:solidFill>
            <a:prstDash val="solid"/>
          </a:ln>
        </p:spPr>
        <p:txBody>
          <a:bodyPr/>
          <a:lstStyle/>
          <a:p>
            <a:endParaRPr/>
          </a:p>
        </p:txBody>
      </p:sp>
      <p:sp>
        <p:nvSpPr>
          <p:cNvPr id="24" name="Text 22"/>
          <p:cNvSpPr txBox="1"/>
          <p:nvPr/>
        </p:nvSpPr>
        <p:spPr>
          <a:xfrm>
            <a:off x="6812280" y="3575304"/>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dim_date.parquet</a:t>
            </a:r>
            <a:endParaRPr lang="en-US" sz="1250" dirty="0"/>
          </a:p>
        </p:txBody>
      </p:sp>
      <p:sp>
        <p:nvSpPr>
          <p:cNvPr id="25" name="Text 23"/>
          <p:cNvSpPr txBox="1"/>
          <p:nvPr/>
        </p:nvSpPr>
        <p:spPr>
          <a:xfrm>
            <a:off x="9905695" y="3575304"/>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3,003 rows</a:t>
            </a:r>
            <a:endParaRPr lang="en-US" sz="1250" dirty="0"/>
          </a:p>
        </p:txBody>
      </p:sp>
      <p:sp>
        <p:nvSpPr>
          <p:cNvPr id="26" name="Shape 24"/>
          <p:cNvSpPr/>
          <p:nvPr/>
        </p:nvSpPr>
        <p:spPr>
          <a:xfrm>
            <a:off x="6675120" y="3977640"/>
            <a:ext cx="4967935" cy="347472"/>
          </a:xfrm>
          <a:prstGeom prst="rect">
            <a:avLst/>
          </a:prstGeom>
          <a:solidFill>
            <a:srgbClr val="FFFFFF"/>
          </a:solidFill>
          <a:ln w="12700">
            <a:solidFill>
              <a:srgbClr val="FBEFF3"/>
            </a:solidFill>
            <a:prstDash val="solid"/>
          </a:ln>
        </p:spPr>
        <p:txBody>
          <a:bodyPr/>
          <a:lstStyle/>
          <a:p>
            <a:endParaRPr/>
          </a:p>
        </p:txBody>
      </p:sp>
      <p:sp>
        <p:nvSpPr>
          <p:cNvPr id="27" name="Text 25"/>
          <p:cNvSpPr txBox="1"/>
          <p:nvPr/>
        </p:nvSpPr>
        <p:spPr>
          <a:xfrm>
            <a:off x="6812280" y="3977640"/>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dim_skill.parquet</a:t>
            </a:r>
            <a:endParaRPr lang="en-US" sz="1250" dirty="0"/>
          </a:p>
        </p:txBody>
      </p:sp>
      <p:sp>
        <p:nvSpPr>
          <p:cNvPr id="28" name="Text 26"/>
          <p:cNvSpPr txBox="1"/>
          <p:nvPr/>
        </p:nvSpPr>
        <p:spPr>
          <a:xfrm>
            <a:off x="9905695" y="3977640"/>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126 rows</a:t>
            </a:r>
            <a:endParaRPr lang="en-US" sz="1250" dirty="0"/>
          </a:p>
        </p:txBody>
      </p:sp>
      <p:sp>
        <p:nvSpPr>
          <p:cNvPr id="29" name="Shape 27"/>
          <p:cNvSpPr/>
          <p:nvPr/>
        </p:nvSpPr>
        <p:spPr>
          <a:xfrm>
            <a:off x="6675120" y="4379976"/>
            <a:ext cx="4967935" cy="347472"/>
          </a:xfrm>
          <a:prstGeom prst="rect">
            <a:avLst/>
          </a:prstGeom>
          <a:solidFill>
            <a:srgbClr val="FBEFF3"/>
          </a:solidFill>
          <a:ln w="12700">
            <a:solidFill>
              <a:srgbClr val="FBEFF3"/>
            </a:solidFill>
            <a:prstDash val="solid"/>
          </a:ln>
        </p:spPr>
        <p:txBody>
          <a:bodyPr/>
          <a:lstStyle/>
          <a:p>
            <a:endParaRPr/>
          </a:p>
        </p:txBody>
      </p:sp>
      <p:sp>
        <p:nvSpPr>
          <p:cNvPr id="30" name="Text 28"/>
          <p:cNvSpPr txBox="1"/>
          <p:nvPr/>
        </p:nvSpPr>
        <p:spPr>
          <a:xfrm>
            <a:off x="6812280" y="4379976"/>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dim_job_attributes.parquet</a:t>
            </a:r>
            <a:endParaRPr lang="en-US" sz="1250" dirty="0"/>
          </a:p>
        </p:txBody>
      </p:sp>
      <p:sp>
        <p:nvSpPr>
          <p:cNvPr id="31" name="Text 29"/>
          <p:cNvSpPr txBox="1"/>
          <p:nvPr/>
        </p:nvSpPr>
        <p:spPr>
          <a:xfrm>
            <a:off x="9905695" y="4379976"/>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83 rows</a:t>
            </a:r>
            <a:endParaRPr lang="en-US" sz="1250" dirty="0"/>
          </a:p>
        </p:txBody>
      </p:sp>
      <p:sp>
        <p:nvSpPr>
          <p:cNvPr id="32" name="Shape 30"/>
          <p:cNvSpPr/>
          <p:nvPr/>
        </p:nvSpPr>
        <p:spPr>
          <a:xfrm>
            <a:off x="6675120" y="4782312"/>
            <a:ext cx="4967935" cy="347472"/>
          </a:xfrm>
          <a:prstGeom prst="rect">
            <a:avLst/>
          </a:prstGeom>
          <a:solidFill>
            <a:srgbClr val="FFFFFF"/>
          </a:solidFill>
          <a:ln w="12700">
            <a:solidFill>
              <a:srgbClr val="FBEFF3"/>
            </a:solidFill>
            <a:prstDash val="solid"/>
          </a:ln>
        </p:spPr>
        <p:txBody>
          <a:bodyPr/>
          <a:lstStyle/>
          <a:p>
            <a:endParaRPr/>
          </a:p>
        </p:txBody>
      </p:sp>
      <p:sp>
        <p:nvSpPr>
          <p:cNvPr id="33" name="Text 31"/>
          <p:cNvSpPr txBox="1"/>
          <p:nvPr/>
        </p:nvSpPr>
        <p:spPr>
          <a:xfrm>
            <a:off x="6812280" y="4782312"/>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dim_location.parquet</a:t>
            </a:r>
            <a:endParaRPr lang="en-US" sz="1250" dirty="0"/>
          </a:p>
        </p:txBody>
      </p:sp>
      <p:sp>
        <p:nvSpPr>
          <p:cNvPr id="34" name="Text 32"/>
          <p:cNvSpPr txBox="1"/>
          <p:nvPr/>
        </p:nvSpPr>
        <p:spPr>
          <a:xfrm>
            <a:off x="9905695" y="4782312"/>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58 rows</a:t>
            </a:r>
            <a:endParaRPr lang="en-US" sz="1250" dirty="0"/>
          </a:p>
        </p:txBody>
      </p:sp>
      <p:sp>
        <p:nvSpPr>
          <p:cNvPr id="35" name="Shape 33"/>
          <p:cNvSpPr/>
          <p:nvPr/>
        </p:nvSpPr>
        <p:spPr>
          <a:xfrm>
            <a:off x="6675120" y="5184648"/>
            <a:ext cx="4967935" cy="347472"/>
          </a:xfrm>
          <a:prstGeom prst="rect">
            <a:avLst/>
          </a:prstGeom>
          <a:solidFill>
            <a:srgbClr val="FBEFF3"/>
          </a:solidFill>
          <a:ln w="12700">
            <a:solidFill>
              <a:srgbClr val="FBEFF3"/>
            </a:solidFill>
            <a:prstDash val="solid"/>
          </a:ln>
        </p:spPr>
        <p:txBody>
          <a:bodyPr/>
          <a:lstStyle/>
          <a:p>
            <a:endParaRPr/>
          </a:p>
        </p:txBody>
      </p:sp>
      <p:sp>
        <p:nvSpPr>
          <p:cNvPr id="36" name="Text 34"/>
          <p:cNvSpPr txBox="1"/>
          <p:nvPr/>
        </p:nvSpPr>
        <p:spPr>
          <a:xfrm>
            <a:off x="6812280" y="5184648"/>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dim_role.parquet</a:t>
            </a:r>
            <a:endParaRPr lang="en-US" sz="1250" dirty="0"/>
          </a:p>
        </p:txBody>
      </p:sp>
      <p:sp>
        <p:nvSpPr>
          <p:cNvPr id="37" name="Text 35"/>
          <p:cNvSpPr txBox="1"/>
          <p:nvPr/>
        </p:nvSpPr>
        <p:spPr>
          <a:xfrm>
            <a:off x="9905695" y="5184648"/>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20 rows</a:t>
            </a:r>
            <a:endParaRPr lang="en-US" sz="1250" dirty="0"/>
          </a:p>
        </p:txBody>
      </p:sp>
      <p:sp>
        <p:nvSpPr>
          <p:cNvPr id="38" name="Shape 36"/>
          <p:cNvSpPr/>
          <p:nvPr/>
        </p:nvSpPr>
        <p:spPr>
          <a:xfrm>
            <a:off x="6675120" y="5586984"/>
            <a:ext cx="4967935" cy="347472"/>
          </a:xfrm>
          <a:prstGeom prst="rect">
            <a:avLst/>
          </a:prstGeom>
          <a:solidFill>
            <a:srgbClr val="FFFFFF"/>
          </a:solidFill>
          <a:ln w="12700">
            <a:solidFill>
              <a:srgbClr val="FBEFF3"/>
            </a:solidFill>
            <a:prstDash val="solid"/>
          </a:ln>
        </p:spPr>
        <p:txBody>
          <a:bodyPr/>
          <a:lstStyle/>
          <a:p>
            <a:endParaRPr/>
          </a:p>
        </p:txBody>
      </p:sp>
      <p:sp>
        <p:nvSpPr>
          <p:cNvPr id="39" name="Text 37"/>
          <p:cNvSpPr txBox="1"/>
          <p:nvPr/>
        </p:nvSpPr>
        <p:spPr>
          <a:xfrm>
            <a:off x="6812280" y="5586984"/>
            <a:ext cx="3200400" cy="347472"/>
          </a:xfrm>
          <a:prstGeom prst="rect">
            <a:avLst/>
          </a:prstGeom>
          <a:noFill/>
          <a:ln/>
        </p:spPr>
        <p:txBody>
          <a:bodyPr wrap="square" lIns="0" tIns="0" rIns="0" bIns="0" rtlCol="0" anchor="ctr"/>
          <a:lstStyle/>
          <a:p>
            <a:pPr marL="0" indent="0">
              <a:buNone/>
            </a:pPr>
            <a:r>
              <a:rPr lang="en-US" sz="1250" dirty="0">
                <a:solidFill>
                  <a:srgbClr val="1F2937"/>
                </a:solidFill>
                <a:latin typeface="Courier New" pitchFamily="34" charset="0"/>
                <a:ea typeface="Courier New" pitchFamily="34" charset="-122"/>
                <a:cs typeface="Courier New" pitchFamily="34" charset="-120"/>
              </a:rPr>
              <a:t>dim_source.parquet</a:t>
            </a:r>
            <a:endParaRPr lang="en-US" sz="1250" dirty="0"/>
          </a:p>
        </p:txBody>
      </p:sp>
      <p:sp>
        <p:nvSpPr>
          <p:cNvPr id="40" name="Text 38"/>
          <p:cNvSpPr txBox="1"/>
          <p:nvPr/>
        </p:nvSpPr>
        <p:spPr>
          <a:xfrm>
            <a:off x="9905695" y="5586984"/>
            <a:ext cx="1600200" cy="347472"/>
          </a:xfrm>
          <a:prstGeom prst="rect">
            <a:avLst/>
          </a:prstGeom>
          <a:noFill/>
          <a:ln/>
        </p:spPr>
        <p:txBody>
          <a:bodyPr wrap="square" lIns="0" tIns="0" rIns="0" bIns="0" rtlCol="0" anchor="ctr"/>
          <a:lstStyle/>
          <a:p>
            <a:pPr marL="0" indent="0" algn="r">
              <a:buNone/>
            </a:pPr>
            <a:r>
              <a:rPr lang="en-US" sz="1250" dirty="0">
                <a:solidFill>
                  <a:srgbClr val="5B6475"/>
                </a:solidFill>
                <a:latin typeface="Calibri" pitchFamily="34" charset="0"/>
                <a:ea typeface="Calibri" pitchFamily="34" charset="-122"/>
                <a:cs typeface="Calibri" pitchFamily="34" charset="-120"/>
              </a:rPr>
              <a:t>6 rows</a:t>
            </a:r>
            <a:endParaRPr lang="en-US" sz="1250" dirty="0"/>
          </a:p>
        </p:txBody>
      </p:sp>
      <p:sp>
        <p:nvSpPr>
          <p:cNvPr id="41" name="Text 39"/>
          <p:cNvSpPr txBox="1"/>
          <p:nvPr/>
        </p:nvSpPr>
        <p:spPr>
          <a:xfrm>
            <a:off x="548640" y="3977640"/>
            <a:ext cx="2103120" cy="640080"/>
          </a:xfrm>
          <a:prstGeom prst="rect">
            <a:avLst/>
          </a:prstGeom>
          <a:noFill/>
          <a:ln/>
        </p:spPr>
        <p:txBody>
          <a:bodyPr wrap="square" lIns="0" tIns="0" rIns="0" bIns="0" rtlCol="0" anchor="ctr"/>
          <a:lstStyle/>
          <a:p>
            <a:pPr marL="0" indent="0">
              <a:buNone/>
            </a:pPr>
            <a:r>
              <a:rPr lang="en-US" sz="1400" b="1" dirty="0">
                <a:solidFill>
                  <a:srgbClr val="A33A62"/>
                </a:solidFill>
                <a:latin typeface="Calibri" pitchFamily="34" charset="0"/>
                <a:ea typeface="Calibri" pitchFamily="34" charset="-122"/>
                <a:cs typeface="Calibri" pitchFamily="34" charset="-120"/>
              </a:rPr>
              <a:t>raw/ vs curated/</a:t>
            </a:r>
            <a:endParaRPr lang="en-US" sz="1400" dirty="0"/>
          </a:p>
        </p:txBody>
      </p:sp>
      <p:sp>
        <p:nvSpPr>
          <p:cNvPr id="42" name="Text 40"/>
          <p:cNvSpPr txBox="1"/>
          <p:nvPr/>
        </p:nvSpPr>
        <p:spPr>
          <a:xfrm>
            <a:off x="2697480" y="3977640"/>
            <a:ext cx="3611880" cy="64008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Separate containers: raw keeps what the sources returned; curated keeps the modelled result</a:t>
            </a:r>
            <a:endParaRPr lang="en-US" sz="1250" dirty="0"/>
          </a:p>
        </p:txBody>
      </p:sp>
      <p:sp>
        <p:nvSpPr>
          <p:cNvPr id="43" name="Text 41"/>
          <p:cNvSpPr txBox="1"/>
          <p:nvPr/>
        </p:nvSpPr>
        <p:spPr>
          <a:xfrm>
            <a:off x="548640" y="4690872"/>
            <a:ext cx="2103120" cy="640080"/>
          </a:xfrm>
          <a:prstGeom prst="rect">
            <a:avLst/>
          </a:prstGeom>
          <a:noFill/>
          <a:ln/>
        </p:spPr>
        <p:txBody>
          <a:bodyPr wrap="square" lIns="0" tIns="0" rIns="0" bIns="0" rtlCol="0" anchor="ctr"/>
          <a:lstStyle/>
          <a:p>
            <a:pPr marL="0" indent="0">
              <a:buNone/>
            </a:pPr>
            <a:r>
              <a:rPr lang="en-US" sz="1400" b="1" dirty="0">
                <a:solidFill>
                  <a:srgbClr val="A33A62"/>
                </a:solidFill>
                <a:latin typeface="Calibri" pitchFamily="34" charset="0"/>
                <a:ea typeface="Calibri" pitchFamily="34" charset="-122"/>
                <a:cs typeface="Calibri" pitchFamily="34" charset="-120"/>
              </a:rPr>
              <a:t>Never overwritten</a:t>
            </a:r>
            <a:endParaRPr lang="en-US" sz="1400" dirty="0"/>
          </a:p>
        </p:txBody>
      </p:sp>
      <p:sp>
        <p:nvSpPr>
          <p:cNvPr id="44" name="Text 42"/>
          <p:cNvSpPr txBox="1"/>
          <p:nvPr/>
        </p:nvSpPr>
        <p:spPr>
          <a:xfrm>
            <a:off x="2697480" y="4690872"/>
            <a:ext cx="3611880" cy="64008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Each export has its own date folder and run_id in the file name</a:t>
            </a:r>
            <a:endParaRPr lang="en-US" sz="1250" dirty="0"/>
          </a:p>
        </p:txBody>
      </p:sp>
      <p:sp>
        <p:nvSpPr>
          <p:cNvPr id="45" name="Text 43"/>
          <p:cNvSpPr txBox="1"/>
          <p:nvPr/>
        </p:nvSpPr>
        <p:spPr>
          <a:xfrm>
            <a:off x="548640" y="5404104"/>
            <a:ext cx="2103120" cy="640080"/>
          </a:xfrm>
          <a:prstGeom prst="rect">
            <a:avLst/>
          </a:prstGeom>
          <a:noFill/>
          <a:ln/>
        </p:spPr>
        <p:txBody>
          <a:bodyPr wrap="square" lIns="0" tIns="0" rIns="0" bIns="0" rtlCol="0" anchor="ctr"/>
          <a:lstStyle/>
          <a:p>
            <a:pPr marL="0" indent="0">
              <a:buNone/>
            </a:pPr>
            <a:r>
              <a:rPr lang="en-US" sz="1400" b="1" dirty="0">
                <a:solidFill>
                  <a:srgbClr val="A33A62"/>
                </a:solidFill>
                <a:latin typeface="Calibri" pitchFamily="34" charset="0"/>
                <a:ea typeface="Calibri" pitchFamily="34" charset="-122"/>
                <a:cs typeface="Calibri" pitchFamily="34" charset="-120"/>
              </a:rPr>
              <a:t>Parquet + CSV</a:t>
            </a:r>
            <a:endParaRPr lang="en-US" sz="1400" dirty="0"/>
          </a:p>
        </p:txBody>
      </p:sp>
      <p:sp>
        <p:nvSpPr>
          <p:cNvPr id="46" name="Text 44"/>
          <p:cNvSpPr txBox="1"/>
          <p:nvPr/>
        </p:nvSpPr>
        <p:spPr>
          <a:xfrm>
            <a:off x="2697480" y="5404104"/>
            <a:ext cx="3611880" cy="64008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Parquet keeps types for tools; the same tables are in final_datasets/ as CSV</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18</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The resulting dataset</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Ten tables, delivered as CSV in final_datasets/ and as Parquet in ADLS curated/</a:t>
            </a:r>
            <a:endParaRPr lang="en-US" sz="1500" dirty="0"/>
          </a:p>
        </p:txBody>
      </p:sp>
      <p:sp>
        <p:nvSpPr>
          <p:cNvPr id="6" name="Shape 4"/>
          <p:cNvSpPr/>
          <p:nvPr/>
        </p:nvSpPr>
        <p:spPr>
          <a:xfrm>
            <a:off x="9265615" y="475488"/>
            <a:ext cx="2377440" cy="384048"/>
          </a:xfrm>
          <a:prstGeom prst="roundRect">
            <a:avLst>
              <a:gd name="adj" fmla="val 50000"/>
            </a:avLst>
          </a:prstGeom>
          <a:solidFill>
            <a:srgbClr val="FBEFF3"/>
          </a:solidFill>
          <a:ln w="12700">
            <a:solidFill>
              <a:srgbClr val="E3A3B8"/>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A33A62"/>
                </a:solidFill>
                <a:latin typeface="Calibri" pitchFamily="34" charset="0"/>
                <a:ea typeface="Calibri" pitchFamily="34" charset="-122"/>
                <a:cs typeface="Calibri" pitchFamily="34" charset="-120"/>
              </a:rPr>
              <a:t>Dataset</a:t>
            </a:r>
            <a:endParaRPr lang="en-US" sz="1200" dirty="0"/>
          </a:p>
        </p:txBody>
      </p:sp>
      <p:sp>
        <p:nvSpPr>
          <p:cNvPr id="8" name="Shape 6"/>
          <p:cNvSpPr/>
          <p:nvPr/>
        </p:nvSpPr>
        <p:spPr>
          <a:xfrm>
            <a:off x="548640" y="1508760"/>
            <a:ext cx="6675120" cy="356616"/>
          </a:xfrm>
          <a:prstGeom prst="rect">
            <a:avLst/>
          </a:prstGeom>
          <a:solidFill>
            <a:srgbClr val="FBEFF3"/>
          </a:solidFill>
          <a:ln w="12700">
            <a:solidFill>
              <a:srgbClr val="F4F6F9"/>
            </a:solidFill>
            <a:prstDash val="solid"/>
          </a:ln>
        </p:spPr>
        <p:txBody>
          <a:bodyPr/>
          <a:lstStyle/>
          <a:p>
            <a:endParaRPr/>
          </a:p>
        </p:txBody>
      </p:sp>
      <p:sp>
        <p:nvSpPr>
          <p:cNvPr id="9" name="Text 7"/>
          <p:cNvSpPr txBox="1"/>
          <p:nvPr/>
        </p:nvSpPr>
        <p:spPr>
          <a:xfrm>
            <a:off x="685800" y="1508760"/>
            <a:ext cx="2103120" cy="356616"/>
          </a:xfrm>
          <a:prstGeom prst="rect">
            <a:avLst/>
          </a:prstGeom>
          <a:noFill/>
          <a:ln/>
        </p:spPr>
        <p:txBody>
          <a:bodyPr wrap="square" lIns="0" tIns="0" rIns="0" bIns="0" rtlCol="0" anchor="ctr"/>
          <a:lstStyle/>
          <a:p>
            <a:pPr marL="0" indent="0">
              <a:buNone/>
            </a:pPr>
            <a:r>
              <a:rPr lang="en-US" sz="1200" b="1" dirty="0">
                <a:solidFill>
                  <a:srgbClr val="14213D"/>
                </a:solidFill>
                <a:latin typeface="Courier New" pitchFamily="34" charset="0"/>
                <a:ea typeface="Courier New" pitchFamily="34" charset="-122"/>
                <a:cs typeface="Courier New" pitchFamily="34" charset="-120"/>
              </a:rPr>
              <a:t>fct_jobs</a:t>
            </a:r>
            <a:endParaRPr lang="en-US" sz="1200" dirty="0"/>
          </a:p>
        </p:txBody>
      </p:sp>
      <p:sp>
        <p:nvSpPr>
          <p:cNvPr id="10" name="Text 8"/>
          <p:cNvSpPr txBox="1"/>
          <p:nvPr/>
        </p:nvSpPr>
        <p:spPr>
          <a:xfrm>
            <a:off x="2743200" y="1508760"/>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19,148</a:t>
            </a:r>
            <a:endParaRPr lang="en-US" sz="1250" dirty="0"/>
          </a:p>
        </p:txBody>
      </p:sp>
      <p:sp>
        <p:nvSpPr>
          <p:cNvPr id="11" name="Text 9"/>
          <p:cNvSpPr txBox="1"/>
          <p:nvPr/>
        </p:nvSpPr>
        <p:spPr>
          <a:xfrm>
            <a:off x="3749040" y="1508760"/>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One job: a posting in one Saudi location, with its lifecycle</a:t>
            </a:r>
            <a:endParaRPr lang="en-US" sz="1150" dirty="0"/>
          </a:p>
        </p:txBody>
      </p:sp>
      <p:sp>
        <p:nvSpPr>
          <p:cNvPr id="12" name="Shape 10"/>
          <p:cNvSpPr/>
          <p:nvPr/>
        </p:nvSpPr>
        <p:spPr>
          <a:xfrm>
            <a:off x="548640" y="1911096"/>
            <a:ext cx="6675120" cy="356616"/>
          </a:xfrm>
          <a:prstGeom prst="rect">
            <a:avLst/>
          </a:prstGeom>
          <a:solidFill>
            <a:srgbClr val="FFFFFF"/>
          </a:solidFill>
          <a:ln w="12700">
            <a:solidFill>
              <a:srgbClr val="F4F6F9"/>
            </a:solidFill>
            <a:prstDash val="solid"/>
          </a:ln>
        </p:spPr>
        <p:txBody>
          <a:bodyPr/>
          <a:lstStyle/>
          <a:p>
            <a:endParaRPr/>
          </a:p>
        </p:txBody>
      </p:sp>
      <p:sp>
        <p:nvSpPr>
          <p:cNvPr id="13" name="Text 11"/>
          <p:cNvSpPr txBox="1"/>
          <p:nvPr/>
        </p:nvSpPr>
        <p:spPr>
          <a:xfrm>
            <a:off x="685800" y="1911096"/>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bridge_job_skill</a:t>
            </a:r>
            <a:endParaRPr lang="en-US" sz="1200" dirty="0"/>
          </a:p>
        </p:txBody>
      </p:sp>
      <p:sp>
        <p:nvSpPr>
          <p:cNvPr id="14" name="Text 12"/>
          <p:cNvSpPr txBox="1"/>
          <p:nvPr/>
        </p:nvSpPr>
        <p:spPr>
          <a:xfrm>
            <a:off x="2743200" y="1911096"/>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22,822</a:t>
            </a:r>
            <a:endParaRPr lang="en-US" sz="1250" dirty="0"/>
          </a:p>
        </p:txBody>
      </p:sp>
      <p:sp>
        <p:nvSpPr>
          <p:cNvPr id="15" name="Text 13"/>
          <p:cNvSpPr txBox="1"/>
          <p:nvPr/>
        </p:nvSpPr>
        <p:spPr>
          <a:xfrm>
            <a:off x="3749040" y="1911096"/>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One job per skill mentioned in its text</a:t>
            </a:r>
            <a:endParaRPr lang="en-US" sz="1150" dirty="0"/>
          </a:p>
        </p:txBody>
      </p:sp>
      <p:sp>
        <p:nvSpPr>
          <p:cNvPr id="16" name="Shape 14"/>
          <p:cNvSpPr/>
          <p:nvPr/>
        </p:nvSpPr>
        <p:spPr>
          <a:xfrm>
            <a:off x="548640" y="2313432"/>
            <a:ext cx="6675120" cy="356616"/>
          </a:xfrm>
          <a:prstGeom prst="rect">
            <a:avLst/>
          </a:prstGeom>
          <a:solidFill>
            <a:srgbClr val="F4F6F9"/>
          </a:solidFill>
          <a:ln w="12700">
            <a:solidFill>
              <a:srgbClr val="F4F6F9"/>
            </a:solidFill>
            <a:prstDash val="solid"/>
          </a:ln>
        </p:spPr>
        <p:txBody>
          <a:bodyPr/>
          <a:lstStyle/>
          <a:p>
            <a:endParaRPr/>
          </a:p>
        </p:txBody>
      </p:sp>
      <p:sp>
        <p:nvSpPr>
          <p:cNvPr id="17" name="Text 15"/>
          <p:cNvSpPr txBox="1"/>
          <p:nvPr/>
        </p:nvSpPr>
        <p:spPr>
          <a:xfrm>
            <a:off x="685800" y="2313432"/>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dim_job_posting</a:t>
            </a:r>
            <a:endParaRPr lang="en-US" sz="1200" dirty="0"/>
          </a:p>
        </p:txBody>
      </p:sp>
      <p:sp>
        <p:nvSpPr>
          <p:cNvPr id="18" name="Text 16"/>
          <p:cNvSpPr txBox="1"/>
          <p:nvPr/>
        </p:nvSpPr>
        <p:spPr>
          <a:xfrm>
            <a:off x="2743200" y="2313432"/>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18,694</a:t>
            </a:r>
            <a:endParaRPr lang="en-US" sz="1250" dirty="0"/>
          </a:p>
        </p:txBody>
      </p:sp>
      <p:sp>
        <p:nvSpPr>
          <p:cNvPr id="19" name="Text 17"/>
          <p:cNvSpPr txBox="1"/>
          <p:nvPr/>
        </p:nvSpPr>
        <p:spPr>
          <a:xfrm>
            <a:off x="3749040" y="2313432"/>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Title, description, URLs, salary text</a:t>
            </a:r>
            <a:endParaRPr lang="en-US" sz="1150" dirty="0"/>
          </a:p>
        </p:txBody>
      </p:sp>
      <p:sp>
        <p:nvSpPr>
          <p:cNvPr id="20" name="Shape 18"/>
          <p:cNvSpPr/>
          <p:nvPr/>
        </p:nvSpPr>
        <p:spPr>
          <a:xfrm>
            <a:off x="548640" y="2715768"/>
            <a:ext cx="6675120" cy="356616"/>
          </a:xfrm>
          <a:prstGeom prst="rect">
            <a:avLst/>
          </a:prstGeom>
          <a:solidFill>
            <a:srgbClr val="FFFFFF"/>
          </a:solidFill>
          <a:ln w="12700">
            <a:solidFill>
              <a:srgbClr val="F4F6F9"/>
            </a:solidFill>
            <a:prstDash val="solid"/>
          </a:ln>
        </p:spPr>
        <p:txBody>
          <a:bodyPr/>
          <a:lstStyle/>
          <a:p>
            <a:endParaRPr/>
          </a:p>
        </p:txBody>
      </p:sp>
      <p:sp>
        <p:nvSpPr>
          <p:cNvPr id="21" name="Text 19"/>
          <p:cNvSpPr txBox="1"/>
          <p:nvPr/>
        </p:nvSpPr>
        <p:spPr>
          <a:xfrm>
            <a:off x="685800" y="2715768"/>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dim_company</a:t>
            </a:r>
            <a:endParaRPr lang="en-US" sz="1200" dirty="0"/>
          </a:p>
        </p:txBody>
      </p:sp>
      <p:sp>
        <p:nvSpPr>
          <p:cNvPr id="22" name="Text 20"/>
          <p:cNvSpPr txBox="1"/>
          <p:nvPr/>
        </p:nvSpPr>
        <p:spPr>
          <a:xfrm>
            <a:off x="2743200" y="2715768"/>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3,005</a:t>
            </a:r>
            <a:endParaRPr lang="en-US" sz="1250" dirty="0"/>
          </a:p>
        </p:txBody>
      </p:sp>
      <p:sp>
        <p:nvSpPr>
          <p:cNvPr id="23" name="Text 21"/>
          <p:cNvSpPr txBox="1"/>
          <p:nvPr/>
        </p:nvSpPr>
        <p:spPr>
          <a:xfrm>
            <a:off x="3749040" y="2715768"/>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Standard company name, industry, agency flag</a:t>
            </a:r>
            <a:endParaRPr lang="en-US" sz="1150" dirty="0"/>
          </a:p>
        </p:txBody>
      </p:sp>
      <p:sp>
        <p:nvSpPr>
          <p:cNvPr id="24" name="Shape 22"/>
          <p:cNvSpPr/>
          <p:nvPr/>
        </p:nvSpPr>
        <p:spPr>
          <a:xfrm>
            <a:off x="548640" y="3118104"/>
            <a:ext cx="6675120" cy="356616"/>
          </a:xfrm>
          <a:prstGeom prst="rect">
            <a:avLst/>
          </a:prstGeom>
          <a:solidFill>
            <a:srgbClr val="F4F6F9"/>
          </a:solidFill>
          <a:ln w="12700">
            <a:solidFill>
              <a:srgbClr val="F4F6F9"/>
            </a:solidFill>
            <a:prstDash val="solid"/>
          </a:ln>
        </p:spPr>
        <p:txBody>
          <a:bodyPr/>
          <a:lstStyle/>
          <a:p>
            <a:endParaRPr/>
          </a:p>
        </p:txBody>
      </p:sp>
      <p:sp>
        <p:nvSpPr>
          <p:cNvPr id="25" name="Text 23"/>
          <p:cNvSpPr txBox="1"/>
          <p:nvPr/>
        </p:nvSpPr>
        <p:spPr>
          <a:xfrm>
            <a:off x="685800" y="3118104"/>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dim_date</a:t>
            </a:r>
            <a:endParaRPr lang="en-US" sz="1200" dirty="0"/>
          </a:p>
        </p:txBody>
      </p:sp>
      <p:sp>
        <p:nvSpPr>
          <p:cNvPr id="26" name="Text 24"/>
          <p:cNvSpPr txBox="1"/>
          <p:nvPr/>
        </p:nvSpPr>
        <p:spPr>
          <a:xfrm>
            <a:off x="2743200" y="3118104"/>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3,003</a:t>
            </a:r>
            <a:endParaRPr lang="en-US" sz="1250" dirty="0"/>
          </a:p>
        </p:txBody>
      </p:sp>
      <p:sp>
        <p:nvSpPr>
          <p:cNvPr id="27" name="Text 25"/>
          <p:cNvSpPr txBox="1"/>
          <p:nvPr/>
        </p:nvSpPr>
        <p:spPr>
          <a:xfrm>
            <a:off x="3749040" y="3118104"/>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Calendar: week (Sun start), month, weekend (Fri–Sat)</a:t>
            </a:r>
            <a:endParaRPr lang="en-US" sz="1150" dirty="0"/>
          </a:p>
        </p:txBody>
      </p:sp>
      <p:sp>
        <p:nvSpPr>
          <p:cNvPr id="28" name="Shape 26"/>
          <p:cNvSpPr/>
          <p:nvPr/>
        </p:nvSpPr>
        <p:spPr>
          <a:xfrm>
            <a:off x="548640" y="3520440"/>
            <a:ext cx="6675120" cy="356616"/>
          </a:xfrm>
          <a:prstGeom prst="rect">
            <a:avLst/>
          </a:prstGeom>
          <a:solidFill>
            <a:srgbClr val="FFFFFF"/>
          </a:solidFill>
          <a:ln w="12700">
            <a:solidFill>
              <a:srgbClr val="F4F6F9"/>
            </a:solidFill>
            <a:prstDash val="solid"/>
          </a:ln>
        </p:spPr>
        <p:txBody>
          <a:bodyPr/>
          <a:lstStyle/>
          <a:p>
            <a:endParaRPr/>
          </a:p>
        </p:txBody>
      </p:sp>
      <p:sp>
        <p:nvSpPr>
          <p:cNvPr id="29" name="Text 27"/>
          <p:cNvSpPr txBox="1"/>
          <p:nvPr/>
        </p:nvSpPr>
        <p:spPr>
          <a:xfrm>
            <a:off x="685800" y="3520440"/>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dim_skill</a:t>
            </a:r>
            <a:endParaRPr lang="en-US" sz="1200" dirty="0"/>
          </a:p>
        </p:txBody>
      </p:sp>
      <p:sp>
        <p:nvSpPr>
          <p:cNvPr id="30" name="Text 28"/>
          <p:cNvSpPr txBox="1"/>
          <p:nvPr/>
        </p:nvSpPr>
        <p:spPr>
          <a:xfrm>
            <a:off x="2743200" y="3520440"/>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126</a:t>
            </a:r>
            <a:endParaRPr lang="en-US" sz="1250" dirty="0"/>
          </a:p>
        </p:txBody>
      </p:sp>
      <p:sp>
        <p:nvSpPr>
          <p:cNvPr id="31" name="Text 29"/>
          <p:cNvSpPr txBox="1"/>
          <p:nvPr/>
        </p:nvSpPr>
        <p:spPr>
          <a:xfrm>
            <a:off x="3749040" y="3520440"/>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Skill and skill group</a:t>
            </a:r>
            <a:endParaRPr lang="en-US" sz="1150" dirty="0"/>
          </a:p>
        </p:txBody>
      </p:sp>
      <p:sp>
        <p:nvSpPr>
          <p:cNvPr id="32" name="Shape 30"/>
          <p:cNvSpPr/>
          <p:nvPr/>
        </p:nvSpPr>
        <p:spPr>
          <a:xfrm>
            <a:off x="548640" y="3922776"/>
            <a:ext cx="6675120" cy="356616"/>
          </a:xfrm>
          <a:prstGeom prst="rect">
            <a:avLst/>
          </a:prstGeom>
          <a:solidFill>
            <a:srgbClr val="F4F6F9"/>
          </a:solidFill>
          <a:ln w="12700">
            <a:solidFill>
              <a:srgbClr val="F4F6F9"/>
            </a:solidFill>
            <a:prstDash val="solid"/>
          </a:ln>
        </p:spPr>
        <p:txBody>
          <a:bodyPr/>
          <a:lstStyle/>
          <a:p>
            <a:endParaRPr/>
          </a:p>
        </p:txBody>
      </p:sp>
      <p:sp>
        <p:nvSpPr>
          <p:cNvPr id="33" name="Text 31"/>
          <p:cNvSpPr txBox="1"/>
          <p:nvPr/>
        </p:nvSpPr>
        <p:spPr>
          <a:xfrm>
            <a:off x="685800" y="3922776"/>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dim_job_attributes</a:t>
            </a:r>
            <a:endParaRPr lang="en-US" sz="1200" dirty="0"/>
          </a:p>
        </p:txBody>
      </p:sp>
      <p:sp>
        <p:nvSpPr>
          <p:cNvPr id="34" name="Text 32"/>
          <p:cNvSpPr txBox="1"/>
          <p:nvPr/>
        </p:nvSpPr>
        <p:spPr>
          <a:xfrm>
            <a:off x="2743200" y="3922776"/>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83</a:t>
            </a:r>
            <a:endParaRPr lang="en-US" sz="1250" dirty="0"/>
          </a:p>
        </p:txBody>
      </p:sp>
      <p:sp>
        <p:nvSpPr>
          <p:cNvPr id="35" name="Text 33"/>
          <p:cNvSpPr txBox="1"/>
          <p:nvPr/>
        </p:nvSpPr>
        <p:spPr>
          <a:xfrm>
            <a:off x="3749040" y="3922776"/>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Employment type, workplace, remote, experience level</a:t>
            </a:r>
            <a:endParaRPr lang="en-US" sz="1150" dirty="0"/>
          </a:p>
        </p:txBody>
      </p:sp>
      <p:sp>
        <p:nvSpPr>
          <p:cNvPr id="36" name="Shape 34"/>
          <p:cNvSpPr/>
          <p:nvPr/>
        </p:nvSpPr>
        <p:spPr>
          <a:xfrm>
            <a:off x="548640" y="4325112"/>
            <a:ext cx="6675120" cy="356616"/>
          </a:xfrm>
          <a:prstGeom prst="rect">
            <a:avLst/>
          </a:prstGeom>
          <a:solidFill>
            <a:srgbClr val="FFFFFF"/>
          </a:solidFill>
          <a:ln w="12700">
            <a:solidFill>
              <a:srgbClr val="F4F6F9"/>
            </a:solidFill>
            <a:prstDash val="solid"/>
          </a:ln>
        </p:spPr>
        <p:txBody>
          <a:bodyPr/>
          <a:lstStyle/>
          <a:p>
            <a:endParaRPr/>
          </a:p>
        </p:txBody>
      </p:sp>
      <p:sp>
        <p:nvSpPr>
          <p:cNvPr id="37" name="Text 35"/>
          <p:cNvSpPr txBox="1"/>
          <p:nvPr/>
        </p:nvSpPr>
        <p:spPr>
          <a:xfrm>
            <a:off x="685800" y="4325112"/>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dim_location</a:t>
            </a:r>
            <a:endParaRPr lang="en-US" sz="1200" dirty="0"/>
          </a:p>
        </p:txBody>
      </p:sp>
      <p:sp>
        <p:nvSpPr>
          <p:cNvPr id="38" name="Text 36"/>
          <p:cNvSpPr txBox="1"/>
          <p:nvPr/>
        </p:nvSpPr>
        <p:spPr>
          <a:xfrm>
            <a:off x="2743200" y="4325112"/>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58</a:t>
            </a:r>
            <a:endParaRPr lang="en-US" sz="1250" dirty="0"/>
          </a:p>
        </p:txBody>
      </p:sp>
      <p:sp>
        <p:nvSpPr>
          <p:cNvPr id="39" name="Text 37"/>
          <p:cNvSpPr txBox="1"/>
          <p:nvPr/>
        </p:nvSpPr>
        <p:spPr>
          <a:xfrm>
            <a:off x="3749040" y="4325112"/>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City, region, level, display label</a:t>
            </a:r>
            <a:endParaRPr lang="en-US" sz="1150" dirty="0"/>
          </a:p>
        </p:txBody>
      </p:sp>
      <p:sp>
        <p:nvSpPr>
          <p:cNvPr id="40" name="Shape 38"/>
          <p:cNvSpPr/>
          <p:nvPr/>
        </p:nvSpPr>
        <p:spPr>
          <a:xfrm>
            <a:off x="548640" y="4727448"/>
            <a:ext cx="6675120" cy="356616"/>
          </a:xfrm>
          <a:prstGeom prst="rect">
            <a:avLst/>
          </a:prstGeom>
          <a:solidFill>
            <a:srgbClr val="F4F6F9"/>
          </a:solidFill>
          <a:ln w="12700">
            <a:solidFill>
              <a:srgbClr val="F4F6F9"/>
            </a:solidFill>
            <a:prstDash val="solid"/>
          </a:ln>
        </p:spPr>
        <p:txBody>
          <a:bodyPr/>
          <a:lstStyle/>
          <a:p>
            <a:endParaRPr/>
          </a:p>
        </p:txBody>
      </p:sp>
      <p:sp>
        <p:nvSpPr>
          <p:cNvPr id="41" name="Text 39"/>
          <p:cNvSpPr txBox="1"/>
          <p:nvPr/>
        </p:nvSpPr>
        <p:spPr>
          <a:xfrm>
            <a:off x="685800" y="4727448"/>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dim_role</a:t>
            </a:r>
            <a:endParaRPr lang="en-US" sz="1200" dirty="0"/>
          </a:p>
        </p:txBody>
      </p:sp>
      <p:sp>
        <p:nvSpPr>
          <p:cNvPr id="42" name="Text 40"/>
          <p:cNvSpPr txBox="1"/>
          <p:nvPr/>
        </p:nvSpPr>
        <p:spPr>
          <a:xfrm>
            <a:off x="2743200" y="4727448"/>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20</a:t>
            </a:r>
            <a:endParaRPr lang="en-US" sz="1250" dirty="0"/>
          </a:p>
        </p:txBody>
      </p:sp>
      <p:sp>
        <p:nvSpPr>
          <p:cNvPr id="43" name="Text 41"/>
          <p:cNvSpPr txBox="1"/>
          <p:nvPr/>
        </p:nvSpPr>
        <p:spPr>
          <a:xfrm>
            <a:off x="3749040" y="4727448"/>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Job category and role family</a:t>
            </a:r>
            <a:endParaRPr lang="en-US" sz="1150" dirty="0"/>
          </a:p>
        </p:txBody>
      </p:sp>
      <p:sp>
        <p:nvSpPr>
          <p:cNvPr id="44" name="Shape 42"/>
          <p:cNvSpPr/>
          <p:nvPr/>
        </p:nvSpPr>
        <p:spPr>
          <a:xfrm>
            <a:off x="548640" y="5129784"/>
            <a:ext cx="6675120" cy="356616"/>
          </a:xfrm>
          <a:prstGeom prst="rect">
            <a:avLst/>
          </a:prstGeom>
          <a:solidFill>
            <a:srgbClr val="FFFFFF"/>
          </a:solidFill>
          <a:ln w="12700">
            <a:solidFill>
              <a:srgbClr val="F4F6F9"/>
            </a:solidFill>
            <a:prstDash val="solid"/>
          </a:ln>
        </p:spPr>
        <p:txBody>
          <a:bodyPr/>
          <a:lstStyle/>
          <a:p>
            <a:endParaRPr/>
          </a:p>
        </p:txBody>
      </p:sp>
      <p:sp>
        <p:nvSpPr>
          <p:cNvPr id="45" name="Text 43"/>
          <p:cNvSpPr txBox="1"/>
          <p:nvPr/>
        </p:nvSpPr>
        <p:spPr>
          <a:xfrm>
            <a:off x="685800" y="5129784"/>
            <a:ext cx="2103120" cy="356616"/>
          </a:xfrm>
          <a:prstGeom prst="rect">
            <a:avLst/>
          </a:prstGeom>
          <a:noFill/>
          <a:ln/>
        </p:spPr>
        <p:txBody>
          <a:bodyPr wrap="square" lIns="0" tIns="0" rIns="0" bIns="0" rtlCol="0" anchor="ctr"/>
          <a:lstStyle/>
          <a:p>
            <a:pPr marL="0" indent="0">
              <a:buNone/>
            </a:pPr>
            <a:r>
              <a:rPr lang="en-US" sz="1200" dirty="0">
                <a:solidFill>
                  <a:srgbClr val="14213D"/>
                </a:solidFill>
                <a:latin typeface="Courier New" pitchFamily="34" charset="0"/>
                <a:ea typeface="Courier New" pitchFamily="34" charset="-122"/>
                <a:cs typeface="Courier New" pitchFamily="34" charset="-120"/>
              </a:rPr>
              <a:t>dim_source</a:t>
            </a:r>
            <a:endParaRPr lang="en-US" sz="1200" dirty="0"/>
          </a:p>
        </p:txBody>
      </p:sp>
      <p:sp>
        <p:nvSpPr>
          <p:cNvPr id="46" name="Text 44"/>
          <p:cNvSpPr txBox="1"/>
          <p:nvPr/>
        </p:nvSpPr>
        <p:spPr>
          <a:xfrm>
            <a:off x="2743200" y="5129784"/>
            <a:ext cx="822960" cy="356616"/>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6</a:t>
            </a:r>
            <a:endParaRPr lang="en-US" sz="1250" dirty="0"/>
          </a:p>
        </p:txBody>
      </p:sp>
      <p:sp>
        <p:nvSpPr>
          <p:cNvPr id="47" name="Text 45"/>
          <p:cNvSpPr txBox="1"/>
          <p:nvPr/>
        </p:nvSpPr>
        <p:spPr>
          <a:xfrm>
            <a:off x="3749040" y="5129784"/>
            <a:ext cx="3383280" cy="3566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Source, type (ATS / Aggregator), priority</a:t>
            </a:r>
            <a:endParaRPr lang="en-US" sz="1150" dirty="0"/>
          </a:p>
        </p:txBody>
      </p:sp>
      <p:sp>
        <p:nvSpPr>
          <p:cNvPr id="48" name="Text 46"/>
          <p:cNvSpPr txBox="1"/>
          <p:nvPr/>
        </p:nvSpPr>
        <p:spPr>
          <a:xfrm>
            <a:off x="548640" y="5623560"/>
            <a:ext cx="6675120" cy="365760"/>
          </a:xfrm>
          <a:prstGeom prst="rect">
            <a:avLst/>
          </a:prstGeom>
          <a:noFill/>
          <a:ln/>
        </p:spPr>
        <p:txBody>
          <a:bodyPr wrap="square" lIns="0" tIns="0" rIns="0" bIns="0" rtlCol="0" anchor="ctr"/>
          <a:lstStyle/>
          <a:p>
            <a:pPr marL="0" indent="0">
              <a:buNone/>
            </a:pPr>
            <a:r>
              <a:rPr lang="en-US" sz="1200" i="1" dirty="0">
                <a:solidFill>
                  <a:srgbClr val="5B6475"/>
                </a:solidFill>
                <a:latin typeface="Calibri" pitchFamily="34" charset="0"/>
                <a:ea typeface="Calibri" pitchFamily="34" charset="-122"/>
                <a:cs typeface="Calibri" pitchFamily="34" charset="-120"/>
              </a:rPr>
              <a:t>final_datasets/README.md documents grain, columns and row counts · run 20260929T115551Z</a:t>
            </a:r>
            <a:endParaRPr lang="en-US" sz="1200" dirty="0"/>
          </a:p>
        </p:txBody>
      </p:sp>
      <p:sp>
        <p:nvSpPr>
          <p:cNvPr id="49" name="Text 47"/>
          <p:cNvSpPr txBox="1"/>
          <p:nvPr/>
        </p:nvSpPr>
        <p:spPr>
          <a:xfrm>
            <a:off x="7589520" y="1463040"/>
            <a:ext cx="4053535" cy="365760"/>
          </a:xfrm>
          <a:prstGeom prst="rect">
            <a:avLst/>
          </a:prstGeom>
          <a:noFill/>
          <a:ln/>
        </p:spPr>
        <p:txBody>
          <a:bodyPr wrap="square" lIns="0" tIns="0" rIns="0" bIns="0" rtlCol="0" anchor="ctr"/>
          <a:lstStyle/>
          <a:p>
            <a:pPr marL="0" indent="0">
              <a:buNone/>
            </a:pPr>
            <a:r>
              <a:rPr lang="en-US" sz="1400" b="1" dirty="0">
                <a:solidFill>
                  <a:srgbClr val="A33A62"/>
                </a:solidFill>
                <a:latin typeface="Calibri" pitchFamily="34" charset="0"/>
                <a:ea typeface="Calibri" pitchFamily="34" charset="-122"/>
                <a:cs typeface="Calibri" pitchFamily="34" charset="-120"/>
              </a:rPr>
              <a:t>How complete is each field? (% of jobs known)</a:t>
            </a:r>
            <a:endParaRPr lang="en-US" sz="1400" dirty="0"/>
          </a:p>
        </p:txBody>
      </p:sp>
      <p:graphicFrame>
        <p:nvGraphicFramePr>
          <p:cNvPr id="50" name="Chart 0"/>
          <p:cNvGraphicFramePr/>
          <p:nvPr/>
        </p:nvGraphicFramePr>
        <p:xfrm>
          <a:off x="7589520" y="1874520"/>
          <a:ext cx="4053535"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1" name="Text 48"/>
          <p:cNvSpPr txBox="1"/>
          <p:nvPr/>
        </p:nvSpPr>
        <p:spPr>
          <a:xfrm>
            <a:off x="7589520" y="5623560"/>
            <a:ext cx="4053535" cy="457200"/>
          </a:xfrm>
          <a:prstGeom prst="rect">
            <a:avLst/>
          </a:prstGeom>
          <a:noFill/>
          <a:ln/>
        </p:spPr>
        <p:txBody>
          <a:bodyPr wrap="square" lIns="0" tIns="0" rIns="0" bIns="0" rtlCol="0" anchor="t"/>
          <a:lstStyle/>
          <a:p>
            <a:pPr marL="0" indent="0">
              <a:buNone/>
            </a:pPr>
            <a:r>
              <a:rPr lang="en-US" sz="1100" dirty="0">
                <a:solidFill>
                  <a:srgbClr val="5B6475"/>
                </a:solidFill>
                <a:latin typeface="Calibri" pitchFamily="34" charset="0"/>
                <a:ea typeface="Calibri" pitchFamily="34" charset="-122"/>
                <a:cs typeface="Calibri" pitchFamily="34" charset="-120"/>
              </a:rPr>
              <a:t>Coverage follows the sources: Jooble gives no date or job type; experience level comes from the source or from title rules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19</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Results: where the jobs are</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Q1–Q2 · Jobs advertised in September 2026, by city (top 10)</a:t>
            </a:r>
            <a:endParaRPr lang="en-US" sz="1500" dirty="0"/>
          </a:p>
        </p:txBody>
      </p:sp>
      <p:sp>
        <p:nvSpPr>
          <p:cNvPr id="6" name="Shape 4"/>
          <p:cNvSpPr/>
          <p:nvPr/>
        </p:nvSpPr>
        <p:spPr>
          <a:xfrm>
            <a:off x="9265615" y="475488"/>
            <a:ext cx="2377440" cy="384048"/>
          </a:xfrm>
          <a:prstGeom prst="roundRect">
            <a:avLst>
              <a:gd name="adj" fmla="val 50000"/>
            </a:avLst>
          </a:prstGeom>
          <a:solidFill>
            <a:srgbClr val="FBEFF3"/>
          </a:solidFill>
          <a:ln w="12700">
            <a:solidFill>
              <a:srgbClr val="E3A3B8"/>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A33A62"/>
                </a:solidFill>
                <a:latin typeface="Calibri" pitchFamily="34" charset="0"/>
                <a:ea typeface="Calibri" pitchFamily="34" charset="-122"/>
                <a:cs typeface="Calibri" pitchFamily="34" charset="-120"/>
              </a:rPr>
              <a:t>Results</a:t>
            </a:r>
            <a:endParaRPr lang="en-US" sz="1200" dirty="0"/>
          </a:p>
        </p:txBody>
      </p:sp>
      <p:graphicFrame>
        <p:nvGraphicFramePr>
          <p:cNvPr id="8" name="Chart 0"/>
          <p:cNvGraphicFramePr/>
          <p:nvPr/>
        </p:nvGraphicFramePr>
        <p:xfrm>
          <a:off x="548640" y="1463040"/>
          <a:ext cx="74980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412480" y="1600200"/>
            <a:ext cx="3230575" cy="1325880"/>
          </a:xfrm>
          <a:prstGeom prst="roundRect">
            <a:avLst>
              <a:gd name="adj" fmla="val 8276"/>
            </a:avLst>
          </a:prstGeom>
          <a:solidFill>
            <a:srgbClr val="FBEFF3"/>
          </a:solidFill>
          <a:ln w="12700">
            <a:solidFill>
              <a:srgbClr val="FBEFF3"/>
            </a:solidFill>
            <a:prstDash val="solid"/>
          </a:ln>
        </p:spPr>
        <p:txBody>
          <a:bodyPr/>
          <a:lstStyle/>
          <a:p>
            <a:endParaRPr/>
          </a:p>
        </p:txBody>
      </p:sp>
      <p:sp>
        <p:nvSpPr>
          <p:cNvPr id="10" name="Text 7"/>
          <p:cNvSpPr txBox="1"/>
          <p:nvPr/>
        </p:nvSpPr>
        <p:spPr>
          <a:xfrm>
            <a:off x="8641080" y="1709928"/>
            <a:ext cx="2773375" cy="685800"/>
          </a:xfrm>
          <a:prstGeom prst="rect">
            <a:avLst/>
          </a:prstGeom>
          <a:noFill/>
          <a:ln/>
        </p:spPr>
        <p:txBody>
          <a:bodyPr wrap="square" lIns="0" tIns="0" rIns="0" bIns="0" rtlCol="0" anchor="ctr"/>
          <a:lstStyle/>
          <a:p>
            <a:pPr marL="0" indent="0">
              <a:buNone/>
            </a:pPr>
            <a:r>
              <a:rPr lang="en-US" sz="3600" b="1" dirty="0">
                <a:solidFill>
                  <a:srgbClr val="14213D"/>
                </a:solidFill>
                <a:latin typeface="Calibri" pitchFamily="34" charset="0"/>
                <a:ea typeface="Calibri" pitchFamily="34" charset="-122"/>
                <a:cs typeface="Calibri" pitchFamily="34" charset="-120"/>
              </a:rPr>
              <a:t>19,148</a:t>
            </a:r>
            <a:endParaRPr lang="en-US" sz="3600" dirty="0"/>
          </a:p>
        </p:txBody>
      </p:sp>
      <p:sp>
        <p:nvSpPr>
          <p:cNvPr id="11" name="Text 8"/>
          <p:cNvSpPr txBox="1"/>
          <p:nvPr/>
        </p:nvSpPr>
        <p:spPr>
          <a:xfrm>
            <a:off x="8641080" y="2377440"/>
            <a:ext cx="2773375" cy="457200"/>
          </a:xfrm>
          <a:prstGeom prst="rect">
            <a:avLst/>
          </a:prstGeom>
          <a:noFill/>
          <a:ln/>
        </p:spPr>
        <p:txBody>
          <a:bodyPr wrap="square" lIns="0" tIns="0" rIns="0" bIns="0" rtlCol="0" anchor="ctr"/>
          <a:lstStyle/>
          <a:p>
            <a:pPr marL="0" indent="0">
              <a:buNone/>
            </a:pPr>
            <a:r>
              <a:rPr lang="en-US" sz="1300" dirty="0">
                <a:solidFill>
                  <a:srgbClr val="5B6475"/>
                </a:solidFill>
                <a:latin typeface="Calibri" pitchFamily="34" charset="0"/>
                <a:ea typeface="Calibri" pitchFamily="34" charset="-122"/>
                <a:cs typeface="Calibri" pitchFamily="34" charset="-120"/>
              </a:rPr>
              <a:t>jobs, from 20,490 listings (Q1)</a:t>
            </a:r>
            <a:endParaRPr lang="en-US" sz="1300" dirty="0"/>
          </a:p>
        </p:txBody>
      </p:sp>
      <p:sp>
        <p:nvSpPr>
          <p:cNvPr id="12" name="Shape 9"/>
          <p:cNvSpPr/>
          <p:nvPr/>
        </p:nvSpPr>
        <p:spPr>
          <a:xfrm>
            <a:off x="8412480" y="3154680"/>
            <a:ext cx="3230575" cy="1325880"/>
          </a:xfrm>
          <a:prstGeom prst="roundRect">
            <a:avLst>
              <a:gd name="adj" fmla="val 8276"/>
            </a:avLst>
          </a:prstGeom>
          <a:solidFill>
            <a:srgbClr val="FBEFF3"/>
          </a:solidFill>
          <a:ln w="12700">
            <a:solidFill>
              <a:srgbClr val="FBEFF3"/>
            </a:solidFill>
            <a:prstDash val="solid"/>
          </a:ln>
        </p:spPr>
        <p:txBody>
          <a:bodyPr/>
          <a:lstStyle/>
          <a:p>
            <a:endParaRPr/>
          </a:p>
        </p:txBody>
      </p:sp>
      <p:sp>
        <p:nvSpPr>
          <p:cNvPr id="13" name="Text 10"/>
          <p:cNvSpPr txBox="1"/>
          <p:nvPr/>
        </p:nvSpPr>
        <p:spPr>
          <a:xfrm>
            <a:off x="8641080" y="3264408"/>
            <a:ext cx="2773375" cy="685800"/>
          </a:xfrm>
          <a:prstGeom prst="rect">
            <a:avLst/>
          </a:prstGeom>
          <a:noFill/>
          <a:ln/>
        </p:spPr>
        <p:txBody>
          <a:bodyPr wrap="square" lIns="0" tIns="0" rIns="0" bIns="0" rtlCol="0" anchor="ctr"/>
          <a:lstStyle/>
          <a:p>
            <a:pPr marL="0" indent="0">
              <a:buNone/>
            </a:pPr>
            <a:r>
              <a:rPr lang="en-US" sz="3600" b="1" dirty="0">
                <a:solidFill>
                  <a:srgbClr val="14213D"/>
                </a:solidFill>
                <a:latin typeface="Calibri" pitchFamily="34" charset="0"/>
                <a:ea typeface="Calibri" pitchFamily="34" charset="-122"/>
                <a:cs typeface="Calibri" pitchFamily="34" charset="-120"/>
              </a:rPr>
              <a:t>50.4%</a:t>
            </a:r>
            <a:endParaRPr lang="en-US" sz="3600" dirty="0"/>
          </a:p>
        </p:txBody>
      </p:sp>
      <p:sp>
        <p:nvSpPr>
          <p:cNvPr id="14" name="Text 11"/>
          <p:cNvSpPr txBox="1"/>
          <p:nvPr/>
        </p:nvSpPr>
        <p:spPr>
          <a:xfrm>
            <a:off x="8641080" y="3931920"/>
            <a:ext cx="2773375" cy="457200"/>
          </a:xfrm>
          <a:prstGeom prst="rect">
            <a:avLst/>
          </a:prstGeom>
          <a:noFill/>
          <a:ln/>
        </p:spPr>
        <p:txBody>
          <a:bodyPr wrap="square" lIns="0" tIns="0" rIns="0" bIns="0" rtlCol="0" anchor="ctr"/>
          <a:lstStyle/>
          <a:p>
            <a:pPr marL="0" indent="0">
              <a:buNone/>
            </a:pPr>
            <a:r>
              <a:rPr lang="en-US" sz="1300" dirty="0">
                <a:solidFill>
                  <a:srgbClr val="5B6475"/>
                </a:solidFill>
                <a:latin typeface="Calibri" pitchFamily="34" charset="0"/>
                <a:ea typeface="Calibri" pitchFamily="34" charset="-122"/>
                <a:cs typeface="Calibri" pitchFamily="34" charset="-120"/>
              </a:rPr>
              <a:t>of jobs are in Riyadh</a:t>
            </a:r>
            <a:endParaRPr lang="en-US" sz="1300" dirty="0"/>
          </a:p>
        </p:txBody>
      </p:sp>
      <p:sp>
        <p:nvSpPr>
          <p:cNvPr id="15" name="Shape 12"/>
          <p:cNvSpPr/>
          <p:nvPr/>
        </p:nvSpPr>
        <p:spPr>
          <a:xfrm>
            <a:off x="8412480" y="4709160"/>
            <a:ext cx="3230575" cy="1325880"/>
          </a:xfrm>
          <a:prstGeom prst="roundRect">
            <a:avLst>
              <a:gd name="adj" fmla="val 8276"/>
            </a:avLst>
          </a:prstGeom>
          <a:solidFill>
            <a:srgbClr val="FBEFF3"/>
          </a:solidFill>
          <a:ln w="12700">
            <a:solidFill>
              <a:srgbClr val="FBEFF3"/>
            </a:solidFill>
            <a:prstDash val="solid"/>
          </a:ln>
        </p:spPr>
        <p:txBody>
          <a:bodyPr/>
          <a:lstStyle/>
          <a:p>
            <a:endParaRPr/>
          </a:p>
        </p:txBody>
      </p:sp>
      <p:sp>
        <p:nvSpPr>
          <p:cNvPr id="16" name="Text 13"/>
          <p:cNvSpPr txBox="1"/>
          <p:nvPr/>
        </p:nvSpPr>
        <p:spPr>
          <a:xfrm>
            <a:off x="8641080" y="4818888"/>
            <a:ext cx="2773375" cy="685800"/>
          </a:xfrm>
          <a:prstGeom prst="rect">
            <a:avLst/>
          </a:prstGeom>
          <a:noFill/>
          <a:ln/>
        </p:spPr>
        <p:txBody>
          <a:bodyPr wrap="square" lIns="0" tIns="0" rIns="0" bIns="0" rtlCol="0" anchor="ctr"/>
          <a:lstStyle/>
          <a:p>
            <a:pPr marL="0" indent="0">
              <a:buNone/>
            </a:pPr>
            <a:r>
              <a:rPr lang="en-US" sz="3600" b="1" dirty="0">
                <a:solidFill>
                  <a:srgbClr val="14213D"/>
                </a:solidFill>
                <a:latin typeface="Calibri" pitchFamily="34" charset="0"/>
                <a:ea typeface="Calibri" pitchFamily="34" charset="-122"/>
                <a:cs typeface="Calibri" pitchFamily="34" charset="-120"/>
              </a:rPr>
              <a:t>4,114</a:t>
            </a:r>
            <a:endParaRPr lang="en-US" sz="3600" dirty="0"/>
          </a:p>
        </p:txBody>
      </p:sp>
      <p:sp>
        <p:nvSpPr>
          <p:cNvPr id="17" name="Text 14"/>
          <p:cNvSpPr txBox="1"/>
          <p:nvPr/>
        </p:nvSpPr>
        <p:spPr>
          <a:xfrm>
            <a:off x="8641080" y="5486400"/>
            <a:ext cx="2773375" cy="457200"/>
          </a:xfrm>
          <a:prstGeom prst="rect">
            <a:avLst/>
          </a:prstGeom>
          <a:noFill/>
          <a:ln/>
        </p:spPr>
        <p:txBody>
          <a:bodyPr wrap="square" lIns="0" tIns="0" rIns="0" bIns="0" rtlCol="0" anchor="ctr"/>
          <a:lstStyle/>
          <a:p>
            <a:pPr marL="0" indent="0">
              <a:buNone/>
            </a:pPr>
            <a:r>
              <a:rPr lang="en-US" sz="1300" dirty="0">
                <a:solidFill>
                  <a:srgbClr val="5B6475"/>
                </a:solidFill>
                <a:latin typeface="Calibri" pitchFamily="34" charset="0"/>
                <a:ea typeface="Calibri" pitchFamily="34" charset="-122"/>
                <a:cs typeface="Calibri" pitchFamily="34" charset="-120"/>
              </a:rPr>
              <a:t>jobs in the Eastern Province, the second region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20</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Results: who is hiring and for what</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Q3–Q4 · Jobs open in September 2026</a:t>
            </a:r>
            <a:endParaRPr lang="en-US" sz="1500" dirty="0"/>
          </a:p>
        </p:txBody>
      </p:sp>
      <p:sp>
        <p:nvSpPr>
          <p:cNvPr id="6" name="Shape 4"/>
          <p:cNvSpPr/>
          <p:nvPr/>
        </p:nvSpPr>
        <p:spPr>
          <a:xfrm>
            <a:off x="9265615" y="475488"/>
            <a:ext cx="2377440" cy="384048"/>
          </a:xfrm>
          <a:prstGeom prst="roundRect">
            <a:avLst>
              <a:gd name="adj" fmla="val 50000"/>
            </a:avLst>
          </a:prstGeom>
          <a:solidFill>
            <a:srgbClr val="FBEFF3"/>
          </a:solidFill>
          <a:ln w="12700">
            <a:solidFill>
              <a:srgbClr val="E3A3B8"/>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A33A62"/>
                </a:solidFill>
                <a:latin typeface="Calibri" pitchFamily="34" charset="0"/>
                <a:ea typeface="Calibri" pitchFamily="34" charset="-122"/>
                <a:cs typeface="Calibri" pitchFamily="34" charset="-120"/>
              </a:rPr>
              <a:t>Results</a:t>
            </a:r>
            <a:endParaRPr lang="en-US" sz="1200" dirty="0"/>
          </a:p>
        </p:txBody>
      </p:sp>
      <p:sp>
        <p:nvSpPr>
          <p:cNvPr id="8" name="Text 6"/>
          <p:cNvSpPr txBox="1"/>
          <p:nvPr/>
        </p:nvSpPr>
        <p:spPr>
          <a:xfrm>
            <a:off x="548640" y="1371600"/>
            <a:ext cx="5440680" cy="365760"/>
          </a:xfrm>
          <a:prstGeom prst="rect">
            <a:avLst/>
          </a:prstGeom>
          <a:noFill/>
          <a:ln/>
        </p:spPr>
        <p:txBody>
          <a:bodyPr wrap="square" lIns="0" tIns="0" rIns="0" bIns="0" rtlCol="0" anchor="ctr"/>
          <a:lstStyle/>
          <a:p>
            <a:pPr marL="0" indent="0">
              <a:buNone/>
            </a:pPr>
            <a:r>
              <a:rPr lang="en-US" sz="1400" b="1" dirty="0">
                <a:solidFill>
                  <a:srgbClr val="A33A62"/>
                </a:solidFill>
                <a:latin typeface="Calibri" pitchFamily="34" charset="0"/>
                <a:ea typeface="Calibri" pitchFamily="34" charset="-122"/>
                <a:cs typeface="Calibri" pitchFamily="34" charset="-120"/>
              </a:rPr>
              <a:t>Top 10 employers (agencies and job boards excluded)</a:t>
            </a:r>
            <a:endParaRPr lang="en-US" sz="1400" dirty="0"/>
          </a:p>
        </p:txBody>
      </p:sp>
      <p:graphicFrame>
        <p:nvGraphicFramePr>
          <p:cNvPr id="9" name="Chart 0"/>
          <p:cNvGraphicFramePr/>
          <p:nvPr/>
        </p:nvGraphicFramePr>
        <p:xfrm>
          <a:off x="548640" y="1783080"/>
          <a:ext cx="544068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6263640" y="1371600"/>
            <a:ext cx="5486400" cy="365760"/>
          </a:xfrm>
          <a:prstGeom prst="rect">
            <a:avLst/>
          </a:prstGeom>
          <a:noFill/>
          <a:ln/>
        </p:spPr>
        <p:txBody>
          <a:bodyPr wrap="square" lIns="0" tIns="0" rIns="0" bIns="0" rtlCol="0" anchor="ctr"/>
          <a:lstStyle/>
          <a:p>
            <a:pPr marL="0" indent="0">
              <a:buNone/>
            </a:pPr>
            <a:r>
              <a:rPr lang="en-US" sz="1400" b="1" dirty="0">
                <a:solidFill>
                  <a:srgbClr val="1C7F74"/>
                </a:solidFill>
                <a:latin typeface="Calibri" pitchFamily="34" charset="0"/>
                <a:ea typeface="Calibri" pitchFamily="34" charset="-122"/>
                <a:cs typeface="Calibri" pitchFamily="34" charset="-120"/>
              </a:rPr>
              <a:t>Jobs by role family (drill-down: job category)</a:t>
            </a:r>
            <a:endParaRPr lang="en-US" sz="1400" dirty="0"/>
          </a:p>
        </p:txBody>
      </p:sp>
      <p:graphicFrame>
        <p:nvGraphicFramePr>
          <p:cNvPr id="11" name="Chart 1"/>
          <p:cNvGraphicFramePr/>
          <p:nvPr/>
        </p:nvGraphicFramePr>
        <p:xfrm>
          <a:off x="6263640" y="1783080"/>
          <a:ext cx="5440680" cy="43434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21</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Results: the rest of the business questions</a:t>
            </a:r>
            <a:endParaRPr lang="en-US" sz="3200" dirty="0"/>
          </a:p>
        </p:txBody>
      </p:sp>
      <p:sp>
        <p:nvSpPr>
          <p:cNvPr id="5" name="Shape 3"/>
          <p:cNvSpPr/>
          <p:nvPr/>
        </p:nvSpPr>
        <p:spPr>
          <a:xfrm>
            <a:off x="9265615" y="475488"/>
            <a:ext cx="2377440" cy="384048"/>
          </a:xfrm>
          <a:prstGeom prst="roundRect">
            <a:avLst>
              <a:gd name="adj" fmla="val 50000"/>
            </a:avLst>
          </a:prstGeom>
          <a:solidFill>
            <a:srgbClr val="FBEFF3"/>
          </a:solidFill>
          <a:ln w="12700">
            <a:solidFill>
              <a:srgbClr val="E3A3B8"/>
            </a:solidFill>
            <a:prstDash val="solid"/>
          </a:ln>
        </p:spPr>
        <p:txBody>
          <a:bodyPr/>
          <a:lstStyle/>
          <a:p>
            <a:endParaRPr/>
          </a:p>
        </p:txBody>
      </p:sp>
      <p:sp>
        <p:nvSpPr>
          <p:cNvPr id="6" name="Text 4"/>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A33A62"/>
                </a:solidFill>
                <a:latin typeface="Calibri" pitchFamily="34" charset="0"/>
                <a:ea typeface="Calibri" pitchFamily="34" charset="-122"/>
                <a:cs typeface="Calibri" pitchFamily="34" charset="-120"/>
              </a:rPr>
              <a:t>Results</a:t>
            </a:r>
            <a:endParaRPr lang="en-US" sz="1200" dirty="0"/>
          </a:p>
        </p:txBody>
      </p:sp>
      <p:sp>
        <p:nvSpPr>
          <p:cNvPr id="7" name="Shape 5"/>
          <p:cNvSpPr/>
          <p:nvPr/>
        </p:nvSpPr>
        <p:spPr>
          <a:xfrm>
            <a:off x="548640" y="1325880"/>
            <a:ext cx="3520440" cy="2103120"/>
          </a:xfrm>
          <a:prstGeom prst="roundRect">
            <a:avLst>
              <a:gd name="adj" fmla="val 5217"/>
            </a:avLst>
          </a:prstGeom>
          <a:solidFill>
            <a:srgbClr val="FBEFF3"/>
          </a:solidFill>
          <a:ln w="12700">
            <a:solidFill>
              <a:srgbClr val="FBEFF3"/>
            </a:solidFill>
            <a:prstDash val="solid"/>
          </a:ln>
        </p:spPr>
        <p:txBody>
          <a:bodyPr/>
          <a:lstStyle/>
          <a:p>
            <a:endParaRPr/>
          </a:p>
        </p:txBody>
      </p:sp>
      <p:sp>
        <p:nvSpPr>
          <p:cNvPr id="8" name="Text 6"/>
          <p:cNvSpPr txBox="1"/>
          <p:nvPr/>
        </p:nvSpPr>
        <p:spPr>
          <a:xfrm>
            <a:off x="822960" y="1508760"/>
            <a:ext cx="2971800" cy="822960"/>
          </a:xfrm>
          <a:prstGeom prst="rect">
            <a:avLst/>
          </a:prstGeom>
          <a:noFill/>
          <a:ln/>
        </p:spPr>
        <p:txBody>
          <a:bodyPr wrap="square" lIns="0" tIns="0" rIns="0" bIns="0" rtlCol="0" anchor="ctr"/>
          <a:lstStyle/>
          <a:p>
            <a:pPr marL="0" indent="0">
              <a:buNone/>
            </a:pPr>
            <a:r>
              <a:rPr lang="en-US" sz="4000" b="1" dirty="0">
                <a:solidFill>
                  <a:srgbClr val="14213D"/>
                </a:solidFill>
                <a:latin typeface="Calibri" pitchFamily="34" charset="0"/>
                <a:ea typeface="Calibri" pitchFamily="34" charset="-122"/>
                <a:cs typeface="Calibri" pitchFamily="34" charset="-120"/>
              </a:rPr>
              <a:t>93.1%</a:t>
            </a:r>
            <a:endParaRPr lang="en-US" sz="4000" dirty="0"/>
          </a:p>
        </p:txBody>
      </p:sp>
      <p:sp>
        <p:nvSpPr>
          <p:cNvPr id="9" name="Text 7"/>
          <p:cNvSpPr txBox="1"/>
          <p:nvPr/>
        </p:nvSpPr>
        <p:spPr>
          <a:xfrm>
            <a:off x="822960" y="2286000"/>
            <a:ext cx="2971800" cy="365760"/>
          </a:xfrm>
          <a:prstGeom prst="rect">
            <a:avLst/>
          </a:prstGeom>
          <a:noFill/>
          <a:ln/>
        </p:spPr>
        <p:txBody>
          <a:bodyPr wrap="square" lIns="0" tIns="0" rIns="0" bIns="0" rtlCol="0" anchor="ctr"/>
          <a:lstStyle/>
          <a:p>
            <a:pPr marL="0" indent="0">
              <a:buNone/>
            </a:pPr>
            <a:r>
              <a:rPr lang="en-US" sz="1600" b="1" dirty="0">
                <a:solidFill>
                  <a:srgbClr val="A33A62"/>
                </a:solidFill>
                <a:latin typeface="Calibri" pitchFamily="34" charset="0"/>
                <a:ea typeface="Calibri" pitchFamily="34" charset="-122"/>
                <a:cs typeface="Calibri" pitchFamily="34" charset="-120"/>
              </a:rPr>
              <a:t>full-time</a:t>
            </a:r>
            <a:endParaRPr lang="en-US" sz="1600" dirty="0"/>
          </a:p>
        </p:txBody>
      </p:sp>
      <p:sp>
        <p:nvSpPr>
          <p:cNvPr id="10" name="Text 8"/>
          <p:cNvSpPr txBox="1"/>
          <p:nvPr/>
        </p:nvSpPr>
        <p:spPr>
          <a:xfrm>
            <a:off x="822960" y="2697480"/>
            <a:ext cx="2971800" cy="64008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Q5 · 6,276 of 6,743 jobs with a known employment type</a:t>
            </a:r>
            <a:endParaRPr lang="en-US" sz="1150" dirty="0"/>
          </a:p>
        </p:txBody>
      </p:sp>
      <p:sp>
        <p:nvSpPr>
          <p:cNvPr id="11" name="Shape 9"/>
          <p:cNvSpPr/>
          <p:nvPr/>
        </p:nvSpPr>
        <p:spPr>
          <a:xfrm>
            <a:off x="4297680" y="1325880"/>
            <a:ext cx="3520440" cy="2103120"/>
          </a:xfrm>
          <a:prstGeom prst="roundRect">
            <a:avLst>
              <a:gd name="adj" fmla="val 5217"/>
            </a:avLst>
          </a:prstGeom>
          <a:solidFill>
            <a:srgbClr val="FBEFF3"/>
          </a:solidFill>
          <a:ln w="12700">
            <a:solidFill>
              <a:srgbClr val="FBEFF3"/>
            </a:solidFill>
            <a:prstDash val="solid"/>
          </a:ln>
        </p:spPr>
        <p:txBody>
          <a:bodyPr/>
          <a:lstStyle/>
          <a:p>
            <a:endParaRPr/>
          </a:p>
        </p:txBody>
      </p:sp>
      <p:sp>
        <p:nvSpPr>
          <p:cNvPr id="12" name="Text 10"/>
          <p:cNvSpPr txBox="1"/>
          <p:nvPr/>
        </p:nvSpPr>
        <p:spPr>
          <a:xfrm>
            <a:off x="4572000" y="1508760"/>
            <a:ext cx="2971800" cy="822960"/>
          </a:xfrm>
          <a:prstGeom prst="rect">
            <a:avLst/>
          </a:prstGeom>
          <a:noFill/>
          <a:ln/>
        </p:spPr>
        <p:txBody>
          <a:bodyPr wrap="square" lIns="0" tIns="0" rIns="0" bIns="0" rtlCol="0" anchor="ctr"/>
          <a:lstStyle/>
          <a:p>
            <a:pPr marL="0" indent="0">
              <a:buNone/>
            </a:pPr>
            <a:r>
              <a:rPr lang="en-US" sz="4000" b="1" dirty="0">
                <a:solidFill>
                  <a:srgbClr val="14213D"/>
                </a:solidFill>
                <a:latin typeface="Calibri" pitchFamily="34" charset="0"/>
                <a:ea typeface="Calibri" pitchFamily="34" charset="-122"/>
                <a:cs typeface="Calibri" pitchFamily="34" charset="-120"/>
              </a:rPr>
              <a:t>Mid-Senior</a:t>
            </a:r>
            <a:endParaRPr lang="en-US" sz="4000" dirty="0"/>
          </a:p>
        </p:txBody>
      </p:sp>
      <p:sp>
        <p:nvSpPr>
          <p:cNvPr id="13" name="Text 11"/>
          <p:cNvSpPr txBox="1"/>
          <p:nvPr/>
        </p:nvSpPr>
        <p:spPr>
          <a:xfrm>
            <a:off x="4572000" y="2286000"/>
            <a:ext cx="2971800" cy="365760"/>
          </a:xfrm>
          <a:prstGeom prst="rect">
            <a:avLst/>
          </a:prstGeom>
          <a:noFill/>
          <a:ln/>
        </p:spPr>
        <p:txBody>
          <a:bodyPr wrap="square" lIns="0" tIns="0" rIns="0" bIns="0" rtlCol="0" anchor="ctr"/>
          <a:lstStyle/>
          <a:p>
            <a:pPr marL="0" indent="0">
              <a:buNone/>
            </a:pPr>
            <a:r>
              <a:rPr lang="en-US" sz="1600" b="1" dirty="0">
                <a:solidFill>
                  <a:srgbClr val="A33A62"/>
                </a:solidFill>
                <a:latin typeface="Calibri" pitchFamily="34" charset="0"/>
                <a:ea typeface="Calibri" pitchFamily="34" charset="-122"/>
                <a:cs typeface="Calibri" pitchFamily="34" charset="-120"/>
              </a:rPr>
              <a:t>top level in the largest regions</a:t>
            </a:r>
            <a:endParaRPr lang="en-US" sz="1600" dirty="0"/>
          </a:p>
        </p:txBody>
      </p:sp>
      <p:sp>
        <p:nvSpPr>
          <p:cNvPr id="14" name="Text 12"/>
          <p:cNvSpPr txBox="1"/>
          <p:nvPr/>
        </p:nvSpPr>
        <p:spPr>
          <a:xfrm>
            <a:off x="4572000" y="2697480"/>
            <a:ext cx="2971800" cy="64008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Q6 · levels stated by the source: Riyadh 502 of 906, Eastern Province 177 of 354; Entry leads in Makkah, Madinah and Tabuk</a:t>
            </a:r>
            <a:endParaRPr lang="en-US" sz="1150" dirty="0"/>
          </a:p>
        </p:txBody>
      </p:sp>
      <p:sp>
        <p:nvSpPr>
          <p:cNvPr id="15" name="Shape 13"/>
          <p:cNvSpPr/>
          <p:nvPr/>
        </p:nvSpPr>
        <p:spPr>
          <a:xfrm>
            <a:off x="8046720" y="1325880"/>
            <a:ext cx="3520440" cy="2103120"/>
          </a:xfrm>
          <a:prstGeom prst="roundRect">
            <a:avLst>
              <a:gd name="adj" fmla="val 5217"/>
            </a:avLst>
          </a:prstGeom>
          <a:solidFill>
            <a:srgbClr val="FBEFF3"/>
          </a:solidFill>
          <a:ln w="12700">
            <a:solidFill>
              <a:srgbClr val="FBEFF3"/>
            </a:solidFill>
            <a:prstDash val="solid"/>
          </a:ln>
        </p:spPr>
        <p:txBody>
          <a:bodyPr/>
          <a:lstStyle/>
          <a:p>
            <a:endParaRPr/>
          </a:p>
        </p:txBody>
      </p:sp>
      <p:sp>
        <p:nvSpPr>
          <p:cNvPr id="16" name="Text 14"/>
          <p:cNvSpPr txBox="1"/>
          <p:nvPr/>
        </p:nvSpPr>
        <p:spPr>
          <a:xfrm>
            <a:off x="8321040" y="1508760"/>
            <a:ext cx="2971800" cy="822960"/>
          </a:xfrm>
          <a:prstGeom prst="rect">
            <a:avLst/>
          </a:prstGeom>
          <a:noFill/>
          <a:ln/>
        </p:spPr>
        <p:txBody>
          <a:bodyPr wrap="square" lIns="0" tIns="0" rIns="0" bIns="0" rtlCol="0" anchor="ctr"/>
          <a:lstStyle/>
          <a:p>
            <a:pPr marL="0" indent="0">
              <a:buNone/>
            </a:pPr>
            <a:r>
              <a:rPr lang="en-US" sz="4000" b="1" dirty="0">
                <a:solidFill>
                  <a:srgbClr val="14213D"/>
                </a:solidFill>
                <a:latin typeface="Calibri" pitchFamily="34" charset="0"/>
                <a:ea typeface="Calibri" pitchFamily="34" charset="-122"/>
                <a:cs typeface="Calibri" pitchFamily="34" charset="-120"/>
              </a:rPr>
              <a:t>46 days</a:t>
            </a:r>
            <a:endParaRPr lang="en-US" sz="4000" dirty="0"/>
          </a:p>
        </p:txBody>
      </p:sp>
      <p:sp>
        <p:nvSpPr>
          <p:cNvPr id="17" name="Text 15"/>
          <p:cNvSpPr txBox="1"/>
          <p:nvPr/>
        </p:nvSpPr>
        <p:spPr>
          <a:xfrm>
            <a:off x="8321040" y="2286000"/>
            <a:ext cx="2971800" cy="365760"/>
          </a:xfrm>
          <a:prstGeom prst="rect">
            <a:avLst/>
          </a:prstGeom>
          <a:noFill/>
          <a:ln/>
        </p:spPr>
        <p:txBody>
          <a:bodyPr wrap="square" lIns="0" tIns="0" rIns="0" bIns="0" rtlCol="0" anchor="ctr"/>
          <a:lstStyle/>
          <a:p>
            <a:pPr marL="0" indent="0">
              <a:buNone/>
            </a:pPr>
            <a:r>
              <a:rPr lang="en-US" sz="1600" b="1" dirty="0">
                <a:solidFill>
                  <a:srgbClr val="A33A62"/>
                </a:solidFill>
                <a:latin typeface="Calibri" pitchFamily="34" charset="0"/>
                <a:ea typeface="Calibri" pitchFamily="34" charset="-122"/>
                <a:cs typeface="Calibri" pitchFamily="34" charset="-120"/>
              </a:rPr>
              <a:t>median time listed</a:t>
            </a:r>
            <a:endParaRPr lang="en-US" sz="1600" dirty="0"/>
          </a:p>
        </p:txBody>
      </p:sp>
      <p:sp>
        <p:nvSpPr>
          <p:cNvPr id="18" name="Text 16"/>
          <p:cNvSpPr txBox="1"/>
          <p:nvPr/>
        </p:nvSpPr>
        <p:spPr>
          <a:xfrm>
            <a:off x="8321040" y="2697480"/>
            <a:ext cx="2971800" cy="64008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Q8 · 141 jobs that disappeared from employer boards in the week of 20 Sep</a:t>
            </a:r>
            <a:endParaRPr lang="en-US" sz="1150" dirty="0"/>
          </a:p>
        </p:txBody>
      </p:sp>
      <p:sp>
        <p:nvSpPr>
          <p:cNvPr id="19" name="Text 17"/>
          <p:cNvSpPr txBox="1"/>
          <p:nvPr/>
        </p:nvSpPr>
        <p:spPr>
          <a:xfrm>
            <a:off x="548640" y="3657600"/>
            <a:ext cx="6766560" cy="365760"/>
          </a:xfrm>
          <a:prstGeom prst="rect">
            <a:avLst/>
          </a:prstGeom>
          <a:noFill/>
          <a:ln/>
        </p:spPr>
        <p:txBody>
          <a:bodyPr wrap="square" lIns="0" tIns="0" rIns="0" bIns="0" rtlCol="0" anchor="ctr"/>
          <a:lstStyle/>
          <a:p>
            <a:pPr marL="0" indent="0">
              <a:buNone/>
            </a:pPr>
            <a:r>
              <a:rPr lang="en-US" sz="1400" b="1" dirty="0">
                <a:solidFill>
                  <a:srgbClr val="A33A62"/>
                </a:solidFill>
                <a:latin typeface="Calibri" pitchFamily="34" charset="0"/>
                <a:ea typeface="Calibri" pitchFamily="34" charset="-122"/>
                <a:cs typeface="Calibri" pitchFamily="34" charset="-120"/>
              </a:rPr>
              <a:t>Q9 · Most mentioned skills (% of jobs with a full description)</a:t>
            </a:r>
            <a:endParaRPr lang="en-US" sz="1400" dirty="0"/>
          </a:p>
        </p:txBody>
      </p:sp>
      <p:graphicFrame>
        <p:nvGraphicFramePr>
          <p:cNvPr id="20" name="Chart 0"/>
          <p:cNvGraphicFramePr/>
          <p:nvPr/>
        </p:nvGraphicFramePr>
        <p:xfrm>
          <a:off x="548640" y="4023360"/>
          <a:ext cx="676656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18"/>
          <p:cNvSpPr txBox="1"/>
          <p:nvPr/>
        </p:nvSpPr>
        <p:spPr>
          <a:xfrm>
            <a:off x="7680960" y="3657600"/>
            <a:ext cx="3962095" cy="365760"/>
          </a:xfrm>
          <a:prstGeom prst="rect">
            <a:avLst/>
          </a:prstGeom>
          <a:noFill/>
          <a:ln/>
        </p:spPr>
        <p:txBody>
          <a:bodyPr wrap="square" lIns="0" tIns="0" rIns="0" bIns="0" rtlCol="0" anchor="ctr"/>
          <a:lstStyle/>
          <a:p>
            <a:pPr marL="0" indent="0">
              <a:buNone/>
            </a:pPr>
            <a:r>
              <a:rPr lang="en-US" sz="1400" b="1" dirty="0">
                <a:solidFill>
                  <a:srgbClr val="A33A62"/>
                </a:solidFill>
                <a:latin typeface="Calibri" pitchFamily="34" charset="0"/>
                <a:ea typeface="Calibri" pitchFamily="34" charset="-122"/>
                <a:cs typeface="Calibri" pitchFamily="34" charset="-120"/>
              </a:rPr>
              <a:t>Q7–Q8 · Employer boards by week</a:t>
            </a:r>
            <a:endParaRPr lang="en-US" sz="1400" dirty="0"/>
          </a:p>
        </p:txBody>
      </p:sp>
      <p:sp>
        <p:nvSpPr>
          <p:cNvPr id="22" name="Shape 19"/>
          <p:cNvSpPr/>
          <p:nvPr/>
        </p:nvSpPr>
        <p:spPr>
          <a:xfrm>
            <a:off x="7680960" y="4069080"/>
            <a:ext cx="3962095" cy="420624"/>
          </a:xfrm>
          <a:prstGeom prst="rect">
            <a:avLst/>
          </a:prstGeom>
          <a:solidFill>
            <a:srgbClr val="FBEFF3"/>
          </a:solidFill>
          <a:ln w="12700">
            <a:solidFill>
              <a:srgbClr val="F4F6F9"/>
            </a:solidFill>
            <a:prstDash val="solid"/>
          </a:ln>
        </p:spPr>
        <p:txBody>
          <a:bodyPr/>
          <a:lstStyle/>
          <a:p>
            <a:endParaRPr/>
          </a:p>
        </p:txBody>
      </p:sp>
      <p:sp>
        <p:nvSpPr>
          <p:cNvPr id="23" name="Text 20"/>
          <p:cNvSpPr txBox="1"/>
          <p:nvPr/>
        </p:nvSpPr>
        <p:spPr>
          <a:xfrm>
            <a:off x="7772400" y="4069080"/>
            <a:ext cx="734501" cy="420624"/>
          </a:xfrm>
          <a:prstGeom prst="rect">
            <a:avLst/>
          </a:prstGeom>
          <a:noFill/>
          <a:ln/>
        </p:spPr>
        <p:txBody>
          <a:bodyPr wrap="square" lIns="0" tIns="0" rIns="0" bIns="0" rtlCol="0" anchor="ctr"/>
          <a:lstStyle/>
          <a:p>
            <a:pPr marL="0" indent="0" algn="l">
              <a:buNone/>
            </a:pPr>
            <a:r>
              <a:rPr lang="en-US" sz="1250" b="1" dirty="0">
                <a:solidFill>
                  <a:srgbClr val="A33A62"/>
                </a:solidFill>
                <a:latin typeface="Calibri" pitchFamily="34" charset="0"/>
                <a:ea typeface="Calibri" pitchFamily="34" charset="-122"/>
                <a:cs typeface="Calibri" pitchFamily="34" charset="-120"/>
              </a:rPr>
              <a:t>Week of</a:t>
            </a:r>
            <a:endParaRPr lang="en-US" sz="1250" dirty="0"/>
          </a:p>
        </p:txBody>
      </p:sp>
      <p:sp>
        <p:nvSpPr>
          <p:cNvPr id="24" name="Text 21"/>
          <p:cNvSpPr txBox="1"/>
          <p:nvPr/>
        </p:nvSpPr>
        <p:spPr>
          <a:xfrm>
            <a:off x="8644061" y="4069080"/>
            <a:ext cx="496775" cy="420624"/>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New</a:t>
            </a:r>
            <a:endParaRPr lang="en-US" sz="1250" dirty="0"/>
          </a:p>
        </p:txBody>
      </p:sp>
      <p:sp>
        <p:nvSpPr>
          <p:cNvPr id="25" name="Text 22"/>
          <p:cNvSpPr txBox="1"/>
          <p:nvPr/>
        </p:nvSpPr>
        <p:spPr>
          <a:xfrm>
            <a:off x="9277996" y="4069080"/>
            <a:ext cx="972227" cy="420624"/>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Disappeared</a:t>
            </a:r>
            <a:endParaRPr lang="en-US" sz="1250" dirty="0"/>
          </a:p>
        </p:txBody>
      </p:sp>
      <p:sp>
        <p:nvSpPr>
          <p:cNvPr id="26" name="Text 23"/>
          <p:cNvSpPr txBox="1"/>
          <p:nvPr/>
        </p:nvSpPr>
        <p:spPr>
          <a:xfrm>
            <a:off x="10387383" y="4069080"/>
            <a:ext cx="1209952" cy="420624"/>
          </a:xfrm>
          <a:prstGeom prst="rect">
            <a:avLst/>
          </a:prstGeom>
          <a:noFill/>
          <a:ln/>
        </p:spPr>
        <p:txBody>
          <a:bodyPr wrap="square" lIns="0" tIns="0" rIns="0" bIns="0" rtlCol="0" anchor="ctr"/>
          <a:lstStyle/>
          <a:p>
            <a:pPr marL="0" indent="0" algn="r">
              <a:buNone/>
            </a:pPr>
            <a:r>
              <a:rPr lang="en-US" sz="1250" b="1" dirty="0">
                <a:solidFill>
                  <a:srgbClr val="A33A62"/>
                </a:solidFill>
                <a:latin typeface="Calibri" pitchFamily="34" charset="0"/>
                <a:ea typeface="Calibri" pitchFamily="34" charset="-122"/>
                <a:cs typeface="Calibri" pitchFamily="34" charset="-120"/>
              </a:rPr>
              <a:t>Median days</a:t>
            </a:r>
            <a:endParaRPr lang="en-US" sz="1250" dirty="0"/>
          </a:p>
        </p:txBody>
      </p:sp>
      <p:sp>
        <p:nvSpPr>
          <p:cNvPr id="27" name="Shape 24"/>
          <p:cNvSpPr/>
          <p:nvPr/>
        </p:nvSpPr>
        <p:spPr>
          <a:xfrm>
            <a:off x="7680960" y="4526280"/>
            <a:ext cx="3962095" cy="420624"/>
          </a:xfrm>
          <a:prstGeom prst="rect">
            <a:avLst/>
          </a:prstGeom>
          <a:solidFill>
            <a:srgbClr val="FFFFFF"/>
          </a:solidFill>
          <a:ln w="12700">
            <a:solidFill>
              <a:srgbClr val="F4F6F9"/>
            </a:solidFill>
            <a:prstDash val="solid"/>
          </a:ln>
        </p:spPr>
        <p:txBody>
          <a:bodyPr/>
          <a:lstStyle/>
          <a:p>
            <a:endParaRPr/>
          </a:p>
        </p:txBody>
      </p:sp>
      <p:sp>
        <p:nvSpPr>
          <p:cNvPr id="28" name="Text 25"/>
          <p:cNvSpPr txBox="1"/>
          <p:nvPr/>
        </p:nvSpPr>
        <p:spPr>
          <a:xfrm>
            <a:off x="7772400" y="4526280"/>
            <a:ext cx="734501" cy="420624"/>
          </a:xfrm>
          <a:prstGeom prst="rect">
            <a:avLst/>
          </a:prstGeom>
          <a:noFill/>
          <a:ln/>
        </p:spPr>
        <p:txBody>
          <a:bodyPr wrap="square" lIns="0" tIns="0" rIns="0" bIns="0" rtlCol="0" anchor="ctr"/>
          <a:lstStyle/>
          <a:p>
            <a:pPr marL="0" indent="0" algn="l">
              <a:buNone/>
            </a:pPr>
            <a:r>
              <a:rPr lang="en-US" sz="1250" dirty="0">
                <a:solidFill>
                  <a:srgbClr val="1F2937"/>
                </a:solidFill>
                <a:latin typeface="Calibri" pitchFamily="34" charset="0"/>
                <a:ea typeface="Calibri" pitchFamily="34" charset="-122"/>
                <a:cs typeface="Calibri" pitchFamily="34" charset="-120"/>
              </a:rPr>
              <a:t>20 Sep</a:t>
            </a:r>
            <a:endParaRPr lang="en-US" sz="1250" dirty="0"/>
          </a:p>
        </p:txBody>
      </p:sp>
      <p:sp>
        <p:nvSpPr>
          <p:cNvPr id="29" name="Text 26"/>
          <p:cNvSpPr txBox="1"/>
          <p:nvPr/>
        </p:nvSpPr>
        <p:spPr>
          <a:xfrm>
            <a:off x="8644061" y="4526280"/>
            <a:ext cx="496775" cy="420624"/>
          </a:xfrm>
          <a:prstGeom prst="rect">
            <a:avLst/>
          </a:prstGeom>
          <a:noFill/>
          <a:ln/>
        </p:spPr>
        <p:txBody>
          <a:bodyPr wrap="square" lIns="0" tIns="0" rIns="0" bIns="0" rtlCol="0" anchor="ctr"/>
          <a:lstStyle/>
          <a:p>
            <a:pPr marL="0" indent="0" algn="r">
              <a:buNone/>
            </a:pPr>
            <a:r>
              <a:rPr lang="en-US" sz="1250" dirty="0">
                <a:solidFill>
                  <a:srgbClr val="1F2937"/>
                </a:solidFill>
                <a:latin typeface="Calibri" pitchFamily="34" charset="0"/>
                <a:ea typeface="Calibri" pitchFamily="34" charset="-122"/>
                <a:cs typeface="Calibri" pitchFamily="34" charset="-120"/>
              </a:rPr>
              <a:t>150</a:t>
            </a:r>
            <a:endParaRPr lang="en-US" sz="1250" dirty="0"/>
          </a:p>
        </p:txBody>
      </p:sp>
      <p:sp>
        <p:nvSpPr>
          <p:cNvPr id="30" name="Text 27"/>
          <p:cNvSpPr txBox="1"/>
          <p:nvPr/>
        </p:nvSpPr>
        <p:spPr>
          <a:xfrm>
            <a:off x="9277996" y="4526280"/>
            <a:ext cx="972227" cy="420624"/>
          </a:xfrm>
          <a:prstGeom prst="rect">
            <a:avLst/>
          </a:prstGeom>
          <a:noFill/>
          <a:ln/>
        </p:spPr>
        <p:txBody>
          <a:bodyPr wrap="square" lIns="0" tIns="0" rIns="0" bIns="0" rtlCol="0" anchor="ctr"/>
          <a:lstStyle/>
          <a:p>
            <a:pPr marL="0" indent="0" algn="r">
              <a:buNone/>
            </a:pPr>
            <a:r>
              <a:rPr lang="en-US" sz="1250" dirty="0">
                <a:solidFill>
                  <a:srgbClr val="1F2937"/>
                </a:solidFill>
                <a:latin typeface="Calibri" pitchFamily="34" charset="0"/>
                <a:ea typeface="Calibri" pitchFamily="34" charset="-122"/>
                <a:cs typeface="Calibri" pitchFamily="34" charset="-120"/>
              </a:rPr>
              <a:t>141</a:t>
            </a:r>
            <a:endParaRPr lang="en-US" sz="1250" dirty="0"/>
          </a:p>
        </p:txBody>
      </p:sp>
      <p:sp>
        <p:nvSpPr>
          <p:cNvPr id="31" name="Text 28"/>
          <p:cNvSpPr txBox="1"/>
          <p:nvPr/>
        </p:nvSpPr>
        <p:spPr>
          <a:xfrm>
            <a:off x="10387383" y="4526280"/>
            <a:ext cx="1209952" cy="420624"/>
          </a:xfrm>
          <a:prstGeom prst="rect">
            <a:avLst/>
          </a:prstGeom>
          <a:noFill/>
          <a:ln/>
        </p:spPr>
        <p:txBody>
          <a:bodyPr wrap="square" lIns="0" tIns="0" rIns="0" bIns="0" rtlCol="0" anchor="ctr"/>
          <a:lstStyle/>
          <a:p>
            <a:pPr marL="0" indent="0" algn="r">
              <a:buNone/>
            </a:pPr>
            <a:r>
              <a:rPr lang="en-US" sz="1250" dirty="0">
                <a:solidFill>
                  <a:srgbClr val="1F2937"/>
                </a:solidFill>
                <a:latin typeface="Calibri" pitchFamily="34" charset="0"/>
                <a:ea typeface="Calibri" pitchFamily="34" charset="-122"/>
                <a:cs typeface="Calibri" pitchFamily="34" charset="-120"/>
              </a:rPr>
              <a:t>46</a:t>
            </a:r>
            <a:endParaRPr lang="en-US" sz="1250" dirty="0"/>
          </a:p>
        </p:txBody>
      </p:sp>
      <p:sp>
        <p:nvSpPr>
          <p:cNvPr id="32" name="Shape 29"/>
          <p:cNvSpPr/>
          <p:nvPr/>
        </p:nvSpPr>
        <p:spPr>
          <a:xfrm>
            <a:off x="7680960" y="4983480"/>
            <a:ext cx="3962095" cy="420624"/>
          </a:xfrm>
          <a:prstGeom prst="rect">
            <a:avLst/>
          </a:prstGeom>
          <a:solidFill>
            <a:srgbClr val="F4F6F9"/>
          </a:solidFill>
          <a:ln w="12700">
            <a:solidFill>
              <a:srgbClr val="F4F6F9"/>
            </a:solidFill>
            <a:prstDash val="solid"/>
          </a:ln>
        </p:spPr>
        <p:txBody>
          <a:bodyPr/>
          <a:lstStyle/>
          <a:p>
            <a:endParaRPr/>
          </a:p>
        </p:txBody>
      </p:sp>
      <p:sp>
        <p:nvSpPr>
          <p:cNvPr id="33" name="Text 30"/>
          <p:cNvSpPr txBox="1"/>
          <p:nvPr/>
        </p:nvSpPr>
        <p:spPr>
          <a:xfrm>
            <a:off x="7772400" y="4983480"/>
            <a:ext cx="734501" cy="420624"/>
          </a:xfrm>
          <a:prstGeom prst="rect">
            <a:avLst/>
          </a:prstGeom>
          <a:noFill/>
          <a:ln/>
        </p:spPr>
        <p:txBody>
          <a:bodyPr wrap="square" lIns="0" tIns="0" rIns="0" bIns="0" rtlCol="0" anchor="ctr"/>
          <a:lstStyle/>
          <a:p>
            <a:pPr marL="0" indent="0" algn="l">
              <a:buNone/>
            </a:pPr>
            <a:r>
              <a:rPr lang="en-US" sz="1250" dirty="0">
                <a:solidFill>
                  <a:srgbClr val="1F2937"/>
                </a:solidFill>
                <a:latin typeface="Calibri" pitchFamily="34" charset="0"/>
                <a:ea typeface="Calibri" pitchFamily="34" charset="-122"/>
                <a:cs typeface="Calibri" pitchFamily="34" charset="-120"/>
              </a:rPr>
              <a:t>27 Sep*</a:t>
            </a:r>
            <a:endParaRPr lang="en-US" sz="1250" dirty="0"/>
          </a:p>
        </p:txBody>
      </p:sp>
      <p:sp>
        <p:nvSpPr>
          <p:cNvPr id="34" name="Text 31"/>
          <p:cNvSpPr txBox="1"/>
          <p:nvPr/>
        </p:nvSpPr>
        <p:spPr>
          <a:xfrm>
            <a:off x="8644061" y="4983480"/>
            <a:ext cx="496775" cy="420624"/>
          </a:xfrm>
          <a:prstGeom prst="rect">
            <a:avLst/>
          </a:prstGeom>
          <a:noFill/>
          <a:ln/>
        </p:spPr>
        <p:txBody>
          <a:bodyPr wrap="square" lIns="0" tIns="0" rIns="0" bIns="0" rtlCol="0" anchor="ctr"/>
          <a:lstStyle/>
          <a:p>
            <a:pPr marL="0" indent="0" algn="r">
              <a:buNone/>
            </a:pPr>
            <a:r>
              <a:rPr lang="en-US" sz="1250" dirty="0">
                <a:solidFill>
                  <a:srgbClr val="1F2937"/>
                </a:solidFill>
                <a:latin typeface="Calibri" pitchFamily="34" charset="0"/>
                <a:ea typeface="Calibri" pitchFamily="34" charset="-122"/>
                <a:cs typeface="Calibri" pitchFamily="34" charset="-120"/>
              </a:rPr>
              <a:t>24</a:t>
            </a:r>
            <a:endParaRPr lang="en-US" sz="1250" dirty="0"/>
          </a:p>
        </p:txBody>
      </p:sp>
      <p:sp>
        <p:nvSpPr>
          <p:cNvPr id="35" name="Text 32"/>
          <p:cNvSpPr txBox="1"/>
          <p:nvPr/>
        </p:nvSpPr>
        <p:spPr>
          <a:xfrm>
            <a:off x="9277996" y="4983480"/>
            <a:ext cx="972227" cy="420624"/>
          </a:xfrm>
          <a:prstGeom prst="rect">
            <a:avLst/>
          </a:prstGeom>
          <a:noFill/>
          <a:ln/>
        </p:spPr>
        <p:txBody>
          <a:bodyPr wrap="square" lIns="0" tIns="0" rIns="0" bIns="0" rtlCol="0" anchor="ctr"/>
          <a:lstStyle/>
          <a:p>
            <a:pPr marL="0" indent="0" algn="r">
              <a:buNone/>
            </a:pPr>
            <a:r>
              <a:rPr lang="en-US" sz="1250" dirty="0">
                <a:solidFill>
                  <a:srgbClr val="1F2937"/>
                </a:solidFill>
                <a:latin typeface="Calibri" pitchFamily="34" charset="0"/>
                <a:ea typeface="Calibri" pitchFamily="34" charset="-122"/>
                <a:cs typeface="Calibri" pitchFamily="34" charset="-120"/>
              </a:rPr>
              <a:t>36</a:t>
            </a:r>
            <a:endParaRPr lang="en-US" sz="1250" dirty="0"/>
          </a:p>
        </p:txBody>
      </p:sp>
      <p:sp>
        <p:nvSpPr>
          <p:cNvPr id="36" name="Text 33"/>
          <p:cNvSpPr txBox="1"/>
          <p:nvPr/>
        </p:nvSpPr>
        <p:spPr>
          <a:xfrm>
            <a:off x="10387383" y="4983480"/>
            <a:ext cx="1209952" cy="420624"/>
          </a:xfrm>
          <a:prstGeom prst="rect">
            <a:avLst/>
          </a:prstGeom>
          <a:noFill/>
          <a:ln/>
        </p:spPr>
        <p:txBody>
          <a:bodyPr wrap="square" lIns="0" tIns="0" rIns="0" bIns="0" rtlCol="0" anchor="ctr"/>
          <a:lstStyle/>
          <a:p>
            <a:pPr marL="0" indent="0" algn="r">
              <a:buNone/>
            </a:pPr>
            <a:r>
              <a:rPr lang="en-US" sz="1250" dirty="0">
                <a:solidFill>
                  <a:srgbClr val="1F2937"/>
                </a:solidFill>
                <a:latin typeface="Calibri" pitchFamily="34" charset="0"/>
                <a:ea typeface="Calibri" pitchFamily="34" charset="-122"/>
                <a:cs typeface="Calibri" pitchFamily="34" charset="-120"/>
              </a:rPr>
              <a:t>30.5</a:t>
            </a:r>
            <a:endParaRPr lang="en-US" sz="1250" dirty="0"/>
          </a:p>
        </p:txBody>
      </p:sp>
      <p:sp>
        <p:nvSpPr>
          <p:cNvPr id="37" name="Text 34"/>
          <p:cNvSpPr txBox="1"/>
          <p:nvPr/>
        </p:nvSpPr>
        <p:spPr>
          <a:xfrm>
            <a:off x="7680960" y="5486400"/>
            <a:ext cx="3962095" cy="457200"/>
          </a:xfrm>
          <a:prstGeom prst="rect">
            <a:avLst/>
          </a:prstGeom>
          <a:noFill/>
          <a:ln/>
        </p:spPr>
        <p:txBody>
          <a:bodyPr wrap="square" lIns="0" tIns="0" rIns="0" bIns="0" rtlCol="0" anchor="t"/>
          <a:lstStyle/>
          <a:p>
            <a:pPr marL="0" indent="0">
              <a:buNone/>
            </a:pPr>
            <a:r>
              <a:rPr lang="en-US" sz="1100" dirty="0">
                <a:solidFill>
                  <a:srgbClr val="5B6475"/>
                </a:solidFill>
                <a:latin typeface="Calibri" pitchFamily="34" charset="0"/>
                <a:ea typeface="Calibri" pitchFamily="34" charset="-122"/>
                <a:cs typeface="Calibri" pitchFamily="34" charset="-120"/>
              </a:rPr>
              <a:t>* collected on 27–28 Sep; the first week with all six sources fully pulled</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22</a:t>
            </a:r>
            <a:endParaRPr lang="en-US" sz="1000" dirty="0"/>
          </a:p>
        </p:txBody>
      </p:sp>
      <p:sp>
        <p:nvSpPr>
          <p:cNvPr id="4" name="Text 2"/>
          <p:cNvSpPr txBox="1"/>
          <p:nvPr/>
        </p:nvSpPr>
        <p:spPr>
          <a:xfrm>
            <a:off x="929945" y="2599901"/>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Dashboard: Power BI on the marts</a:t>
            </a:r>
            <a:endParaRPr lang="en-US" sz="3200" dirty="0"/>
          </a:p>
        </p:txBody>
      </p:sp>
      <p:sp>
        <p:nvSpPr>
          <p:cNvPr id="5" name="Shape 3"/>
          <p:cNvSpPr/>
          <p:nvPr/>
        </p:nvSpPr>
        <p:spPr>
          <a:xfrm>
            <a:off x="9265615" y="475488"/>
            <a:ext cx="2377440" cy="384048"/>
          </a:xfrm>
          <a:prstGeom prst="roundRect">
            <a:avLst>
              <a:gd name="adj" fmla="val 50000"/>
            </a:avLst>
          </a:prstGeom>
          <a:solidFill>
            <a:srgbClr val="FBEFF3"/>
          </a:solidFill>
          <a:ln w="12700">
            <a:solidFill>
              <a:srgbClr val="E3A3B8"/>
            </a:solidFill>
            <a:prstDash val="solid"/>
          </a:ln>
        </p:spPr>
        <p:txBody>
          <a:bodyPr/>
          <a:lstStyle/>
          <a:p>
            <a:endParaRPr/>
          </a:p>
        </p:txBody>
      </p:sp>
      <p:sp>
        <p:nvSpPr>
          <p:cNvPr id="6" name="Text 4"/>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A33A62"/>
                </a:solidFill>
                <a:latin typeface="Calibri" pitchFamily="34" charset="0"/>
                <a:ea typeface="Calibri" pitchFamily="34" charset="-122"/>
                <a:cs typeface="Calibri" pitchFamily="34" charset="-120"/>
              </a:rPr>
              <a:t>Serve</a:t>
            </a:r>
            <a:endParaRPr lang="en-US" sz="1200" dirty="0"/>
          </a:p>
        </p:txBody>
      </p:sp>
      <p:sp>
        <p:nvSpPr>
          <p:cNvPr id="11" name="Shape 8"/>
          <p:cNvSpPr/>
          <p:nvPr/>
        </p:nvSpPr>
        <p:spPr>
          <a:xfrm>
            <a:off x="8732520" y="1371600"/>
            <a:ext cx="502920" cy="502920"/>
          </a:xfrm>
          <a:prstGeom prst="ellipse">
            <a:avLst/>
          </a:prstGeom>
          <a:solidFill>
            <a:srgbClr val="A33A62"/>
          </a:solidFill>
          <a:ln w="12700">
            <a:solidFill>
              <a:srgbClr val="A33A62"/>
            </a:solidFill>
            <a:prstDash val="solid"/>
          </a:ln>
        </p:spPr>
        <p:txBody>
          <a:bodyPr/>
          <a:lstStyle/>
          <a:p>
            <a:endParaRPr/>
          </a:p>
        </p:txBody>
      </p:sp>
      <p:pic>
        <p:nvPicPr>
          <p:cNvPr id="12" name="Image 1" descr="preencoded.png"/>
          <p:cNvPicPr>
            <a:picLocks noChangeAspect="1"/>
          </p:cNvPicPr>
          <p:nvPr/>
        </p:nvPicPr>
        <p:blipFill>
          <a:blip r:embed="rId3"/>
          <a:stretch>
            <a:fillRect/>
          </a:stretch>
        </p:blipFill>
        <p:spPr>
          <a:xfrm>
            <a:off x="8853221" y="1492301"/>
            <a:ext cx="261518" cy="261518"/>
          </a:xfrm>
          <a:prstGeom prst="rect">
            <a:avLst/>
          </a:prstGeom>
        </p:spPr>
      </p:pic>
      <p:sp>
        <p:nvSpPr>
          <p:cNvPr id="13" name="Text 9"/>
          <p:cNvSpPr txBox="1"/>
          <p:nvPr/>
        </p:nvSpPr>
        <p:spPr>
          <a:xfrm>
            <a:off x="9372600" y="1371600"/>
            <a:ext cx="2270455" cy="502920"/>
          </a:xfrm>
          <a:prstGeom prst="rect">
            <a:avLst/>
          </a:prstGeom>
          <a:noFill/>
          <a:ln/>
        </p:spPr>
        <p:txBody>
          <a:bodyPr wrap="square" lIns="0" tIns="0" rIns="0" bIns="0" rtlCol="0" anchor="ctr"/>
          <a:lstStyle/>
          <a:p>
            <a:pPr marL="0" indent="0">
              <a:buNone/>
            </a:pPr>
            <a:r>
              <a:rPr lang="en-US" sz="1500" b="1" dirty="0">
                <a:solidFill>
                  <a:srgbClr val="A33A62"/>
                </a:solidFill>
                <a:latin typeface="Calibri" pitchFamily="34" charset="0"/>
                <a:ea typeface="Calibri" pitchFamily="34" charset="-122"/>
                <a:cs typeface="Calibri" pitchFamily="34" charset="-120"/>
              </a:rPr>
              <a:t>Read-only access</a:t>
            </a:r>
            <a:endParaRPr lang="en-US" sz="1500" dirty="0"/>
          </a:p>
        </p:txBody>
      </p:sp>
      <p:sp>
        <p:nvSpPr>
          <p:cNvPr id="14" name="Text 10"/>
          <p:cNvSpPr txBox="1"/>
          <p:nvPr/>
        </p:nvSpPr>
        <p:spPr>
          <a:xfrm>
            <a:off x="8732520" y="1965960"/>
            <a:ext cx="2910535" cy="86868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Role JOB_PIPELINE_REPORTER: select on MARTS only. RAW and STAGING are not visible</a:t>
            </a:r>
            <a:endParaRPr lang="en-US" sz="1250" dirty="0"/>
          </a:p>
        </p:txBody>
      </p:sp>
      <p:sp>
        <p:nvSpPr>
          <p:cNvPr id="15" name="Shape 11"/>
          <p:cNvSpPr/>
          <p:nvPr/>
        </p:nvSpPr>
        <p:spPr>
          <a:xfrm>
            <a:off x="8732520" y="2971800"/>
            <a:ext cx="502920" cy="502920"/>
          </a:xfrm>
          <a:prstGeom prst="ellipse">
            <a:avLst/>
          </a:prstGeom>
          <a:solidFill>
            <a:srgbClr val="A33A62"/>
          </a:solidFill>
          <a:ln w="12700">
            <a:solidFill>
              <a:srgbClr val="A33A62"/>
            </a:solidFill>
            <a:prstDash val="solid"/>
          </a:ln>
        </p:spPr>
        <p:txBody>
          <a:bodyPr/>
          <a:lstStyle/>
          <a:p>
            <a:endParaRPr/>
          </a:p>
        </p:txBody>
      </p:sp>
      <p:pic>
        <p:nvPicPr>
          <p:cNvPr id="16" name="Image 2" descr="preencoded.png"/>
          <p:cNvPicPr>
            <a:picLocks noChangeAspect="1"/>
          </p:cNvPicPr>
          <p:nvPr/>
        </p:nvPicPr>
        <p:blipFill>
          <a:blip r:embed="rId4"/>
          <a:stretch>
            <a:fillRect/>
          </a:stretch>
        </p:blipFill>
        <p:spPr>
          <a:xfrm>
            <a:off x="8853221" y="3092501"/>
            <a:ext cx="261518" cy="261518"/>
          </a:xfrm>
          <a:prstGeom prst="rect">
            <a:avLst/>
          </a:prstGeom>
        </p:spPr>
      </p:pic>
      <p:sp>
        <p:nvSpPr>
          <p:cNvPr id="17" name="Text 12"/>
          <p:cNvSpPr txBox="1"/>
          <p:nvPr/>
        </p:nvSpPr>
        <p:spPr>
          <a:xfrm>
            <a:off x="9372600" y="2971800"/>
            <a:ext cx="2270455" cy="502920"/>
          </a:xfrm>
          <a:prstGeom prst="rect">
            <a:avLst/>
          </a:prstGeom>
          <a:noFill/>
          <a:ln/>
        </p:spPr>
        <p:txBody>
          <a:bodyPr wrap="square" lIns="0" tIns="0" rIns="0" bIns="0" rtlCol="0" anchor="ctr"/>
          <a:lstStyle/>
          <a:p>
            <a:pPr marL="0" indent="0">
              <a:buNone/>
            </a:pPr>
            <a:r>
              <a:rPr lang="en-US" sz="1500" b="1" dirty="0">
                <a:solidFill>
                  <a:srgbClr val="A33A62"/>
                </a:solidFill>
                <a:latin typeface="Calibri" pitchFamily="34" charset="0"/>
                <a:ea typeface="Calibri" pitchFamily="34" charset="-122"/>
                <a:cs typeface="Calibri" pitchFamily="34" charset="-120"/>
              </a:rPr>
              <a:t>Import mode</a:t>
            </a:r>
            <a:endParaRPr lang="en-US" sz="1500" dirty="0"/>
          </a:p>
        </p:txBody>
      </p:sp>
      <p:sp>
        <p:nvSpPr>
          <p:cNvPr id="18" name="Text 13"/>
          <p:cNvSpPr txBox="1"/>
          <p:nvPr/>
        </p:nvSpPr>
        <p:spPr>
          <a:xfrm>
            <a:off x="8732520" y="3566160"/>
            <a:ext cx="2910535" cy="86868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10 tables, 19,148 fact rows; refreshed after each pipeline run</a:t>
            </a:r>
            <a:endParaRPr lang="en-US" sz="1250" dirty="0"/>
          </a:p>
        </p:txBody>
      </p:sp>
      <p:sp>
        <p:nvSpPr>
          <p:cNvPr id="19" name="Shape 14"/>
          <p:cNvSpPr/>
          <p:nvPr/>
        </p:nvSpPr>
        <p:spPr>
          <a:xfrm>
            <a:off x="8732520" y="4572000"/>
            <a:ext cx="502920" cy="502920"/>
          </a:xfrm>
          <a:prstGeom prst="ellipse">
            <a:avLst/>
          </a:prstGeom>
          <a:solidFill>
            <a:srgbClr val="A33A62"/>
          </a:solidFill>
          <a:ln w="12700">
            <a:solidFill>
              <a:srgbClr val="A33A62"/>
            </a:solidFill>
            <a:prstDash val="solid"/>
          </a:ln>
        </p:spPr>
        <p:txBody>
          <a:bodyPr/>
          <a:lstStyle/>
          <a:p>
            <a:endParaRPr/>
          </a:p>
        </p:txBody>
      </p:sp>
      <p:pic>
        <p:nvPicPr>
          <p:cNvPr id="20" name="Image 3" descr="preencoded.png"/>
          <p:cNvPicPr>
            <a:picLocks noChangeAspect="1"/>
          </p:cNvPicPr>
          <p:nvPr/>
        </p:nvPicPr>
        <p:blipFill>
          <a:blip r:embed="rId5"/>
          <a:stretch>
            <a:fillRect/>
          </a:stretch>
        </p:blipFill>
        <p:spPr>
          <a:xfrm>
            <a:off x="8853221" y="4692701"/>
            <a:ext cx="261518" cy="261518"/>
          </a:xfrm>
          <a:prstGeom prst="rect">
            <a:avLst/>
          </a:prstGeom>
        </p:spPr>
      </p:pic>
      <p:sp>
        <p:nvSpPr>
          <p:cNvPr id="21" name="Text 15"/>
          <p:cNvSpPr txBox="1"/>
          <p:nvPr/>
        </p:nvSpPr>
        <p:spPr>
          <a:xfrm>
            <a:off x="9372600" y="4572000"/>
            <a:ext cx="2270455" cy="502920"/>
          </a:xfrm>
          <a:prstGeom prst="rect">
            <a:avLst/>
          </a:prstGeom>
          <a:noFill/>
          <a:ln/>
        </p:spPr>
        <p:txBody>
          <a:bodyPr wrap="square" lIns="0" tIns="0" rIns="0" bIns="0" rtlCol="0" anchor="ctr"/>
          <a:lstStyle/>
          <a:p>
            <a:pPr marL="0" indent="0">
              <a:buNone/>
            </a:pPr>
            <a:r>
              <a:rPr lang="en-US" sz="1500" b="1" dirty="0">
                <a:solidFill>
                  <a:srgbClr val="A33A62"/>
                </a:solidFill>
                <a:latin typeface="Calibri" pitchFamily="34" charset="0"/>
                <a:ea typeface="Calibri" pitchFamily="34" charset="-122"/>
                <a:cs typeface="Calibri" pitchFamily="34" charset="-120"/>
              </a:rPr>
              <a:t>Measures in DAX</a:t>
            </a:r>
            <a:endParaRPr lang="en-US" sz="1500" dirty="0"/>
          </a:p>
        </p:txBody>
      </p:sp>
      <p:sp>
        <p:nvSpPr>
          <p:cNvPr id="22" name="Text 16"/>
          <p:cNvSpPr txBox="1"/>
          <p:nvPr/>
        </p:nvSpPr>
        <p:spPr>
          <a:xfrm>
            <a:off x="8732520" y="5166360"/>
            <a:ext cx="2910535" cy="868680"/>
          </a:xfrm>
          <a:prstGeom prst="rect">
            <a:avLst/>
          </a:prstGeom>
          <a:noFill/>
          <a:ln/>
        </p:spPr>
        <p:txBody>
          <a:bodyPr wrap="square" lIns="0" tIns="0" rIns="0" bIns="0" rtlCol="0" anchor="t"/>
          <a:lstStyle/>
          <a:p>
            <a:pPr marL="0" indent="0">
              <a:buNone/>
            </a:pPr>
            <a:r>
              <a:rPr lang="en-US" sz="1250" dirty="0">
                <a:solidFill>
                  <a:srgbClr val="1F2937"/>
                </a:solidFill>
                <a:latin typeface="Calibri" pitchFamily="34" charset="0"/>
                <a:ea typeface="Calibri" pitchFamily="34" charset="-122"/>
                <a:cs typeface="Calibri" pitchFamily="34" charset="-120"/>
              </a:rPr>
              <a:t>Jobs = SUM(job_count); Postings = DISTINCTCOUNT(posting_sk); with a skill filter, DISTINCTCOUNT(job_sk)</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9AA3B2"/>
                </a:solidFill>
                <a:latin typeface="Calibri" pitchFamily="34" charset="0"/>
                <a:ea typeface="Calibri" pitchFamily="34" charset="-122"/>
                <a:cs typeface="Calibri" pitchFamily="34" charset="-120"/>
              </a:rPr>
              <a:t>Job Market Data Pipeline — Saudi Arabia</a:t>
            </a:r>
            <a:endParaRPr lang="en-US" sz="1000" dirty="0"/>
          </a:p>
        </p:txBody>
      </p:sp>
      <p:sp>
        <p:nvSpPr>
          <p:cNvPr id="3" name="Text 1"/>
          <p:cNvSpPr txBox="1"/>
          <p:nvPr/>
        </p:nvSpPr>
        <p:spPr>
          <a:xfrm>
            <a:off x="11094415" y="6473952"/>
            <a:ext cx="548640" cy="228600"/>
          </a:xfrm>
          <a:prstGeom prst="rect">
            <a:avLst/>
          </a:prstGeom>
          <a:noFill/>
          <a:ln/>
        </p:spPr>
        <p:txBody>
          <a:bodyPr wrap="square" lIns="0" tIns="0" rIns="0" bIns="0" rtlCol="0" anchor="t"/>
          <a:lstStyle/>
          <a:p>
            <a:pPr marL="0" indent="0" algn="r">
              <a:buNone/>
            </a:pPr>
            <a:r>
              <a:rPr lang="en-US" sz="1000" dirty="0">
                <a:solidFill>
                  <a:srgbClr val="9AA3B2"/>
                </a:solidFill>
                <a:latin typeface="Calibri" pitchFamily="34" charset="0"/>
                <a:ea typeface="Calibri" pitchFamily="34" charset="-122"/>
                <a:cs typeface="Calibri" pitchFamily="34" charset="-120"/>
              </a:rPr>
              <a:t>23</a:t>
            </a:r>
            <a:endParaRPr lang="en-US" sz="1000" dirty="0"/>
          </a:p>
        </p:txBody>
      </p:sp>
      <p:sp>
        <p:nvSpPr>
          <p:cNvPr id="4" name="Text 2"/>
          <p:cNvSpPr txBox="1"/>
          <p:nvPr/>
        </p:nvSpPr>
        <p:spPr>
          <a:xfrm>
            <a:off x="548640" y="384048"/>
            <a:ext cx="8442655" cy="64008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Potential downstream applications</a:t>
            </a:r>
            <a:endParaRPr lang="en-US" sz="3200" dirty="0"/>
          </a:p>
        </p:txBody>
      </p:sp>
      <p:sp>
        <p:nvSpPr>
          <p:cNvPr id="5" name="Text 3"/>
          <p:cNvSpPr txBox="1"/>
          <p:nvPr/>
        </p:nvSpPr>
        <p:spPr>
          <a:xfrm>
            <a:off x="548640" y="1005840"/>
            <a:ext cx="11094415" cy="36576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The pipeline delivers reliable data; these can be built on top of it</a:t>
            </a:r>
            <a:endParaRPr lang="en-US" sz="1500" dirty="0"/>
          </a:p>
        </p:txBody>
      </p:sp>
      <p:sp>
        <p:nvSpPr>
          <p:cNvPr id="6" name="Shape 4"/>
          <p:cNvSpPr/>
          <p:nvPr/>
        </p:nvSpPr>
        <p:spPr>
          <a:xfrm>
            <a:off x="9265615" y="475488"/>
            <a:ext cx="2377440" cy="384048"/>
          </a:xfrm>
          <a:prstGeom prst="roundRect">
            <a:avLst>
              <a:gd name="adj" fmla="val 50000"/>
            </a:avLst>
          </a:prstGeom>
          <a:solidFill>
            <a:srgbClr val="FBEFF3"/>
          </a:solidFill>
          <a:ln w="12700">
            <a:solidFill>
              <a:srgbClr val="E3A3B8"/>
            </a:solidFill>
            <a:prstDash val="solid"/>
          </a:ln>
        </p:spPr>
        <p:txBody>
          <a:bodyPr/>
          <a:lstStyle/>
          <a:p>
            <a:endParaRPr/>
          </a:p>
        </p:txBody>
      </p:sp>
      <p:sp>
        <p:nvSpPr>
          <p:cNvPr id="7" name="Text 5"/>
          <p:cNvSpPr txBox="1"/>
          <p:nvPr/>
        </p:nvSpPr>
        <p:spPr>
          <a:xfrm>
            <a:off x="9265615" y="475488"/>
            <a:ext cx="2377440" cy="384048"/>
          </a:xfrm>
          <a:prstGeom prst="rect">
            <a:avLst/>
          </a:prstGeom>
          <a:noFill/>
          <a:ln/>
        </p:spPr>
        <p:txBody>
          <a:bodyPr wrap="square" lIns="0" tIns="0" rIns="0" bIns="0" rtlCol="0" anchor="ctr"/>
          <a:lstStyle/>
          <a:p>
            <a:pPr marL="0" indent="0" algn="ctr">
              <a:buNone/>
            </a:pPr>
            <a:r>
              <a:rPr lang="en-US" sz="1200" b="1" dirty="0">
                <a:solidFill>
                  <a:srgbClr val="A33A62"/>
                </a:solidFill>
                <a:latin typeface="Calibri" pitchFamily="34" charset="0"/>
                <a:ea typeface="Calibri" pitchFamily="34" charset="-122"/>
                <a:cs typeface="Calibri" pitchFamily="34" charset="-120"/>
              </a:rPr>
              <a:t>Next</a:t>
            </a:r>
            <a:endParaRPr lang="en-US" sz="1200" dirty="0"/>
          </a:p>
        </p:txBody>
      </p:sp>
      <p:sp>
        <p:nvSpPr>
          <p:cNvPr id="8" name="Shape 6"/>
          <p:cNvSpPr/>
          <p:nvPr/>
        </p:nvSpPr>
        <p:spPr>
          <a:xfrm>
            <a:off x="548640" y="1554480"/>
            <a:ext cx="3520440" cy="2148840"/>
          </a:xfrm>
          <a:prstGeom prst="roundRect">
            <a:avLst>
              <a:gd name="adj" fmla="val 5106"/>
            </a:avLst>
          </a:prstGeom>
          <a:solidFill>
            <a:srgbClr val="FBEFF3"/>
          </a:solidFill>
          <a:ln w="12700">
            <a:solidFill>
              <a:srgbClr val="FBEFF3"/>
            </a:solidFill>
            <a:prstDash val="solid"/>
          </a:ln>
        </p:spPr>
        <p:txBody>
          <a:bodyPr/>
          <a:lstStyle/>
          <a:p>
            <a:endParaRPr/>
          </a:p>
        </p:txBody>
      </p:sp>
      <p:sp>
        <p:nvSpPr>
          <p:cNvPr id="9" name="Shape 7"/>
          <p:cNvSpPr/>
          <p:nvPr/>
        </p:nvSpPr>
        <p:spPr>
          <a:xfrm>
            <a:off x="822960" y="1828800"/>
            <a:ext cx="548640" cy="548640"/>
          </a:xfrm>
          <a:prstGeom prst="ellipse">
            <a:avLst/>
          </a:prstGeom>
          <a:solidFill>
            <a:srgbClr val="A33A62"/>
          </a:solidFill>
          <a:ln w="12700">
            <a:solidFill>
              <a:srgbClr val="A33A62"/>
            </a:solidFill>
            <a:prstDash val="solid"/>
          </a:ln>
        </p:spPr>
        <p:txBody>
          <a:bodyPr/>
          <a:lstStyle/>
          <a:p>
            <a:endParaRPr/>
          </a:p>
        </p:txBody>
      </p:sp>
      <p:pic>
        <p:nvPicPr>
          <p:cNvPr id="10" name="Image 0" descr="preencoded.png"/>
          <p:cNvPicPr>
            <a:picLocks noChangeAspect="1"/>
          </p:cNvPicPr>
          <p:nvPr/>
        </p:nvPicPr>
        <p:blipFill>
          <a:blip r:embed="rId3"/>
          <a:stretch>
            <a:fillRect/>
          </a:stretch>
        </p:blipFill>
        <p:spPr>
          <a:xfrm>
            <a:off x="954634" y="1960474"/>
            <a:ext cx="285293" cy="285293"/>
          </a:xfrm>
          <a:prstGeom prst="rect">
            <a:avLst/>
          </a:prstGeom>
        </p:spPr>
      </p:pic>
      <p:sp>
        <p:nvSpPr>
          <p:cNvPr id="11" name="Text 8"/>
          <p:cNvSpPr txBox="1"/>
          <p:nvPr/>
        </p:nvSpPr>
        <p:spPr>
          <a:xfrm>
            <a:off x="1554480" y="1828800"/>
            <a:ext cx="2331720" cy="548640"/>
          </a:xfrm>
          <a:prstGeom prst="rect">
            <a:avLst/>
          </a:prstGeom>
          <a:noFill/>
          <a:ln/>
        </p:spPr>
        <p:txBody>
          <a:bodyPr wrap="square" lIns="0" tIns="0" rIns="0" bIns="0" rtlCol="0" anchor="ctr"/>
          <a:lstStyle/>
          <a:p>
            <a:pPr marL="0" indent="0">
              <a:buNone/>
            </a:pPr>
            <a:r>
              <a:rPr lang="en-US" sz="1700" b="1" dirty="0">
                <a:solidFill>
                  <a:srgbClr val="A33A62"/>
                </a:solidFill>
                <a:latin typeface="Calibri" pitchFamily="34" charset="0"/>
                <a:ea typeface="Calibri" pitchFamily="34" charset="-122"/>
                <a:cs typeface="Calibri" pitchFamily="34" charset="-120"/>
              </a:rPr>
              <a:t>Market dashboard</a:t>
            </a:r>
            <a:endParaRPr lang="en-US" sz="1700" dirty="0"/>
          </a:p>
        </p:txBody>
      </p:sp>
      <p:sp>
        <p:nvSpPr>
          <p:cNvPr id="12" name="Text 9"/>
          <p:cNvSpPr txBox="1"/>
          <p:nvPr/>
        </p:nvSpPr>
        <p:spPr>
          <a:xfrm>
            <a:off x="822960" y="2560320"/>
            <a:ext cx="2971800" cy="10058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Jobs by city, employer, role family and week for career centres and job seekers (started in Power BI)</a:t>
            </a:r>
            <a:endParaRPr lang="en-US" sz="1300" dirty="0"/>
          </a:p>
        </p:txBody>
      </p:sp>
      <p:sp>
        <p:nvSpPr>
          <p:cNvPr id="13" name="Shape 10"/>
          <p:cNvSpPr/>
          <p:nvPr/>
        </p:nvSpPr>
        <p:spPr>
          <a:xfrm>
            <a:off x="4334256" y="1554480"/>
            <a:ext cx="3520440" cy="2148840"/>
          </a:xfrm>
          <a:prstGeom prst="roundRect">
            <a:avLst>
              <a:gd name="adj" fmla="val 5106"/>
            </a:avLst>
          </a:prstGeom>
          <a:solidFill>
            <a:srgbClr val="F4F6F9"/>
          </a:solidFill>
          <a:ln w="12700">
            <a:solidFill>
              <a:srgbClr val="F4F6F9"/>
            </a:solidFill>
            <a:prstDash val="solid"/>
          </a:ln>
        </p:spPr>
        <p:txBody>
          <a:bodyPr/>
          <a:lstStyle/>
          <a:p>
            <a:endParaRPr/>
          </a:p>
        </p:txBody>
      </p:sp>
      <p:sp>
        <p:nvSpPr>
          <p:cNvPr id="14" name="Shape 11"/>
          <p:cNvSpPr/>
          <p:nvPr/>
        </p:nvSpPr>
        <p:spPr>
          <a:xfrm>
            <a:off x="4608576" y="1828800"/>
            <a:ext cx="548640" cy="548640"/>
          </a:xfrm>
          <a:prstGeom prst="ellipse">
            <a:avLst/>
          </a:prstGeom>
          <a:solidFill>
            <a:srgbClr val="A33A62"/>
          </a:solidFill>
          <a:ln w="12700">
            <a:solidFill>
              <a:srgbClr val="A33A62"/>
            </a:solidFill>
            <a:prstDash val="solid"/>
          </a:ln>
        </p:spPr>
        <p:txBody>
          <a:bodyPr/>
          <a:lstStyle/>
          <a:p>
            <a:endParaRPr/>
          </a:p>
        </p:txBody>
      </p:sp>
      <p:pic>
        <p:nvPicPr>
          <p:cNvPr id="15" name="Image 1" descr="preencoded.png"/>
          <p:cNvPicPr>
            <a:picLocks noChangeAspect="1"/>
          </p:cNvPicPr>
          <p:nvPr/>
        </p:nvPicPr>
        <p:blipFill>
          <a:blip r:embed="rId4"/>
          <a:stretch>
            <a:fillRect/>
          </a:stretch>
        </p:blipFill>
        <p:spPr>
          <a:xfrm>
            <a:off x="4740250" y="1960474"/>
            <a:ext cx="285293" cy="285293"/>
          </a:xfrm>
          <a:prstGeom prst="rect">
            <a:avLst/>
          </a:prstGeom>
        </p:spPr>
      </p:pic>
      <p:sp>
        <p:nvSpPr>
          <p:cNvPr id="16" name="Text 12"/>
          <p:cNvSpPr txBox="1"/>
          <p:nvPr/>
        </p:nvSpPr>
        <p:spPr>
          <a:xfrm>
            <a:off x="5340096" y="1828800"/>
            <a:ext cx="2331720" cy="548640"/>
          </a:xfrm>
          <a:prstGeom prst="rect">
            <a:avLst/>
          </a:prstGeom>
          <a:noFill/>
          <a:ln/>
        </p:spPr>
        <p:txBody>
          <a:bodyPr wrap="square" lIns="0" tIns="0" rIns="0" bIns="0" rtlCol="0" anchor="ctr"/>
          <a:lstStyle/>
          <a:p>
            <a:pPr marL="0" indent="0">
              <a:buNone/>
            </a:pPr>
            <a:r>
              <a:rPr lang="en-US" sz="1700" b="1" dirty="0">
                <a:solidFill>
                  <a:srgbClr val="A33A62"/>
                </a:solidFill>
                <a:latin typeface="Calibri" pitchFamily="34" charset="0"/>
                <a:ea typeface="Calibri" pitchFamily="34" charset="-122"/>
                <a:cs typeface="Calibri" pitchFamily="34" charset="-120"/>
              </a:rPr>
              <a:t>Job search</a:t>
            </a:r>
            <a:endParaRPr lang="en-US" sz="1700" dirty="0"/>
          </a:p>
        </p:txBody>
      </p:sp>
      <p:sp>
        <p:nvSpPr>
          <p:cNvPr id="17" name="Text 13"/>
          <p:cNvSpPr txBox="1"/>
          <p:nvPr/>
        </p:nvSpPr>
        <p:spPr>
          <a:xfrm>
            <a:off x="4608576" y="2560320"/>
            <a:ext cx="2971800" cy="10058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One search over six sources, with duplicates already merged and companies standardized</a:t>
            </a:r>
            <a:endParaRPr lang="en-US" sz="1300" dirty="0"/>
          </a:p>
        </p:txBody>
      </p:sp>
      <p:sp>
        <p:nvSpPr>
          <p:cNvPr id="18" name="Shape 14"/>
          <p:cNvSpPr/>
          <p:nvPr/>
        </p:nvSpPr>
        <p:spPr>
          <a:xfrm>
            <a:off x="8119872" y="1554480"/>
            <a:ext cx="3520440" cy="2148840"/>
          </a:xfrm>
          <a:prstGeom prst="roundRect">
            <a:avLst>
              <a:gd name="adj" fmla="val 5106"/>
            </a:avLst>
          </a:prstGeom>
          <a:solidFill>
            <a:srgbClr val="F4F6F9"/>
          </a:solidFill>
          <a:ln w="12700">
            <a:solidFill>
              <a:srgbClr val="F4F6F9"/>
            </a:solidFill>
            <a:prstDash val="solid"/>
          </a:ln>
        </p:spPr>
        <p:txBody>
          <a:bodyPr/>
          <a:lstStyle/>
          <a:p>
            <a:endParaRPr/>
          </a:p>
        </p:txBody>
      </p:sp>
      <p:sp>
        <p:nvSpPr>
          <p:cNvPr id="19" name="Shape 15"/>
          <p:cNvSpPr/>
          <p:nvPr/>
        </p:nvSpPr>
        <p:spPr>
          <a:xfrm>
            <a:off x="8394192" y="1828800"/>
            <a:ext cx="548640" cy="548640"/>
          </a:xfrm>
          <a:prstGeom prst="ellipse">
            <a:avLst/>
          </a:prstGeom>
          <a:solidFill>
            <a:srgbClr val="A33A62"/>
          </a:solidFill>
          <a:ln w="12700">
            <a:solidFill>
              <a:srgbClr val="A33A62"/>
            </a:solidFill>
            <a:prstDash val="solid"/>
          </a:ln>
        </p:spPr>
        <p:txBody>
          <a:bodyPr/>
          <a:lstStyle/>
          <a:p>
            <a:endParaRPr/>
          </a:p>
        </p:txBody>
      </p:sp>
      <p:pic>
        <p:nvPicPr>
          <p:cNvPr id="20" name="Image 2" descr="preencoded.png"/>
          <p:cNvPicPr>
            <a:picLocks noChangeAspect="1"/>
          </p:cNvPicPr>
          <p:nvPr/>
        </p:nvPicPr>
        <p:blipFill>
          <a:blip r:embed="rId5"/>
          <a:stretch>
            <a:fillRect/>
          </a:stretch>
        </p:blipFill>
        <p:spPr>
          <a:xfrm>
            <a:off x="8525866" y="1960474"/>
            <a:ext cx="285293" cy="285293"/>
          </a:xfrm>
          <a:prstGeom prst="rect">
            <a:avLst/>
          </a:prstGeom>
        </p:spPr>
      </p:pic>
      <p:sp>
        <p:nvSpPr>
          <p:cNvPr id="21" name="Text 16"/>
          <p:cNvSpPr txBox="1"/>
          <p:nvPr/>
        </p:nvSpPr>
        <p:spPr>
          <a:xfrm>
            <a:off x="9125712" y="1828800"/>
            <a:ext cx="2331720" cy="548640"/>
          </a:xfrm>
          <a:prstGeom prst="rect">
            <a:avLst/>
          </a:prstGeom>
          <a:noFill/>
          <a:ln/>
        </p:spPr>
        <p:txBody>
          <a:bodyPr wrap="square" lIns="0" tIns="0" rIns="0" bIns="0" rtlCol="0" anchor="ctr"/>
          <a:lstStyle/>
          <a:p>
            <a:pPr marL="0" indent="0">
              <a:buNone/>
            </a:pPr>
            <a:r>
              <a:rPr lang="en-US" sz="1700" b="1" dirty="0">
                <a:solidFill>
                  <a:srgbClr val="A33A62"/>
                </a:solidFill>
                <a:latin typeface="Calibri" pitchFamily="34" charset="0"/>
                <a:ea typeface="Calibri" pitchFamily="34" charset="-122"/>
                <a:cs typeface="Calibri" pitchFamily="34" charset="-120"/>
              </a:rPr>
              <a:t>Employer insights</a:t>
            </a:r>
            <a:endParaRPr lang="en-US" sz="1700" dirty="0"/>
          </a:p>
        </p:txBody>
      </p:sp>
      <p:sp>
        <p:nvSpPr>
          <p:cNvPr id="22" name="Text 17"/>
          <p:cNvSpPr txBox="1"/>
          <p:nvPr/>
        </p:nvSpPr>
        <p:spPr>
          <a:xfrm>
            <a:off x="8394192" y="2560320"/>
            <a:ext cx="2971800" cy="10058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Which companies hire most, in which regions, and how long their postings stay listed</a:t>
            </a:r>
            <a:endParaRPr lang="en-US" sz="1300" dirty="0"/>
          </a:p>
        </p:txBody>
      </p:sp>
      <p:sp>
        <p:nvSpPr>
          <p:cNvPr id="23" name="Shape 18"/>
          <p:cNvSpPr/>
          <p:nvPr/>
        </p:nvSpPr>
        <p:spPr>
          <a:xfrm>
            <a:off x="548640" y="3931920"/>
            <a:ext cx="3520440" cy="2148840"/>
          </a:xfrm>
          <a:prstGeom prst="roundRect">
            <a:avLst>
              <a:gd name="adj" fmla="val 5106"/>
            </a:avLst>
          </a:prstGeom>
          <a:solidFill>
            <a:srgbClr val="F4F6F9"/>
          </a:solidFill>
          <a:ln w="12700">
            <a:solidFill>
              <a:srgbClr val="F4F6F9"/>
            </a:solidFill>
            <a:prstDash val="solid"/>
          </a:ln>
        </p:spPr>
        <p:txBody>
          <a:bodyPr/>
          <a:lstStyle/>
          <a:p>
            <a:endParaRPr/>
          </a:p>
        </p:txBody>
      </p:sp>
      <p:sp>
        <p:nvSpPr>
          <p:cNvPr id="24" name="Shape 19"/>
          <p:cNvSpPr/>
          <p:nvPr/>
        </p:nvSpPr>
        <p:spPr>
          <a:xfrm>
            <a:off x="822960" y="4206240"/>
            <a:ext cx="548640" cy="548640"/>
          </a:xfrm>
          <a:prstGeom prst="ellipse">
            <a:avLst/>
          </a:prstGeom>
          <a:solidFill>
            <a:srgbClr val="A33A62"/>
          </a:solidFill>
          <a:ln w="12700">
            <a:solidFill>
              <a:srgbClr val="A33A62"/>
            </a:solidFill>
            <a:prstDash val="solid"/>
          </a:ln>
        </p:spPr>
        <p:txBody>
          <a:bodyPr/>
          <a:lstStyle/>
          <a:p>
            <a:endParaRPr/>
          </a:p>
        </p:txBody>
      </p:sp>
      <p:pic>
        <p:nvPicPr>
          <p:cNvPr id="25" name="Image 3" descr="preencoded.png"/>
          <p:cNvPicPr>
            <a:picLocks noChangeAspect="1"/>
          </p:cNvPicPr>
          <p:nvPr/>
        </p:nvPicPr>
        <p:blipFill>
          <a:blip r:embed="rId6"/>
          <a:stretch>
            <a:fillRect/>
          </a:stretch>
        </p:blipFill>
        <p:spPr>
          <a:xfrm>
            <a:off x="954634" y="4337914"/>
            <a:ext cx="285293" cy="285293"/>
          </a:xfrm>
          <a:prstGeom prst="rect">
            <a:avLst/>
          </a:prstGeom>
        </p:spPr>
      </p:pic>
      <p:sp>
        <p:nvSpPr>
          <p:cNvPr id="26" name="Text 20"/>
          <p:cNvSpPr txBox="1"/>
          <p:nvPr/>
        </p:nvSpPr>
        <p:spPr>
          <a:xfrm>
            <a:off x="1554480" y="4206240"/>
            <a:ext cx="2331720" cy="548640"/>
          </a:xfrm>
          <a:prstGeom prst="rect">
            <a:avLst/>
          </a:prstGeom>
          <a:noFill/>
          <a:ln/>
        </p:spPr>
        <p:txBody>
          <a:bodyPr wrap="square" lIns="0" tIns="0" rIns="0" bIns="0" rtlCol="0" anchor="ctr"/>
          <a:lstStyle/>
          <a:p>
            <a:pPr marL="0" indent="0">
              <a:buNone/>
            </a:pPr>
            <a:r>
              <a:rPr lang="en-US" sz="1700" b="1" dirty="0">
                <a:solidFill>
                  <a:srgbClr val="A33A62"/>
                </a:solidFill>
                <a:latin typeface="Calibri" pitchFamily="34" charset="0"/>
                <a:ea typeface="Calibri" pitchFamily="34" charset="-122"/>
                <a:cs typeface="Calibri" pitchFamily="34" charset="-120"/>
              </a:rPr>
              <a:t>Skills trends</a:t>
            </a:r>
            <a:endParaRPr lang="en-US" sz="1700" dirty="0"/>
          </a:p>
        </p:txBody>
      </p:sp>
      <p:sp>
        <p:nvSpPr>
          <p:cNvPr id="27" name="Text 21"/>
          <p:cNvSpPr txBox="1"/>
          <p:nvPr/>
        </p:nvSpPr>
        <p:spPr>
          <a:xfrm>
            <a:off x="822960" y="4937760"/>
            <a:ext cx="2971800" cy="10058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Track skill demand week by week from bridge_job_skill as collection continues</a:t>
            </a:r>
            <a:endParaRPr lang="en-US" sz="1300" dirty="0"/>
          </a:p>
        </p:txBody>
      </p:sp>
      <p:sp>
        <p:nvSpPr>
          <p:cNvPr id="28" name="Shape 22"/>
          <p:cNvSpPr/>
          <p:nvPr/>
        </p:nvSpPr>
        <p:spPr>
          <a:xfrm>
            <a:off x="4334256" y="3931920"/>
            <a:ext cx="3520440" cy="2148840"/>
          </a:xfrm>
          <a:prstGeom prst="roundRect">
            <a:avLst>
              <a:gd name="adj" fmla="val 5106"/>
            </a:avLst>
          </a:prstGeom>
          <a:solidFill>
            <a:srgbClr val="F4F6F9"/>
          </a:solidFill>
          <a:ln w="12700">
            <a:solidFill>
              <a:srgbClr val="F4F6F9"/>
            </a:solidFill>
            <a:prstDash val="solid"/>
          </a:ln>
        </p:spPr>
        <p:txBody>
          <a:bodyPr/>
          <a:lstStyle/>
          <a:p>
            <a:endParaRPr/>
          </a:p>
        </p:txBody>
      </p:sp>
      <p:sp>
        <p:nvSpPr>
          <p:cNvPr id="29" name="Shape 23"/>
          <p:cNvSpPr/>
          <p:nvPr/>
        </p:nvSpPr>
        <p:spPr>
          <a:xfrm>
            <a:off x="4608576" y="4206240"/>
            <a:ext cx="548640" cy="548640"/>
          </a:xfrm>
          <a:prstGeom prst="ellipse">
            <a:avLst/>
          </a:prstGeom>
          <a:solidFill>
            <a:srgbClr val="A33A62"/>
          </a:solidFill>
          <a:ln w="12700">
            <a:solidFill>
              <a:srgbClr val="A33A62"/>
            </a:solidFill>
            <a:prstDash val="solid"/>
          </a:ln>
        </p:spPr>
        <p:txBody>
          <a:bodyPr/>
          <a:lstStyle/>
          <a:p>
            <a:endParaRPr/>
          </a:p>
        </p:txBody>
      </p:sp>
      <p:pic>
        <p:nvPicPr>
          <p:cNvPr id="30" name="Image 4" descr="preencoded.png"/>
          <p:cNvPicPr>
            <a:picLocks noChangeAspect="1"/>
          </p:cNvPicPr>
          <p:nvPr/>
        </p:nvPicPr>
        <p:blipFill>
          <a:blip r:embed="rId7"/>
          <a:stretch>
            <a:fillRect/>
          </a:stretch>
        </p:blipFill>
        <p:spPr>
          <a:xfrm>
            <a:off x="4740250" y="4337914"/>
            <a:ext cx="285293" cy="285293"/>
          </a:xfrm>
          <a:prstGeom prst="rect">
            <a:avLst/>
          </a:prstGeom>
        </p:spPr>
      </p:pic>
      <p:sp>
        <p:nvSpPr>
          <p:cNvPr id="31" name="Text 24"/>
          <p:cNvSpPr txBox="1"/>
          <p:nvPr/>
        </p:nvSpPr>
        <p:spPr>
          <a:xfrm>
            <a:off x="5340096" y="4206240"/>
            <a:ext cx="2331720" cy="548640"/>
          </a:xfrm>
          <a:prstGeom prst="rect">
            <a:avLst/>
          </a:prstGeom>
          <a:noFill/>
          <a:ln/>
        </p:spPr>
        <p:txBody>
          <a:bodyPr wrap="square" lIns="0" tIns="0" rIns="0" bIns="0" rtlCol="0" anchor="ctr"/>
          <a:lstStyle/>
          <a:p>
            <a:pPr marL="0" indent="0">
              <a:buNone/>
            </a:pPr>
            <a:r>
              <a:rPr lang="en-US" sz="1700" b="1" dirty="0">
                <a:solidFill>
                  <a:srgbClr val="A33A62"/>
                </a:solidFill>
                <a:latin typeface="Calibri" pitchFamily="34" charset="0"/>
                <a:ea typeface="Calibri" pitchFamily="34" charset="-122"/>
                <a:cs typeface="Calibri" pitchFamily="34" charset="-120"/>
              </a:rPr>
              <a:t>Recommendations</a:t>
            </a:r>
            <a:endParaRPr lang="en-US" sz="1700" dirty="0"/>
          </a:p>
        </p:txBody>
      </p:sp>
      <p:sp>
        <p:nvSpPr>
          <p:cNvPr id="32" name="Text 25"/>
          <p:cNvSpPr txBox="1"/>
          <p:nvPr/>
        </p:nvSpPr>
        <p:spPr>
          <a:xfrm>
            <a:off x="4608576" y="4937760"/>
            <a:ext cx="2971800" cy="10058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Match a student's major, skills, city and level to open jobs</a:t>
            </a:r>
            <a:endParaRPr lang="en-US" sz="1300" dirty="0"/>
          </a:p>
        </p:txBody>
      </p:sp>
      <p:sp>
        <p:nvSpPr>
          <p:cNvPr id="33" name="Shape 26"/>
          <p:cNvSpPr/>
          <p:nvPr/>
        </p:nvSpPr>
        <p:spPr>
          <a:xfrm>
            <a:off x="8119872" y="3931920"/>
            <a:ext cx="3520440" cy="2148840"/>
          </a:xfrm>
          <a:prstGeom prst="roundRect">
            <a:avLst>
              <a:gd name="adj" fmla="val 5106"/>
            </a:avLst>
          </a:prstGeom>
          <a:solidFill>
            <a:srgbClr val="F4F6F9"/>
          </a:solidFill>
          <a:ln w="12700">
            <a:solidFill>
              <a:srgbClr val="F4F6F9"/>
            </a:solidFill>
            <a:prstDash val="solid"/>
          </a:ln>
        </p:spPr>
        <p:txBody>
          <a:bodyPr/>
          <a:lstStyle/>
          <a:p>
            <a:endParaRPr/>
          </a:p>
        </p:txBody>
      </p:sp>
      <p:sp>
        <p:nvSpPr>
          <p:cNvPr id="34" name="Shape 27"/>
          <p:cNvSpPr/>
          <p:nvPr/>
        </p:nvSpPr>
        <p:spPr>
          <a:xfrm>
            <a:off x="8394192" y="4206240"/>
            <a:ext cx="548640" cy="548640"/>
          </a:xfrm>
          <a:prstGeom prst="ellipse">
            <a:avLst/>
          </a:prstGeom>
          <a:solidFill>
            <a:srgbClr val="A33A62"/>
          </a:solidFill>
          <a:ln w="12700">
            <a:solidFill>
              <a:srgbClr val="A33A62"/>
            </a:solidFill>
            <a:prstDash val="solid"/>
          </a:ln>
        </p:spPr>
        <p:txBody>
          <a:bodyPr/>
          <a:lstStyle/>
          <a:p>
            <a:endParaRPr/>
          </a:p>
        </p:txBody>
      </p:sp>
      <p:pic>
        <p:nvPicPr>
          <p:cNvPr id="35" name="Image 5" descr="preencoded.png"/>
          <p:cNvPicPr>
            <a:picLocks noChangeAspect="1"/>
          </p:cNvPicPr>
          <p:nvPr/>
        </p:nvPicPr>
        <p:blipFill>
          <a:blip r:embed="rId8"/>
          <a:stretch>
            <a:fillRect/>
          </a:stretch>
        </p:blipFill>
        <p:spPr>
          <a:xfrm>
            <a:off x="8525866" y="4337914"/>
            <a:ext cx="285293" cy="285293"/>
          </a:xfrm>
          <a:prstGeom prst="rect">
            <a:avLst/>
          </a:prstGeom>
        </p:spPr>
      </p:pic>
      <p:sp>
        <p:nvSpPr>
          <p:cNvPr id="36" name="Text 28"/>
          <p:cNvSpPr txBox="1"/>
          <p:nvPr/>
        </p:nvSpPr>
        <p:spPr>
          <a:xfrm>
            <a:off x="9125712" y="4206240"/>
            <a:ext cx="2331720" cy="548640"/>
          </a:xfrm>
          <a:prstGeom prst="rect">
            <a:avLst/>
          </a:prstGeom>
          <a:noFill/>
          <a:ln/>
        </p:spPr>
        <p:txBody>
          <a:bodyPr wrap="square" lIns="0" tIns="0" rIns="0" bIns="0" rtlCol="0" anchor="ctr"/>
          <a:lstStyle/>
          <a:p>
            <a:pPr marL="0" indent="0">
              <a:buNone/>
            </a:pPr>
            <a:r>
              <a:rPr lang="en-US" sz="1700" b="1" dirty="0">
                <a:solidFill>
                  <a:srgbClr val="A33A62"/>
                </a:solidFill>
                <a:latin typeface="Calibri" pitchFamily="34" charset="0"/>
                <a:ea typeface="Calibri" pitchFamily="34" charset="-122"/>
                <a:cs typeface="Calibri" pitchFamily="34" charset="-120"/>
              </a:rPr>
              <a:t>AI extensions</a:t>
            </a:r>
            <a:endParaRPr lang="en-US" sz="1700" dirty="0"/>
          </a:p>
        </p:txBody>
      </p:sp>
      <p:sp>
        <p:nvSpPr>
          <p:cNvPr id="37" name="Text 29"/>
          <p:cNvSpPr txBox="1"/>
          <p:nvPr/>
        </p:nvSpPr>
        <p:spPr>
          <a:xfrm>
            <a:off x="8394192" y="4937760"/>
            <a:ext cx="2971800" cy="10058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Classify generic and Arabic titles into categories; semantic search over descriptions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0058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txBox="1"/>
          <p:nvPr/>
        </p:nvSpPr>
        <p:spPr>
          <a:xfrm>
            <a:off x="548640" y="2743200"/>
            <a:ext cx="2560320" cy="822960"/>
          </a:xfrm>
          <a:prstGeom prst="rect">
            <a:avLst/>
          </a:prstGeom>
          <a:noFill/>
          <a:ln/>
        </p:spPr>
        <p:txBody>
          <a:bodyPr wrap="square" lIns="0" tIns="0" rIns="0" bIns="0" rtlCol="0" anchor="ctr"/>
          <a:lstStyle/>
          <a:p>
            <a:pPr marL="0" indent="0">
              <a:buNone/>
            </a:pPr>
            <a:r>
              <a:rPr lang="en-US" sz="4000" b="1" dirty="0">
                <a:solidFill>
                  <a:srgbClr val="CADCFC"/>
                </a:solidFill>
                <a:latin typeface="Calibri" pitchFamily="34" charset="0"/>
                <a:ea typeface="Calibri" pitchFamily="34" charset="-122"/>
                <a:cs typeface="Calibri" pitchFamily="34" charset="-120"/>
              </a:rPr>
              <a:t>6</a:t>
            </a:r>
            <a:endParaRPr lang="en-US" sz="4000" dirty="0"/>
          </a:p>
        </p:txBody>
      </p:sp>
      <p:sp>
        <p:nvSpPr>
          <p:cNvPr id="4" name="Text 2"/>
          <p:cNvSpPr txBox="1"/>
          <p:nvPr/>
        </p:nvSpPr>
        <p:spPr>
          <a:xfrm>
            <a:off x="548640" y="3566160"/>
            <a:ext cx="256032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sources, all by API</a:t>
            </a:r>
            <a:endParaRPr lang="en-US" sz="1500" dirty="0"/>
          </a:p>
        </p:txBody>
      </p:sp>
      <p:sp>
        <p:nvSpPr>
          <p:cNvPr id="5" name="Text 3"/>
          <p:cNvSpPr txBox="1"/>
          <p:nvPr/>
        </p:nvSpPr>
        <p:spPr>
          <a:xfrm>
            <a:off x="3337560" y="2743200"/>
            <a:ext cx="2560320" cy="822960"/>
          </a:xfrm>
          <a:prstGeom prst="rect">
            <a:avLst/>
          </a:prstGeom>
          <a:noFill/>
          <a:ln/>
        </p:spPr>
        <p:txBody>
          <a:bodyPr wrap="square" lIns="0" tIns="0" rIns="0" bIns="0" rtlCol="0" anchor="ctr"/>
          <a:lstStyle/>
          <a:p>
            <a:pPr marL="0" indent="0">
              <a:buNone/>
            </a:pPr>
            <a:r>
              <a:rPr lang="en-US" sz="4000" b="1" dirty="0">
                <a:solidFill>
                  <a:srgbClr val="CADCFC"/>
                </a:solidFill>
                <a:latin typeface="Calibri" pitchFamily="34" charset="0"/>
                <a:ea typeface="Calibri" pitchFamily="34" charset="-122"/>
                <a:cs typeface="Calibri" pitchFamily="34" charset="-120"/>
              </a:rPr>
              <a:t>52,937</a:t>
            </a:r>
            <a:endParaRPr lang="en-US" sz="4000" dirty="0"/>
          </a:p>
        </p:txBody>
      </p:sp>
      <p:sp>
        <p:nvSpPr>
          <p:cNvPr id="6" name="Text 4"/>
          <p:cNvSpPr txBox="1"/>
          <p:nvPr/>
        </p:nvSpPr>
        <p:spPr>
          <a:xfrm>
            <a:off x="3337560" y="3566160"/>
            <a:ext cx="256032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raw rows landed</a:t>
            </a:r>
            <a:endParaRPr lang="en-US" sz="1500" dirty="0"/>
          </a:p>
        </p:txBody>
      </p:sp>
      <p:sp>
        <p:nvSpPr>
          <p:cNvPr id="7" name="Text 5"/>
          <p:cNvSpPr txBox="1"/>
          <p:nvPr/>
        </p:nvSpPr>
        <p:spPr>
          <a:xfrm>
            <a:off x="6126480" y="2743200"/>
            <a:ext cx="2560320" cy="822960"/>
          </a:xfrm>
          <a:prstGeom prst="rect">
            <a:avLst/>
          </a:prstGeom>
          <a:noFill/>
          <a:ln/>
        </p:spPr>
        <p:txBody>
          <a:bodyPr wrap="square" lIns="0" tIns="0" rIns="0" bIns="0" rtlCol="0" anchor="ctr"/>
          <a:lstStyle/>
          <a:p>
            <a:pPr marL="0" indent="0">
              <a:buNone/>
            </a:pPr>
            <a:r>
              <a:rPr lang="en-US" sz="4000" b="1" dirty="0">
                <a:solidFill>
                  <a:srgbClr val="CADCFC"/>
                </a:solidFill>
                <a:latin typeface="Calibri" pitchFamily="34" charset="0"/>
                <a:ea typeface="Calibri" pitchFamily="34" charset="-122"/>
                <a:cs typeface="Calibri" pitchFamily="34" charset="-120"/>
              </a:rPr>
              <a:t>19,148</a:t>
            </a:r>
            <a:endParaRPr lang="en-US" sz="4000" dirty="0"/>
          </a:p>
        </p:txBody>
      </p:sp>
      <p:sp>
        <p:nvSpPr>
          <p:cNvPr id="8" name="Text 6"/>
          <p:cNvSpPr txBox="1"/>
          <p:nvPr/>
        </p:nvSpPr>
        <p:spPr>
          <a:xfrm>
            <a:off x="6126480" y="3566160"/>
            <a:ext cx="256032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jobs in the star schema</a:t>
            </a:r>
            <a:endParaRPr lang="en-US" sz="1500" dirty="0"/>
          </a:p>
        </p:txBody>
      </p:sp>
      <p:sp>
        <p:nvSpPr>
          <p:cNvPr id="9" name="Text 7"/>
          <p:cNvSpPr txBox="1"/>
          <p:nvPr/>
        </p:nvSpPr>
        <p:spPr>
          <a:xfrm>
            <a:off x="8915400" y="2743200"/>
            <a:ext cx="2560320" cy="822960"/>
          </a:xfrm>
          <a:prstGeom prst="rect">
            <a:avLst/>
          </a:prstGeom>
          <a:noFill/>
          <a:ln/>
        </p:spPr>
        <p:txBody>
          <a:bodyPr wrap="square" lIns="0" tIns="0" rIns="0" bIns="0" rtlCol="0" anchor="ctr"/>
          <a:lstStyle/>
          <a:p>
            <a:pPr marL="0" indent="0">
              <a:buNone/>
            </a:pPr>
            <a:r>
              <a:rPr lang="en-US" sz="4000" b="1" dirty="0">
                <a:solidFill>
                  <a:srgbClr val="CADCFC"/>
                </a:solidFill>
                <a:latin typeface="Calibri" pitchFamily="34" charset="0"/>
                <a:ea typeface="Calibri" pitchFamily="34" charset="-122"/>
                <a:cs typeface="Calibri" pitchFamily="34" charset="-120"/>
              </a:rPr>
              <a:t>288</a:t>
            </a:r>
            <a:endParaRPr lang="en-US" sz="4000" dirty="0"/>
          </a:p>
        </p:txBody>
      </p:sp>
      <p:sp>
        <p:nvSpPr>
          <p:cNvPr id="10" name="Text 8"/>
          <p:cNvSpPr txBox="1"/>
          <p:nvPr/>
        </p:nvSpPr>
        <p:spPr>
          <a:xfrm>
            <a:off x="8915400" y="3566160"/>
            <a:ext cx="2560320" cy="4114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dbt tests passing</a:t>
            </a:r>
            <a:endParaRPr lang="en-US" sz="1500" dirty="0"/>
          </a:p>
        </p:txBody>
      </p:sp>
      <p:sp>
        <p:nvSpPr>
          <p:cNvPr id="11" name="Text 9"/>
          <p:cNvSpPr txBox="1"/>
          <p:nvPr/>
        </p:nvSpPr>
        <p:spPr>
          <a:xfrm>
            <a:off x="548640" y="4754880"/>
            <a:ext cx="10972800" cy="457200"/>
          </a:xfrm>
          <a:prstGeom prst="rect">
            <a:avLst/>
          </a:prstGeom>
          <a:noFill/>
          <a:ln/>
        </p:spPr>
        <p:txBody>
          <a:bodyPr wrap="square" lIns="0" tIns="0" rIns="0" bIns="0" rtlCol="0" anchor="ctr"/>
          <a:lstStyle/>
          <a:p>
            <a:pPr marL="0" indent="0">
              <a:buNone/>
            </a:pPr>
            <a:r>
              <a:rPr lang="en-US" sz="1500" dirty="0">
                <a:solidFill>
                  <a:srgbClr val="9FB0CC"/>
                </a:solidFill>
                <a:latin typeface="Calibri" pitchFamily="34" charset="0"/>
                <a:ea typeface="Calibri" pitchFamily="34" charset="-122"/>
                <a:cs typeface="Calibri" pitchFamily="34" charset="-120"/>
              </a:rPr>
              <a:t>Next: schedule the runner daily · weekly trend dashboards · skills trends </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5329</Words>
  <Application>Microsoft Office PowerPoint</Application>
  <PresentationFormat>Widescreen</PresentationFormat>
  <Paragraphs>564</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Market Data Pipeline — Saudi Arabia</dc:title>
  <dc:subject>PptxGenJS Presentation</dc:subject>
  <dc:creator>PptxGenJS</dc:creator>
  <cp:lastModifiedBy>Rimaz Alghamdi</cp:lastModifiedBy>
  <cp:revision>3</cp:revision>
  <dcterms:created xsi:type="dcterms:W3CDTF">2026-09-28T15:14:03Z</dcterms:created>
  <dcterms:modified xsi:type="dcterms:W3CDTF">2026-09-29T20:37:30Z</dcterms:modified>
</cp:coreProperties>
</file>